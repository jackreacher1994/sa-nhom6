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6703325-8A91-4656-A187-A93E7337B26D}">
  <a:tblStyle styleId="{F6703325-8A91-4656-A187-A93E7337B26D}"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22" Type="http://schemas.openxmlformats.org/officeDocument/2006/relationships/slide" Target="slides/slide17.xml"/><Relationship Id="rId10" Type="http://schemas.openxmlformats.org/officeDocument/2006/relationships/slide" Target="slides/slide5.xml"/><Relationship Id="rId21" Type="http://schemas.openxmlformats.org/officeDocument/2006/relationships/slide" Target="slides/slide16.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fa1ffa1291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fa1ffa129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g3fa1ffa1291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g3fa1ffa1291_0_1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system_architecture_container_slide: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system_architecture_container_slide: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3f9f8821fb2_1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0" name="Google Shape;160;g3f9f8821fb2_1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fa026ddef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g3fa026ddef9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fa026ddef9_0_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g3fa026ddef9_0_8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fa026ddef9_0_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g3fa026ddef9_0_9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4" name="Google Shape;14;p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 name="Google Shape;15;p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7" name="Shape 17"/>
        <p:cNvGrpSpPr/>
        <p:nvPr/>
      </p:nvGrpSpPr>
      <p:grpSpPr>
        <a:xfrm>
          <a:off x="0" y="0"/>
          <a:ext cx="0" cy="0"/>
          <a:chOff x="0" y="0"/>
          <a:chExt cx="0" cy="0"/>
        </a:xfrm>
      </p:grpSpPr>
      <p:sp>
        <p:nvSpPr>
          <p:cNvPr id="18" name="Google Shape;18;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0" name="Google Shape;20;p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 name="Google Shape;22;p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3" name="Shape 23"/>
        <p:cNvGrpSpPr/>
        <p:nvPr/>
      </p:nvGrpSpPr>
      <p:grpSpPr>
        <a:xfrm>
          <a:off x="0" y="0"/>
          <a:ext cx="0" cy="0"/>
          <a:chOff x="0" y="0"/>
          <a:chExt cx="0" cy="0"/>
        </a:xfrm>
      </p:grpSpPr>
      <p:sp>
        <p:nvSpPr>
          <p:cNvPr id="24" name="Google Shape;24;p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 name="Google Shape;25;p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57575"/>
              </a:buClr>
              <a:buSzPts val="2400"/>
              <a:buNone/>
              <a:defRPr sz="2400">
                <a:solidFill>
                  <a:srgbClr val="757575"/>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26" name="Google Shape;26;p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9" name="Shape 29"/>
        <p:cNvGrpSpPr/>
        <p:nvPr/>
      </p:nvGrpSpPr>
      <p:grpSpPr>
        <a:xfrm>
          <a:off x="0" y="0"/>
          <a:ext cx="0" cy="0"/>
          <a:chOff x="0" y="0"/>
          <a:chExt cx="0" cy="0"/>
        </a:xfrm>
      </p:grpSpPr>
      <p:sp>
        <p:nvSpPr>
          <p:cNvPr id="30" name="Google Shape;30;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 name="Google Shape;31;p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2" name="Google Shape;32;p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3" name="Google Shape;33;p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6" name="Shape 36"/>
        <p:cNvGrpSpPr/>
        <p:nvPr/>
      </p:nvGrpSpPr>
      <p:grpSpPr>
        <a:xfrm>
          <a:off x="0" y="0"/>
          <a:ext cx="0" cy="0"/>
          <a:chOff x="0" y="0"/>
          <a:chExt cx="0" cy="0"/>
        </a:xfrm>
      </p:grpSpPr>
      <p:sp>
        <p:nvSpPr>
          <p:cNvPr id="37" name="Google Shape;37;p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9" name="Google Shape;39;p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 name="Google Shape;40;p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1" name="Google Shape;41;p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 name="Google Shape;42;p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5" name="Shape 45"/>
        <p:cNvGrpSpPr/>
        <p:nvPr/>
      </p:nvGrpSpPr>
      <p:grpSpPr>
        <a:xfrm>
          <a:off x="0" y="0"/>
          <a:ext cx="0" cy="0"/>
          <a:chOff x="0" y="0"/>
          <a:chExt cx="0" cy="0"/>
        </a:xfrm>
      </p:grpSpPr>
      <p:sp>
        <p:nvSpPr>
          <p:cNvPr id="46" name="Google Shape;46;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0" name="Shape 50"/>
        <p:cNvGrpSpPr/>
        <p:nvPr/>
      </p:nvGrpSpPr>
      <p:grpSpPr>
        <a:xfrm>
          <a:off x="0" y="0"/>
          <a:ext cx="0" cy="0"/>
          <a:chOff x="0" y="0"/>
          <a:chExt cx="0" cy="0"/>
        </a:xfrm>
      </p:grpSpPr>
      <p:sp>
        <p:nvSpPr>
          <p:cNvPr id="51" name="Google Shape;51;p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7" name="Google Shape;57;p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8" name="Google Shape;58;p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5183188" y="987425"/>
            <a:ext cx="6172200" cy="4873625"/>
          </a:xfrm>
          <a:prstGeom prst="rect">
            <a:avLst/>
          </a:prstGeom>
          <a:noFill/>
          <a:ln>
            <a:noFill/>
          </a:ln>
        </p:spPr>
      </p:sp>
      <p:sp>
        <p:nvSpPr>
          <p:cNvPr id="64" name="Google Shape;64;p1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5" name="Google Shape;65;p1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1" name="Google Shape;71;p1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7" name="Google Shape;77;p1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BJECT">
  <p:cSld name="TWO_OBJECTS_1">
    <p:bg>
      <p:bgPr>
        <a:solidFill>
          <a:schemeClr val="lt1"/>
        </a:solidFill>
      </p:bgPr>
    </p:bg>
    <p:spTree>
      <p:nvGrpSpPr>
        <p:cNvPr id="80" name="Shape 80"/>
        <p:cNvGrpSpPr/>
        <p:nvPr/>
      </p:nvGrpSpPr>
      <p:grpSpPr>
        <a:xfrm>
          <a:off x="0" y="0"/>
          <a:ext cx="0" cy="0"/>
          <a:chOff x="0" y="0"/>
          <a:chExt cx="0" cy="0"/>
        </a:xfrm>
      </p:grpSpPr>
      <p:sp>
        <p:nvSpPr>
          <p:cNvPr id="81" name="Google Shape;81;p13"/>
          <p:cNvSpPr txBox="1"/>
          <p:nvPr>
            <p:ph type="title"/>
          </p:nvPr>
        </p:nvSpPr>
        <p:spPr>
          <a:xfrm>
            <a:off x="838080" y="365040"/>
            <a:ext cx="10515300" cy="1325100"/>
          </a:xfrm>
          <a:prstGeom prst="rect">
            <a:avLst/>
          </a:prstGeom>
          <a:noFill/>
          <a:ln>
            <a:noFill/>
          </a:ln>
        </p:spPr>
        <p:txBody>
          <a:bodyPr anchorCtr="0" anchor="ctr" bIns="45700" lIns="91425" spcFirstLastPara="1" rIns="91425" wrap="square" tIns="45700">
            <a:normAutofit/>
          </a:bodyPr>
          <a:lstStyle>
            <a:lvl1pPr lvl="0" marR="0" algn="l">
              <a:spcBef>
                <a:spcPts val="0"/>
              </a:spcBef>
              <a:spcAft>
                <a:spcPts val="0"/>
              </a:spcAft>
              <a:buClr>
                <a:srgbClr val="000000"/>
              </a:buClr>
              <a:buSzPts val="4400"/>
              <a:buFont typeface="Arial"/>
              <a:buNone/>
              <a:defRPr b="0" i="0" sz="4400" u="none" cap="none" strike="noStrike">
                <a:solidFill>
                  <a:srgbClr val="000000"/>
                </a:solidFill>
                <a:latin typeface="Arial"/>
                <a:ea typeface="Arial"/>
                <a:cs typeface="Arial"/>
                <a:sym typeface="Arial"/>
              </a:defRPr>
            </a:lvl1pPr>
            <a:lvl2pPr lvl="1" marR="0" algn="l">
              <a:spcBef>
                <a:spcPts val="0"/>
              </a:spcBef>
              <a:spcAft>
                <a:spcPts val="0"/>
              </a:spcAft>
              <a:buSzPts val="1400"/>
              <a:buNone/>
              <a:defRPr b="0" i="0" sz="1800" u="none" cap="none" strike="noStrike"/>
            </a:lvl2pPr>
            <a:lvl3pPr lvl="2" marR="0" algn="l">
              <a:spcBef>
                <a:spcPts val="0"/>
              </a:spcBef>
              <a:spcAft>
                <a:spcPts val="0"/>
              </a:spcAft>
              <a:buSzPts val="1400"/>
              <a:buNone/>
              <a:defRPr b="0" i="0" sz="1800" u="none" cap="none" strike="noStrike"/>
            </a:lvl3pPr>
            <a:lvl4pPr lvl="3" marR="0" algn="l">
              <a:spcBef>
                <a:spcPts val="0"/>
              </a:spcBef>
              <a:spcAft>
                <a:spcPts val="0"/>
              </a:spcAft>
              <a:buSzPts val="1400"/>
              <a:buNone/>
              <a:defRPr b="0" i="0" sz="1800" u="none" cap="none" strike="noStrike"/>
            </a:lvl4pPr>
            <a:lvl5pPr lvl="4" marR="0" algn="l">
              <a:spcBef>
                <a:spcPts val="0"/>
              </a:spcBef>
              <a:spcAft>
                <a:spcPts val="0"/>
              </a:spcAft>
              <a:buSzPts val="1400"/>
              <a:buNone/>
              <a:defRPr b="0" i="0" sz="1800" u="none" cap="none" strike="noStrike"/>
            </a:lvl5pPr>
            <a:lvl6pPr lvl="5" marR="0" algn="l">
              <a:spcBef>
                <a:spcPts val="0"/>
              </a:spcBef>
              <a:spcAft>
                <a:spcPts val="0"/>
              </a:spcAft>
              <a:buSzPts val="1400"/>
              <a:buNone/>
              <a:defRPr b="0" i="0" sz="1800" u="none" cap="none" strike="noStrike"/>
            </a:lvl6pPr>
            <a:lvl7pPr lvl="6" marR="0" algn="l">
              <a:spcBef>
                <a:spcPts val="0"/>
              </a:spcBef>
              <a:spcAft>
                <a:spcPts val="0"/>
              </a:spcAft>
              <a:buSzPts val="1400"/>
              <a:buNone/>
              <a:defRPr b="0" i="0" sz="1800" u="none" cap="none" strike="noStrike"/>
            </a:lvl7pPr>
            <a:lvl8pPr lvl="7" marR="0" algn="l">
              <a:spcBef>
                <a:spcPts val="0"/>
              </a:spcBef>
              <a:spcAft>
                <a:spcPts val="0"/>
              </a:spcAft>
              <a:buSzPts val="1400"/>
              <a:buNone/>
              <a:defRPr b="0" i="0" sz="1800" u="none" cap="none" strike="noStrike"/>
            </a:lvl8pPr>
            <a:lvl9pPr lvl="8" marR="0" algn="l">
              <a:spcBef>
                <a:spcPts val="0"/>
              </a:spcBef>
              <a:spcAft>
                <a:spcPts val="0"/>
              </a:spcAft>
              <a:buSzPts val="1400"/>
              <a:buNone/>
              <a:defRPr b="0" i="0" sz="1800" u="none" cap="none" strike="noStrike"/>
            </a:lvl9pPr>
          </a:lstStyle>
          <a:p/>
        </p:txBody>
      </p:sp>
      <p:sp>
        <p:nvSpPr>
          <p:cNvPr id="82" name="Google Shape;82;p13"/>
          <p:cNvSpPr txBox="1"/>
          <p:nvPr>
            <p:ph idx="1" type="body"/>
          </p:nvPr>
        </p:nvSpPr>
        <p:spPr>
          <a:xfrm>
            <a:off x="838080" y="1825560"/>
            <a:ext cx="10515300" cy="4350900"/>
          </a:xfrm>
          <a:prstGeom prst="rect">
            <a:avLst/>
          </a:prstGeom>
          <a:noFill/>
          <a:ln>
            <a:noFill/>
          </a:ln>
        </p:spPr>
        <p:txBody>
          <a:bodyPr anchorCtr="0" anchor="t" bIns="45700" lIns="91425" spcFirstLastPara="1" rIns="91425" wrap="square" tIns="45700">
            <a:normAutofit/>
          </a:bodyPr>
          <a:lstStyle>
            <a:lvl1pPr indent="-308610" lvl="0" marL="457200" marR="0" algn="l">
              <a:spcBef>
                <a:spcPts val="1417"/>
              </a:spcBef>
              <a:spcAft>
                <a:spcPts val="0"/>
              </a:spcAft>
              <a:buClr>
                <a:srgbClr val="000000"/>
              </a:buClr>
              <a:buSzPts val="1260"/>
              <a:buFont typeface="Noto Sans Symbols"/>
              <a:buChar char="●"/>
              <a:defRPr b="0" i="0" sz="2800" u="none" cap="none" strike="noStrike">
                <a:solidFill>
                  <a:srgbClr val="000000"/>
                </a:solidFill>
                <a:latin typeface="Arial"/>
                <a:ea typeface="Arial"/>
                <a:cs typeface="Arial"/>
                <a:sym typeface="Arial"/>
              </a:defRPr>
            </a:lvl1pPr>
            <a:lvl2pPr indent="-361950" lvl="1" marL="914400" marR="0" algn="l">
              <a:spcBef>
                <a:spcPts val="1134"/>
              </a:spcBef>
              <a:spcAft>
                <a:spcPts val="0"/>
              </a:spcAft>
              <a:buClr>
                <a:srgbClr val="000000"/>
              </a:buClr>
              <a:buSzPts val="2100"/>
              <a:buFont typeface="Noto Sans Symbols"/>
              <a:buChar char="−"/>
              <a:defRPr b="0" i="0" sz="2800" u="none" cap="none" strike="noStrike">
                <a:solidFill>
                  <a:srgbClr val="000000"/>
                </a:solidFill>
                <a:latin typeface="Arial"/>
                <a:ea typeface="Arial"/>
                <a:cs typeface="Arial"/>
                <a:sym typeface="Arial"/>
              </a:defRPr>
            </a:lvl2pPr>
            <a:lvl3pPr indent="-308610" lvl="2" marL="1371600" marR="0" algn="l">
              <a:spcBef>
                <a:spcPts val="850"/>
              </a:spcBef>
              <a:spcAft>
                <a:spcPts val="0"/>
              </a:spcAft>
              <a:buClr>
                <a:srgbClr val="000000"/>
              </a:buClr>
              <a:buSzPts val="1260"/>
              <a:buFont typeface="Noto Sans Symbols"/>
              <a:buChar char="●"/>
              <a:defRPr b="0" i="0" sz="2800" u="none" cap="none" strike="noStrike">
                <a:solidFill>
                  <a:srgbClr val="000000"/>
                </a:solidFill>
                <a:latin typeface="Arial"/>
                <a:ea typeface="Arial"/>
                <a:cs typeface="Arial"/>
                <a:sym typeface="Arial"/>
              </a:defRPr>
            </a:lvl3pPr>
            <a:lvl4pPr indent="-361950" lvl="3" marL="1828800" marR="0" algn="l">
              <a:spcBef>
                <a:spcPts val="567"/>
              </a:spcBef>
              <a:spcAft>
                <a:spcPts val="0"/>
              </a:spcAft>
              <a:buClr>
                <a:srgbClr val="000000"/>
              </a:buClr>
              <a:buSzPts val="2100"/>
              <a:buFont typeface="Noto Sans Symbols"/>
              <a:buChar char="−"/>
              <a:defRPr b="0" i="0" sz="2800" u="none" cap="none" strike="noStrike">
                <a:solidFill>
                  <a:srgbClr val="000000"/>
                </a:solidFill>
                <a:latin typeface="Arial"/>
                <a:ea typeface="Arial"/>
                <a:cs typeface="Arial"/>
                <a:sym typeface="Arial"/>
              </a:defRPr>
            </a:lvl4pPr>
            <a:lvl5pPr indent="-308610" lvl="4" marL="2286000" marR="0" algn="l">
              <a:spcBef>
                <a:spcPts val="283"/>
              </a:spcBef>
              <a:spcAft>
                <a:spcPts val="0"/>
              </a:spcAft>
              <a:buClr>
                <a:srgbClr val="000000"/>
              </a:buClr>
              <a:buSzPts val="1260"/>
              <a:buFont typeface="Noto Sans Symbols"/>
              <a:buChar char="●"/>
              <a:defRPr b="0" i="0" sz="2800" u="none" cap="none" strike="noStrike">
                <a:solidFill>
                  <a:srgbClr val="000000"/>
                </a:solidFill>
                <a:latin typeface="Arial"/>
                <a:ea typeface="Arial"/>
                <a:cs typeface="Arial"/>
                <a:sym typeface="Arial"/>
              </a:defRPr>
            </a:lvl5pPr>
            <a:lvl6pPr indent="-308610" lvl="5" marL="2743200" marR="0" algn="l">
              <a:spcBef>
                <a:spcPts val="283"/>
              </a:spcBef>
              <a:spcAft>
                <a:spcPts val="0"/>
              </a:spcAft>
              <a:buClr>
                <a:srgbClr val="000000"/>
              </a:buClr>
              <a:buSzPts val="1260"/>
              <a:buFont typeface="Noto Sans Symbols"/>
              <a:buChar char="●"/>
              <a:defRPr b="0" i="0" sz="2800" u="none" cap="none" strike="noStrike">
                <a:solidFill>
                  <a:srgbClr val="000000"/>
                </a:solidFill>
                <a:latin typeface="Arial"/>
                <a:ea typeface="Arial"/>
                <a:cs typeface="Arial"/>
                <a:sym typeface="Arial"/>
              </a:defRPr>
            </a:lvl6pPr>
            <a:lvl7pPr indent="-308610" lvl="6" marL="3200400" marR="0" algn="l">
              <a:spcBef>
                <a:spcPts val="283"/>
              </a:spcBef>
              <a:spcAft>
                <a:spcPts val="0"/>
              </a:spcAft>
              <a:buClr>
                <a:srgbClr val="000000"/>
              </a:buClr>
              <a:buSzPts val="1260"/>
              <a:buFont typeface="Noto Sans Symbols"/>
              <a:buChar char="●"/>
              <a:defRPr b="0" i="0" sz="2800" u="none" cap="none" strike="noStrike">
                <a:solidFill>
                  <a:srgbClr val="000000"/>
                </a:solidFill>
                <a:latin typeface="Arial"/>
                <a:ea typeface="Arial"/>
                <a:cs typeface="Arial"/>
                <a:sym typeface="Arial"/>
              </a:defRPr>
            </a:lvl7pPr>
            <a:lvl8pPr indent="-228600" lvl="7" marL="3657600" marR="0" algn="l">
              <a:spcBef>
                <a:spcPts val="500"/>
              </a:spcBef>
              <a:spcAft>
                <a:spcPts val="0"/>
              </a:spcAft>
              <a:buSzPts val="1800"/>
              <a:buNone/>
              <a:defRPr b="0" i="0" sz="1800" u="none" cap="none" strike="noStrike"/>
            </a:lvl8pPr>
            <a:lvl9pPr indent="-228600" lvl="8" marL="4114800" marR="0" algn="l">
              <a:spcBef>
                <a:spcPts val="500"/>
              </a:spcBef>
              <a:spcAft>
                <a:spcPts val="0"/>
              </a:spcAft>
              <a:buSzPts val="1800"/>
              <a:buNone/>
              <a:defRPr b="0" i="0" sz="1800" u="none" cap="none" strike="noStrike"/>
            </a:lvl9pPr>
          </a:lstStyle>
          <a:p/>
        </p:txBody>
      </p:sp>
      <p:sp>
        <p:nvSpPr>
          <p:cNvPr id="83" name="Google Shape;83;p13"/>
          <p:cNvSpPr txBox="1"/>
          <p:nvPr>
            <p:ph idx="10" type="dt"/>
          </p:nvPr>
        </p:nvSpPr>
        <p:spPr>
          <a:xfrm>
            <a:off x="838080" y="6356520"/>
            <a:ext cx="2742900" cy="364800"/>
          </a:xfrm>
          <a:prstGeom prst="rect">
            <a:avLst/>
          </a:prstGeom>
          <a:noFill/>
          <a:ln>
            <a:noFill/>
          </a:ln>
        </p:spPr>
        <p:txBody>
          <a:bodyPr anchorCtr="0" anchor="ctr" bIns="45700" lIns="91425" spcFirstLastPara="1" rIns="91425" wrap="square" tIns="45700">
            <a:noAutofit/>
          </a:bodyPr>
          <a:lstStyle>
            <a:lvl1pPr lvl="0" marR="0" algn="l">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1pPr>
            <a:lvl2pPr lvl="1" marR="0" algn="l">
              <a:spcBef>
                <a:spcPts val="0"/>
              </a:spcBef>
              <a:spcAft>
                <a:spcPts val="0"/>
              </a:spcAft>
              <a:buSzPts val="1400"/>
              <a:buNone/>
              <a:defRPr b="0" i="0" sz="1800" u="none" cap="none" strike="noStrike"/>
            </a:lvl2pPr>
            <a:lvl3pPr lvl="2" marR="0" algn="l">
              <a:spcBef>
                <a:spcPts val="0"/>
              </a:spcBef>
              <a:spcAft>
                <a:spcPts val="0"/>
              </a:spcAft>
              <a:buSzPts val="1400"/>
              <a:buNone/>
              <a:defRPr b="0" i="0" sz="1800" u="none" cap="none" strike="noStrike"/>
            </a:lvl3pPr>
            <a:lvl4pPr lvl="3" marR="0" algn="l">
              <a:spcBef>
                <a:spcPts val="0"/>
              </a:spcBef>
              <a:spcAft>
                <a:spcPts val="0"/>
              </a:spcAft>
              <a:buSzPts val="1400"/>
              <a:buNone/>
              <a:defRPr b="0" i="0" sz="1800" u="none" cap="none" strike="noStrike"/>
            </a:lvl4pPr>
            <a:lvl5pPr lvl="4" marR="0" algn="l">
              <a:spcBef>
                <a:spcPts val="0"/>
              </a:spcBef>
              <a:spcAft>
                <a:spcPts val="0"/>
              </a:spcAft>
              <a:buSzPts val="1400"/>
              <a:buNone/>
              <a:defRPr b="0" i="0" sz="1800" u="none" cap="none" strike="noStrike"/>
            </a:lvl5pPr>
            <a:lvl6pPr lvl="5" marR="0" algn="l">
              <a:spcBef>
                <a:spcPts val="0"/>
              </a:spcBef>
              <a:spcAft>
                <a:spcPts val="0"/>
              </a:spcAft>
              <a:buSzPts val="1400"/>
              <a:buNone/>
              <a:defRPr b="0" i="0" sz="1800" u="none" cap="none" strike="noStrike"/>
            </a:lvl6pPr>
            <a:lvl7pPr lvl="6" marR="0" algn="l">
              <a:spcBef>
                <a:spcPts val="0"/>
              </a:spcBef>
              <a:spcAft>
                <a:spcPts val="0"/>
              </a:spcAft>
              <a:buSzPts val="1400"/>
              <a:buNone/>
              <a:defRPr b="0" i="0" sz="1800" u="none" cap="none" strike="noStrike"/>
            </a:lvl7pPr>
            <a:lvl8pPr lvl="7" marR="0" algn="l">
              <a:spcBef>
                <a:spcPts val="0"/>
              </a:spcBef>
              <a:spcAft>
                <a:spcPts val="0"/>
              </a:spcAft>
              <a:buSzPts val="1400"/>
              <a:buNone/>
              <a:defRPr b="0" i="0" sz="1800" u="none" cap="none" strike="noStrike"/>
            </a:lvl8pPr>
            <a:lvl9pPr lvl="8" marR="0" algn="l">
              <a:spcBef>
                <a:spcPts val="0"/>
              </a:spcBef>
              <a:spcAft>
                <a:spcPts val="0"/>
              </a:spcAft>
              <a:buSzPts val="1400"/>
              <a:buNone/>
              <a:defRPr b="0" i="0" sz="1800" u="none" cap="none" strike="noStrike"/>
            </a:lvl9pPr>
          </a:lstStyle>
          <a:p/>
        </p:txBody>
      </p:sp>
      <p:sp>
        <p:nvSpPr>
          <p:cNvPr id="84" name="Google Shape;84;p13"/>
          <p:cNvSpPr txBox="1"/>
          <p:nvPr>
            <p:ph idx="11" type="ftr"/>
          </p:nvPr>
        </p:nvSpPr>
        <p:spPr>
          <a:xfrm>
            <a:off x="4038480" y="6356520"/>
            <a:ext cx="4114500" cy="364800"/>
          </a:xfrm>
          <a:prstGeom prst="rect">
            <a:avLst/>
          </a:prstGeom>
          <a:noFill/>
          <a:ln>
            <a:noFill/>
          </a:ln>
        </p:spPr>
        <p:txBody>
          <a:bodyPr anchorCtr="0" anchor="ctr" bIns="45700" lIns="91425" spcFirstLastPara="1" rIns="91425" wrap="square" tIns="45700">
            <a:noAutofit/>
          </a:bodyPr>
          <a:lstStyle>
            <a:lvl1pPr lvl="0" marR="0" algn="ctr">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1pPr>
            <a:lvl2pPr lvl="1" marR="0" algn="l">
              <a:spcBef>
                <a:spcPts val="0"/>
              </a:spcBef>
              <a:spcAft>
                <a:spcPts val="0"/>
              </a:spcAft>
              <a:buSzPts val="1400"/>
              <a:buNone/>
              <a:defRPr b="0" i="0" sz="1800" u="none" cap="none" strike="noStrike"/>
            </a:lvl2pPr>
            <a:lvl3pPr lvl="2" marR="0" algn="l">
              <a:spcBef>
                <a:spcPts val="0"/>
              </a:spcBef>
              <a:spcAft>
                <a:spcPts val="0"/>
              </a:spcAft>
              <a:buSzPts val="1400"/>
              <a:buNone/>
              <a:defRPr b="0" i="0" sz="1800" u="none" cap="none" strike="noStrike"/>
            </a:lvl3pPr>
            <a:lvl4pPr lvl="3" marR="0" algn="l">
              <a:spcBef>
                <a:spcPts val="0"/>
              </a:spcBef>
              <a:spcAft>
                <a:spcPts val="0"/>
              </a:spcAft>
              <a:buSzPts val="1400"/>
              <a:buNone/>
              <a:defRPr b="0" i="0" sz="1800" u="none" cap="none" strike="noStrike"/>
            </a:lvl4pPr>
            <a:lvl5pPr lvl="4" marR="0" algn="l">
              <a:spcBef>
                <a:spcPts val="0"/>
              </a:spcBef>
              <a:spcAft>
                <a:spcPts val="0"/>
              </a:spcAft>
              <a:buSzPts val="1400"/>
              <a:buNone/>
              <a:defRPr b="0" i="0" sz="1800" u="none" cap="none" strike="noStrike"/>
            </a:lvl5pPr>
            <a:lvl6pPr lvl="5" marR="0" algn="l">
              <a:spcBef>
                <a:spcPts val="0"/>
              </a:spcBef>
              <a:spcAft>
                <a:spcPts val="0"/>
              </a:spcAft>
              <a:buSzPts val="1400"/>
              <a:buNone/>
              <a:defRPr b="0" i="0" sz="1800" u="none" cap="none" strike="noStrike"/>
            </a:lvl6pPr>
            <a:lvl7pPr lvl="6" marR="0" algn="l">
              <a:spcBef>
                <a:spcPts val="0"/>
              </a:spcBef>
              <a:spcAft>
                <a:spcPts val="0"/>
              </a:spcAft>
              <a:buSzPts val="1400"/>
              <a:buNone/>
              <a:defRPr b="0" i="0" sz="1800" u="none" cap="none" strike="noStrike"/>
            </a:lvl7pPr>
            <a:lvl8pPr lvl="7" marR="0" algn="l">
              <a:spcBef>
                <a:spcPts val="0"/>
              </a:spcBef>
              <a:spcAft>
                <a:spcPts val="0"/>
              </a:spcAft>
              <a:buSzPts val="1400"/>
              <a:buNone/>
              <a:defRPr b="0" i="0" sz="1800" u="none" cap="none" strike="noStrike"/>
            </a:lvl8pPr>
            <a:lvl9pPr lvl="8" marR="0" algn="l">
              <a:spcBef>
                <a:spcPts val="0"/>
              </a:spcBef>
              <a:spcAft>
                <a:spcPts val="0"/>
              </a:spcAft>
              <a:buSzPts val="1400"/>
              <a:buNone/>
              <a:defRPr b="0" i="0" sz="1800" u="none" cap="none" strike="noStrike"/>
            </a:lvl9pPr>
          </a:lstStyle>
          <a:p/>
        </p:txBody>
      </p:sp>
      <p:sp>
        <p:nvSpPr>
          <p:cNvPr id="85" name="Google Shape;85;p13"/>
          <p:cNvSpPr txBox="1"/>
          <p:nvPr>
            <p:ph idx="12" type="sldNum"/>
          </p:nvPr>
        </p:nvSpPr>
        <p:spPr>
          <a:xfrm>
            <a:off x="8610480" y="6356520"/>
            <a:ext cx="2742900" cy="3648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buClr>
                <a:srgbClr val="757575"/>
              </a:buClr>
              <a:buSzPts val="1200"/>
              <a:buFont typeface="Arial"/>
              <a:buNone/>
              <a:defRPr b="0" i="0" sz="1200" u="none" cap="none" strike="noStrike">
                <a:solidFill>
                  <a:srgbClr val="757575"/>
                </a:solidFill>
                <a:latin typeface="Arial"/>
                <a:ea typeface="Arial"/>
                <a:cs typeface="Arial"/>
                <a:sym typeface="Arial"/>
              </a:defRPr>
            </a:lvl1pPr>
            <a:lvl2pPr indent="0" lvl="1" marL="0" marR="0" algn="r">
              <a:lnSpc>
                <a:spcPct val="100000"/>
              </a:lnSpc>
              <a:spcBef>
                <a:spcPts val="0"/>
              </a:spcBef>
              <a:buClr>
                <a:srgbClr val="757575"/>
              </a:buClr>
              <a:buSzPts val="1200"/>
              <a:buFont typeface="Arial"/>
              <a:buNone/>
              <a:defRPr b="0" i="0" sz="1200" u="none" cap="none" strike="noStrike">
                <a:solidFill>
                  <a:srgbClr val="757575"/>
                </a:solidFill>
                <a:latin typeface="Arial"/>
                <a:ea typeface="Arial"/>
                <a:cs typeface="Arial"/>
                <a:sym typeface="Arial"/>
              </a:defRPr>
            </a:lvl2pPr>
            <a:lvl3pPr indent="0" lvl="2" marL="0" marR="0" algn="r">
              <a:lnSpc>
                <a:spcPct val="100000"/>
              </a:lnSpc>
              <a:spcBef>
                <a:spcPts val="0"/>
              </a:spcBef>
              <a:buClr>
                <a:srgbClr val="757575"/>
              </a:buClr>
              <a:buSzPts val="1200"/>
              <a:buFont typeface="Arial"/>
              <a:buNone/>
              <a:defRPr b="0" i="0" sz="1200" u="none" cap="none" strike="noStrike">
                <a:solidFill>
                  <a:srgbClr val="757575"/>
                </a:solidFill>
                <a:latin typeface="Arial"/>
                <a:ea typeface="Arial"/>
                <a:cs typeface="Arial"/>
                <a:sym typeface="Arial"/>
              </a:defRPr>
            </a:lvl3pPr>
            <a:lvl4pPr indent="0" lvl="3" marL="0" marR="0" algn="r">
              <a:lnSpc>
                <a:spcPct val="100000"/>
              </a:lnSpc>
              <a:spcBef>
                <a:spcPts val="0"/>
              </a:spcBef>
              <a:buClr>
                <a:srgbClr val="757575"/>
              </a:buClr>
              <a:buSzPts val="1200"/>
              <a:buFont typeface="Arial"/>
              <a:buNone/>
              <a:defRPr b="0" i="0" sz="1200" u="none" cap="none" strike="noStrike">
                <a:solidFill>
                  <a:srgbClr val="757575"/>
                </a:solidFill>
                <a:latin typeface="Arial"/>
                <a:ea typeface="Arial"/>
                <a:cs typeface="Arial"/>
                <a:sym typeface="Arial"/>
              </a:defRPr>
            </a:lvl4pPr>
            <a:lvl5pPr indent="0" lvl="4" marL="0" marR="0" algn="r">
              <a:lnSpc>
                <a:spcPct val="100000"/>
              </a:lnSpc>
              <a:spcBef>
                <a:spcPts val="0"/>
              </a:spcBef>
              <a:buClr>
                <a:srgbClr val="757575"/>
              </a:buClr>
              <a:buSzPts val="1200"/>
              <a:buFont typeface="Arial"/>
              <a:buNone/>
              <a:defRPr b="0" i="0" sz="1200" u="none" cap="none" strike="noStrike">
                <a:solidFill>
                  <a:srgbClr val="757575"/>
                </a:solidFill>
                <a:latin typeface="Arial"/>
                <a:ea typeface="Arial"/>
                <a:cs typeface="Arial"/>
                <a:sym typeface="Arial"/>
              </a:defRPr>
            </a:lvl5pPr>
            <a:lvl6pPr indent="0" lvl="5" marL="0" marR="0" algn="r">
              <a:lnSpc>
                <a:spcPct val="100000"/>
              </a:lnSpc>
              <a:spcBef>
                <a:spcPts val="0"/>
              </a:spcBef>
              <a:buClr>
                <a:srgbClr val="757575"/>
              </a:buClr>
              <a:buSzPts val="1200"/>
              <a:buFont typeface="Arial"/>
              <a:buNone/>
              <a:defRPr b="0" i="0" sz="1200" u="none" cap="none" strike="noStrike">
                <a:solidFill>
                  <a:srgbClr val="757575"/>
                </a:solidFill>
                <a:latin typeface="Arial"/>
                <a:ea typeface="Arial"/>
                <a:cs typeface="Arial"/>
                <a:sym typeface="Arial"/>
              </a:defRPr>
            </a:lvl6pPr>
            <a:lvl7pPr indent="0" lvl="6" marL="0" marR="0" algn="r">
              <a:lnSpc>
                <a:spcPct val="100000"/>
              </a:lnSpc>
              <a:spcBef>
                <a:spcPts val="0"/>
              </a:spcBef>
              <a:buClr>
                <a:srgbClr val="757575"/>
              </a:buClr>
              <a:buSzPts val="1200"/>
              <a:buFont typeface="Arial"/>
              <a:buNone/>
              <a:defRPr b="0" i="0" sz="1200" u="none" cap="none" strike="noStrike">
                <a:solidFill>
                  <a:srgbClr val="757575"/>
                </a:solidFill>
                <a:latin typeface="Arial"/>
                <a:ea typeface="Arial"/>
                <a:cs typeface="Arial"/>
                <a:sym typeface="Arial"/>
              </a:defRPr>
            </a:lvl7pPr>
            <a:lvl8pPr indent="0" lvl="7" marL="0" marR="0" algn="r">
              <a:lnSpc>
                <a:spcPct val="100000"/>
              </a:lnSpc>
              <a:spcBef>
                <a:spcPts val="0"/>
              </a:spcBef>
              <a:buClr>
                <a:srgbClr val="757575"/>
              </a:buClr>
              <a:buSzPts val="1200"/>
              <a:buFont typeface="Arial"/>
              <a:buNone/>
              <a:defRPr b="0" i="0" sz="1200" u="none" cap="none" strike="noStrike">
                <a:solidFill>
                  <a:srgbClr val="757575"/>
                </a:solidFill>
                <a:latin typeface="Arial"/>
                <a:ea typeface="Arial"/>
                <a:cs typeface="Arial"/>
                <a:sym typeface="Arial"/>
              </a:defRPr>
            </a:lvl8pPr>
            <a:lvl9pPr indent="0" lvl="8" marL="0" marR="0" algn="r">
              <a:lnSpc>
                <a:spcPct val="100000"/>
              </a:lnSpc>
              <a:spcBef>
                <a:spcPts val="0"/>
              </a:spcBef>
              <a:buClr>
                <a:srgbClr val="757575"/>
              </a:buClr>
              <a:buSzPts val="1200"/>
              <a:buFont typeface="Arial"/>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solidFill>
                <a:srgbClr val="000000"/>
              </a:solidFill>
              <a:latin typeface="Times New Roman"/>
              <a:ea typeface="Times New Roman"/>
              <a:cs typeface="Times New Roman"/>
              <a:sym typeface="Times New Roman"/>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1.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8" name="Google Shape;8;p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9" name="Google Shape;9;p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0" name="Google Shape;10;p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Arial"/>
                <a:ea typeface="Arial"/>
                <a:cs typeface="Arial"/>
                <a:sym typeface="Arial"/>
              </a:defRPr>
            </a:lvl1pPr>
            <a:lvl2pPr indent="0" lvl="1" marL="0" marR="0" rtl="0" algn="r">
              <a:spcBef>
                <a:spcPts val="0"/>
              </a:spcBef>
              <a:buNone/>
              <a:defRPr b="0" i="0" sz="1200" u="none" cap="none" strike="noStrike">
                <a:solidFill>
                  <a:srgbClr val="757575"/>
                </a:solidFill>
                <a:latin typeface="Arial"/>
                <a:ea typeface="Arial"/>
                <a:cs typeface="Arial"/>
                <a:sym typeface="Arial"/>
              </a:defRPr>
            </a:lvl2pPr>
            <a:lvl3pPr indent="0" lvl="2" marL="0" marR="0" rtl="0" algn="r">
              <a:spcBef>
                <a:spcPts val="0"/>
              </a:spcBef>
              <a:buNone/>
              <a:defRPr b="0" i="0" sz="1200" u="none" cap="none" strike="noStrike">
                <a:solidFill>
                  <a:srgbClr val="757575"/>
                </a:solidFill>
                <a:latin typeface="Arial"/>
                <a:ea typeface="Arial"/>
                <a:cs typeface="Arial"/>
                <a:sym typeface="Arial"/>
              </a:defRPr>
            </a:lvl3pPr>
            <a:lvl4pPr indent="0" lvl="3" marL="0" marR="0" rtl="0" algn="r">
              <a:spcBef>
                <a:spcPts val="0"/>
              </a:spcBef>
              <a:buNone/>
              <a:defRPr b="0" i="0" sz="1200" u="none" cap="none" strike="noStrike">
                <a:solidFill>
                  <a:srgbClr val="757575"/>
                </a:solidFill>
                <a:latin typeface="Arial"/>
                <a:ea typeface="Arial"/>
                <a:cs typeface="Arial"/>
                <a:sym typeface="Arial"/>
              </a:defRPr>
            </a:lvl4pPr>
            <a:lvl5pPr indent="0" lvl="4" marL="0" marR="0" rtl="0" algn="r">
              <a:spcBef>
                <a:spcPts val="0"/>
              </a:spcBef>
              <a:buNone/>
              <a:defRPr b="0" i="0" sz="1200" u="none" cap="none" strike="noStrike">
                <a:solidFill>
                  <a:srgbClr val="757575"/>
                </a:solidFill>
                <a:latin typeface="Arial"/>
                <a:ea typeface="Arial"/>
                <a:cs typeface="Arial"/>
                <a:sym typeface="Arial"/>
              </a:defRPr>
            </a:lvl5pPr>
            <a:lvl6pPr indent="0" lvl="5" marL="0" marR="0" rtl="0" algn="r">
              <a:spcBef>
                <a:spcPts val="0"/>
              </a:spcBef>
              <a:buNone/>
              <a:defRPr b="0" i="0" sz="1200" u="none" cap="none" strike="noStrike">
                <a:solidFill>
                  <a:srgbClr val="757575"/>
                </a:solidFill>
                <a:latin typeface="Arial"/>
                <a:ea typeface="Arial"/>
                <a:cs typeface="Arial"/>
                <a:sym typeface="Arial"/>
              </a:defRPr>
            </a:lvl6pPr>
            <a:lvl7pPr indent="0" lvl="6" marL="0" marR="0" rtl="0" algn="r">
              <a:spcBef>
                <a:spcPts val="0"/>
              </a:spcBef>
              <a:buNone/>
              <a:defRPr b="0" i="0" sz="1200" u="none" cap="none" strike="noStrike">
                <a:solidFill>
                  <a:srgbClr val="757575"/>
                </a:solidFill>
                <a:latin typeface="Arial"/>
                <a:ea typeface="Arial"/>
                <a:cs typeface="Arial"/>
                <a:sym typeface="Arial"/>
              </a:defRPr>
            </a:lvl7pPr>
            <a:lvl8pPr indent="0" lvl="7" marL="0" marR="0" rtl="0" algn="r">
              <a:spcBef>
                <a:spcPts val="0"/>
              </a:spcBef>
              <a:buNone/>
              <a:defRPr b="0" i="0" sz="1200" u="none" cap="none" strike="noStrike">
                <a:solidFill>
                  <a:srgbClr val="757575"/>
                </a:solidFill>
                <a:latin typeface="Arial"/>
                <a:ea typeface="Arial"/>
                <a:cs typeface="Arial"/>
                <a:sym typeface="Arial"/>
              </a:defRPr>
            </a:lvl8pPr>
            <a:lvl9pPr indent="0" lvl="8" marL="0" marR="0" rtl="0" algn="r">
              <a:spcBef>
                <a:spcPts val="0"/>
              </a:spcBef>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4"/>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fontScale="90000"/>
          </a:bodyPr>
          <a:lstStyle/>
          <a:p>
            <a:pPr indent="0" lvl="0" marL="0" rtl="0" algn="ctr">
              <a:lnSpc>
                <a:spcPct val="90000"/>
              </a:lnSpc>
              <a:spcBef>
                <a:spcPts val="0"/>
              </a:spcBef>
              <a:spcAft>
                <a:spcPts val="0"/>
              </a:spcAft>
              <a:buClr>
                <a:schemeClr val="dk1"/>
              </a:buClr>
              <a:buSzPct val="100000"/>
              <a:buFont typeface="Play"/>
              <a:buNone/>
            </a:pPr>
            <a:r>
              <a:rPr lang="en-US"/>
              <a:t>AI Document Audit </a:t>
            </a:r>
            <a:endParaRPr/>
          </a:p>
          <a:p>
            <a:pPr indent="0" lvl="0" marL="0" rtl="0" algn="ctr">
              <a:lnSpc>
                <a:spcPct val="90000"/>
              </a:lnSpc>
              <a:spcBef>
                <a:spcPts val="0"/>
              </a:spcBef>
              <a:spcAft>
                <a:spcPts val="0"/>
              </a:spcAft>
              <a:buClr>
                <a:schemeClr val="dk1"/>
              </a:buClr>
              <a:buSzPct val="100000"/>
              <a:buFont typeface="Play"/>
              <a:buNone/>
            </a:pPr>
            <a:r>
              <a:rPr lang="en-US"/>
              <a:t>&amp; </a:t>
            </a:r>
            <a:endParaRPr/>
          </a:p>
          <a:p>
            <a:pPr indent="0" lvl="0" marL="0" rtl="0" algn="ctr">
              <a:lnSpc>
                <a:spcPct val="90000"/>
              </a:lnSpc>
              <a:spcBef>
                <a:spcPts val="0"/>
              </a:spcBef>
              <a:spcAft>
                <a:spcPts val="0"/>
              </a:spcAft>
              <a:buClr>
                <a:schemeClr val="dk1"/>
              </a:buClr>
              <a:buSzPct val="100000"/>
              <a:buFont typeface="Play"/>
              <a:buNone/>
            </a:pPr>
            <a:r>
              <a:rPr lang="en-US"/>
              <a:t>Knowledge Assistant System</a:t>
            </a:r>
            <a:endParaRPr/>
          </a:p>
        </p:txBody>
      </p:sp>
      <p:sp>
        <p:nvSpPr>
          <p:cNvPr id="91" name="Google Shape;91;p14"/>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p>
            <a:pPr indent="0" lvl="0" marL="0" rtl="0" algn="ctr">
              <a:lnSpc>
                <a:spcPct val="90000"/>
              </a:lnSpc>
              <a:spcBef>
                <a:spcPts val="0"/>
              </a:spcBef>
              <a:spcAft>
                <a:spcPts val="0"/>
              </a:spcAft>
              <a:buClr>
                <a:schemeClr val="dk1"/>
              </a:buClr>
              <a:buSzPts val="2400"/>
              <a:buNone/>
            </a:pPr>
            <a:r>
              <a:rPr lang="en-US" sz="3000"/>
              <a:t>Team 6</a:t>
            </a:r>
            <a:endParaRPr sz="30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a:t>Agenda</a:t>
            </a:r>
            <a:endParaRPr/>
          </a:p>
        </p:txBody>
      </p:sp>
      <p:sp>
        <p:nvSpPr>
          <p:cNvPr id="97" name="Google Shape;97;p15"/>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514350" lvl="0" marL="514350" rtl="0" algn="l">
              <a:lnSpc>
                <a:spcPct val="90000"/>
              </a:lnSpc>
              <a:spcBef>
                <a:spcPts val="0"/>
              </a:spcBef>
              <a:spcAft>
                <a:spcPts val="0"/>
              </a:spcAft>
              <a:buClr>
                <a:schemeClr val="dk1"/>
              </a:buClr>
              <a:buSzPts val="2800"/>
              <a:buAutoNum type="arabicPeriod"/>
            </a:pPr>
            <a:r>
              <a:rPr lang="en-US"/>
              <a:t>Product Overview</a:t>
            </a:r>
            <a:endParaRPr/>
          </a:p>
          <a:p>
            <a:pPr indent="-514350" lvl="0" marL="514350" rtl="0" algn="l">
              <a:lnSpc>
                <a:spcPct val="90000"/>
              </a:lnSpc>
              <a:spcBef>
                <a:spcPts val="1000"/>
              </a:spcBef>
              <a:spcAft>
                <a:spcPts val="0"/>
              </a:spcAft>
              <a:buClr>
                <a:schemeClr val="dk1"/>
              </a:buClr>
              <a:buSzPts val="2800"/>
              <a:buAutoNum type="arabicPeriod"/>
            </a:pPr>
            <a:r>
              <a:rPr lang="en-US"/>
              <a:t>Architecture Decisions</a:t>
            </a:r>
            <a:endParaRPr/>
          </a:p>
          <a:p>
            <a:pPr indent="-514350" lvl="0" marL="514350" rtl="0" algn="l">
              <a:lnSpc>
                <a:spcPct val="90000"/>
              </a:lnSpc>
              <a:spcBef>
                <a:spcPts val="1000"/>
              </a:spcBef>
              <a:spcAft>
                <a:spcPts val="0"/>
              </a:spcAft>
              <a:buClr>
                <a:schemeClr val="dk1"/>
              </a:buClr>
              <a:buSzPts val="2800"/>
              <a:buAutoNum type="arabicPeriod"/>
            </a:pPr>
            <a:r>
              <a:rPr lang="en-US"/>
              <a:t>System Architecture</a:t>
            </a:r>
            <a:endParaRPr/>
          </a:p>
          <a:p>
            <a:pPr indent="-514350" lvl="0" marL="514350" rtl="0" algn="l">
              <a:lnSpc>
                <a:spcPct val="90000"/>
              </a:lnSpc>
              <a:spcBef>
                <a:spcPts val="1000"/>
              </a:spcBef>
              <a:spcAft>
                <a:spcPts val="0"/>
              </a:spcAft>
              <a:buClr>
                <a:schemeClr val="dk1"/>
              </a:buClr>
              <a:buSzPts val="2800"/>
              <a:buAutoNum type="arabicPeriod"/>
            </a:pPr>
            <a:r>
              <a:rPr lang="en-US"/>
              <a:t>Infrastructure Architecture</a:t>
            </a:r>
            <a:endParaRPr/>
          </a:p>
          <a:p>
            <a:pPr indent="-514350" lvl="0" marL="514350" rtl="0" algn="l">
              <a:lnSpc>
                <a:spcPct val="90000"/>
              </a:lnSpc>
              <a:spcBef>
                <a:spcPts val="1000"/>
              </a:spcBef>
              <a:spcAft>
                <a:spcPts val="0"/>
              </a:spcAft>
              <a:buClr>
                <a:schemeClr val="dk1"/>
              </a:buClr>
              <a:buSzPts val="2800"/>
              <a:buAutoNum type="arabicPeriod"/>
            </a:pPr>
            <a:r>
              <a:rPr lang="en-US"/>
              <a:t>Security, Observability, and Scaling</a:t>
            </a:r>
            <a:endParaRPr/>
          </a:p>
          <a:p>
            <a:pPr indent="-514350" lvl="0" marL="514350" rtl="0" algn="l">
              <a:lnSpc>
                <a:spcPct val="90000"/>
              </a:lnSpc>
              <a:spcBef>
                <a:spcPts val="1000"/>
              </a:spcBef>
              <a:spcAft>
                <a:spcPts val="0"/>
              </a:spcAft>
              <a:buClr>
                <a:schemeClr val="dk1"/>
              </a:buClr>
              <a:buSzPts val="2800"/>
              <a:buAutoNum type="arabicPeriod"/>
            </a:pPr>
            <a:r>
              <a:rPr lang="en-US"/>
              <a:t>AWS Fit (or other providers)</a:t>
            </a:r>
            <a:endParaRPr/>
          </a:p>
          <a:p>
            <a:pPr indent="-514350" lvl="0" marL="514350" rtl="0" algn="l">
              <a:lnSpc>
                <a:spcPct val="90000"/>
              </a:lnSpc>
              <a:spcBef>
                <a:spcPts val="1000"/>
              </a:spcBef>
              <a:spcAft>
                <a:spcPts val="0"/>
              </a:spcAft>
              <a:buClr>
                <a:schemeClr val="dk1"/>
              </a:buClr>
              <a:buSzPts val="2800"/>
              <a:buAutoNum type="arabicPeriod"/>
            </a:pPr>
            <a:r>
              <a:rPr lang="en-US"/>
              <a:t>Sizing &amp; Cost</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6"/>
          <p:cNvSpPr txBox="1"/>
          <p:nvPr>
            <p:ph type="title"/>
          </p:nvPr>
        </p:nvSpPr>
        <p:spPr>
          <a:xfrm>
            <a:off x="838200" y="365125"/>
            <a:ext cx="10515600" cy="1325700"/>
          </a:xfrm>
          <a:prstGeom prst="rect">
            <a:avLst/>
          </a:prstGeom>
        </p:spPr>
        <p:txBody>
          <a:bodyPr anchorCtr="0" anchor="ctr" bIns="45700" lIns="91425" spcFirstLastPara="1" rIns="91425" wrap="square" tIns="45700">
            <a:normAutofit/>
          </a:bodyPr>
          <a:lstStyle/>
          <a:p>
            <a:pPr indent="0" lvl="0" marL="0" rtl="0" algn="l">
              <a:spcBef>
                <a:spcPts val="0"/>
              </a:spcBef>
              <a:spcAft>
                <a:spcPts val="0"/>
              </a:spcAft>
              <a:buNone/>
            </a:pPr>
            <a:r>
              <a:rPr lang="en-US"/>
              <a:t>Product Overview</a:t>
            </a:r>
            <a:endParaRPr/>
          </a:p>
        </p:txBody>
      </p:sp>
      <p:pic>
        <p:nvPicPr>
          <p:cNvPr id="103" name="Google Shape;103;p16"/>
          <p:cNvPicPr preferRelativeResize="0"/>
          <p:nvPr/>
        </p:nvPicPr>
        <p:blipFill>
          <a:blip r:embed="rId3">
            <a:alphaModFix/>
          </a:blip>
          <a:stretch>
            <a:fillRect/>
          </a:stretch>
        </p:blipFill>
        <p:spPr>
          <a:xfrm>
            <a:off x="838200" y="1813875"/>
            <a:ext cx="10866525" cy="38853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1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a:t>Architecture Decisions (1) </a:t>
            </a:r>
            <a:endParaRPr/>
          </a:p>
        </p:txBody>
      </p:sp>
      <p:sp>
        <p:nvSpPr>
          <p:cNvPr id="109" name="Google Shape;109;p17"/>
          <p:cNvSpPr txBox="1"/>
          <p:nvPr>
            <p:ph idx="1" type="body"/>
          </p:nvPr>
        </p:nvSpPr>
        <p:spPr>
          <a:xfrm>
            <a:off x="425125" y="1825625"/>
            <a:ext cx="11397600" cy="4351200"/>
          </a:xfrm>
          <a:prstGeom prst="rect">
            <a:avLst/>
          </a:prstGeom>
          <a:noFill/>
          <a:ln>
            <a:noFill/>
          </a:ln>
        </p:spPr>
        <p:txBody>
          <a:bodyPr anchorCtr="0" anchor="t" bIns="45700" lIns="91425" spcFirstLastPara="1" rIns="91425" wrap="square" tIns="45700">
            <a:noAutofit/>
          </a:bodyPr>
          <a:lstStyle/>
          <a:p>
            <a:pPr indent="-355600" lvl="0" marL="457200" rtl="0" algn="l">
              <a:lnSpc>
                <a:spcPct val="100000"/>
              </a:lnSpc>
              <a:spcBef>
                <a:spcPts val="0"/>
              </a:spcBef>
              <a:spcAft>
                <a:spcPts val="0"/>
              </a:spcAft>
              <a:buSzPts val="2000"/>
              <a:buChar char="●"/>
            </a:pPr>
            <a:r>
              <a:rPr b="1" lang="en-US" sz="2000"/>
              <a:t>Cloud Platform</a:t>
            </a:r>
            <a:r>
              <a:rPr lang="en-US" sz="2000"/>
              <a:t>: Use Azure because the customer already runs their entire system on this platform, and deploy across multiple Availability Zones in to ensure availability if one zone fails.</a:t>
            </a:r>
            <a:endParaRPr sz="2000"/>
          </a:p>
          <a:p>
            <a:pPr indent="-355600" lvl="0" marL="457200" rtl="0" algn="l">
              <a:lnSpc>
                <a:spcPct val="100000"/>
              </a:lnSpc>
              <a:spcBef>
                <a:spcPts val="0"/>
              </a:spcBef>
              <a:spcAft>
                <a:spcPts val="0"/>
              </a:spcAft>
              <a:buSzPts val="2000"/>
              <a:buChar char="●"/>
            </a:pPr>
            <a:r>
              <a:rPr b="1" lang="en-US" sz="2000"/>
              <a:t>Technology Stack</a:t>
            </a:r>
            <a:r>
              <a:rPr lang="en-US" sz="2000"/>
              <a:t>: Use Python with FastAPI for the backend because it supports rapid API development, asynchronous processing, and easy integration with AI and ETL services. Use ReactJS for the frontend to build a responsive, component-based interface with reusable UI elements and efficient state management.</a:t>
            </a:r>
            <a:endParaRPr sz="2000"/>
          </a:p>
          <a:p>
            <a:pPr indent="-355600" lvl="0" marL="457200" rtl="0" algn="l">
              <a:lnSpc>
                <a:spcPct val="100000"/>
              </a:lnSpc>
              <a:spcBef>
                <a:spcPts val="0"/>
              </a:spcBef>
              <a:spcAft>
                <a:spcPts val="0"/>
              </a:spcAft>
              <a:buSzPts val="2000"/>
              <a:buChar char="●"/>
            </a:pPr>
            <a:r>
              <a:rPr b="1" lang="en-US" sz="2000"/>
              <a:t>Identity Platform</a:t>
            </a:r>
            <a:r>
              <a:rPr lang="en-US" sz="2000"/>
              <a:t>: Use Microsoft Entra ID for managed identities because the customer already uses it as their identity platform. This avoids introducing another identity system while simplifying access management.</a:t>
            </a:r>
            <a:endParaRPr sz="2000"/>
          </a:p>
          <a:p>
            <a:pPr indent="-355600" lvl="0" marL="457200" rtl="0" algn="l">
              <a:lnSpc>
                <a:spcPct val="100000"/>
              </a:lnSpc>
              <a:spcBef>
                <a:spcPts val="0"/>
              </a:spcBef>
              <a:spcAft>
                <a:spcPts val="0"/>
              </a:spcAft>
              <a:buSzPts val="2000"/>
              <a:buChar char="●"/>
            </a:pPr>
            <a:r>
              <a:rPr b="1" lang="en-US" sz="2000"/>
              <a:t>Secure Web Entry Path:</a:t>
            </a:r>
            <a:r>
              <a:rPr lang="en-US" sz="2000"/>
              <a:t> Use layered edge protection, web application firewalling, and private application access to reduce threats and access-point failures.</a:t>
            </a:r>
            <a:endParaRPr sz="2000"/>
          </a:p>
          <a:p>
            <a:pPr indent="-355600" lvl="0" marL="457200" rtl="0" algn="l">
              <a:lnSpc>
                <a:spcPct val="100000"/>
              </a:lnSpc>
              <a:spcBef>
                <a:spcPts val="0"/>
              </a:spcBef>
              <a:spcAft>
                <a:spcPts val="0"/>
              </a:spcAft>
              <a:buSzPts val="2000"/>
              <a:buChar char="●"/>
            </a:pPr>
            <a:r>
              <a:rPr b="1" lang="en-US" sz="2000"/>
              <a:t>Microservices</a:t>
            </a:r>
            <a:r>
              <a:rPr lang="en-US" sz="2000"/>
              <a:t>: Separate services so each can scale, deploy, and recover independently.</a:t>
            </a:r>
            <a:endParaRPr sz="20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18"/>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a:t>Architecture Decisions (2) </a:t>
            </a:r>
            <a:endParaRPr/>
          </a:p>
        </p:txBody>
      </p:sp>
      <p:sp>
        <p:nvSpPr>
          <p:cNvPr id="115" name="Google Shape;115;p18"/>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Autofit/>
          </a:bodyPr>
          <a:lstStyle/>
          <a:p>
            <a:pPr indent="-342900" lvl="0" marL="457200" rtl="0" algn="l">
              <a:lnSpc>
                <a:spcPct val="100000"/>
              </a:lnSpc>
              <a:spcBef>
                <a:spcPts val="0"/>
              </a:spcBef>
              <a:spcAft>
                <a:spcPts val="0"/>
              </a:spcAft>
              <a:buSzPts val="1800"/>
              <a:buChar char="●"/>
            </a:pPr>
            <a:r>
              <a:rPr b="1" lang="en-US" sz="1800"/>
              <a:t>Asynchronous ETL Pipeline</a:t>
            </a:r>
            <a:r>
              <a:rPr lang="en-US" sz="1800"/>
              <a:t>: Use Celery to distribute long-running ETL tasks across worker processes, enabling independent scaling, automatic retries, task monitoring, and failure isolation. Combine it with idempotent tasks and a dead-letter queue to prevent processing failures from causing data loss.</a:t>
            </a:r>
            <a:endParaRPr sz="1800"/>
          </a:p>
          <a:p>
            <a:pPr indent="-342900" lvl="0" marL="457200" rtl="0" algn="l">
              <a:lnSpc>
                <a:spcPct val="100000"/>
              </a:lnSpc>
              <a:spcBef>
                <a:spcPts val="0"/>
              </a:spcBef>
              <a:spcAft>
                <a:spcPts val="0"/>
              </a:spcAft>
              <a:buSzPts val="1800"/>
              <a:buChar char="●"/>
            </a:pPr>
            <a:r>
              <a:rPr b="1" lang="en-US" sz="1800"/>
              <a:t>Resilient Data Storage</a:t>
            </a:r>
            <a:r>
              <a:rPr lang="en-US" sz="1800"/>
              <a:t>: Enable high availability (HA) to keep documents and audit records accessible during hardware, zone, or service failures. Use redundant storage, regular database backups, and point-in-time recovery to minimize downtime and prevent data loss.</a:t>
            </a:r>
            <a:endParaRPr sz="1800"/>
          </a:p>
          <a:p>
            <a:pPr indent="-342900" lvl="0" marL="457200" rtl="0" algn="l">
              <a:lnSpc>
                <a:spcPct val="100000"/>
              </a:lnSpc>
              <a:spcBef>
                <a:spcPts val="0"/>
              </a:spcBef>
              <a:spcAft>
                <a:spcPts val="0"/>
              </a:spcAft>
              <a:buSzPts val="1800"/>
              <a:buChar char="●"/>
            </a:pPr>
            <a:r>
              <a:rPr b="1" lang="en-US" sz="1800"/>
              <a:t>Private Networking</a:t>
            </a:r>
            <a:r>
              <a:rPr lang="en-US" sz="1800"/>
              <a:t>: Use private connectivity for internal services and data stores to keep traffic off the public Internet and reduce the attack surface.</a:t>
            </a:r>
            <a:endParaRPr sz="1800"/>
          </a:p>
          <a:p>
            <a:pPr indent="-342900" lvl="0" marL="457200" rtl="0" algn="l">
              <a:lnSpc>
                <a:spcPct val="100000"/>
              </a:lnSpc>
              <a:spcBef>
                <a:spcPts val="0"/>
              </a:spcBef>
              <a:spcAft>
                <a:spcPts val="0"/>
              </a:spcAft>
              <a:buSzPts val="1800"/>
              <a:buChar char="●"/>
            </a:pPr>
            <a:r>
              <a:rPr b="1" lang="en-US" sz="1800"/>
              <a:t>Managed Document Understanding:</a:t>
            </a:r>
            <a:r>
              <a:rPr lang="en-US" sz="1800"/>
              <a:t> Use a managed document-understanding service to reduce the need to build and maintain complex OCR, layout-analysis, and document-classification capabilities in-house. It provides scalable, continuously maintained processing for different document formats and improves extraction accuracy.</a:t>
            </a:r>
            <a:endParaRPr sz="1800"/>
          </a:p>
          <a:p>
            <a:pPr indent="-342900" lvl="0" marL="457200" rtl="0" algn="l">
              <a:lnSpc>
                <a:spcPct val="100000"/>
              </a:lnSpc>
              <a:spcBef>
                <a:spcPts val="0"/>
              </a:spcBef>
              <a:spcAft>
                <a:spcPts val="0"/>
              </a:spcAft>
              <a:buSzPts val="1800"/>
              <a:buChar char="●"/>
            </a:pPr>
            <a:r>
              <a:rPr b="1" lang="en-US" sz="1800"/>
              <a:t>Human-in-the-Loop AI Decisions:</a:t>
            </a:r>
            <a:r>
              <a:rPr lang="en-US" sz="1800"/>
              <a:t> Use AI to generate audit findings, while requiring customer review before final decisions are made.</a:t>
            </a:r>
            <a:endParaRPr sz="18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1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dk1"/>
              </a:buClr>
              <a:buSzPts val="4400"/>
              <a:buFont typeface="Play"/>
              <a:buNone/>
            </a:pPr>
            <a:r>
              <a:rPr lang="en-US"/>
              <a:t>System Architecture - System Context</a:t>
            </a:r>
            <a:r>
              <a:rPr lang="en-US"/>
              <a:t> </a:t>
            </a:r>
            <a:endParaRPr/>
          </a:p>
        </p:txBody>
      </p:sp>
      <p:pic>
        <p:nvPicPr>
          <p:cNvPr id="121" name="Google Shape;121;p19"/>
          <p:cNvPicPr preferRelativeResize="0"/>
          <p:nvPr/>
        </p:nvPicPr>
        <p:blipFill>
          <a:blip r:embed="rId3">
            <a:alphaModFix/>
          </a:blip>
          <a:stretch>
            <a:fillRect/>
          </a:stretch>
        </p:blipFill>
        <p:spPr>
          <a:xfrm>
            <a:off x="1092200" y="1989839"/>
            <a:ext cx="10000006" cy="4182741"/>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0"/>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dk1"/>
              </a:buClr>
              <a:buSzPts val="4400"/>
              <a:buFont typeface="Play"/>
              <a:buNone/>
            </a:pPr>
            <a:r>
              <a:rPr lang="en-US"/>
              <a:t>System Architecture - Container View</a:t>
            </a:r>
            <a:r>
              <a:rPr lang="en-US"/>
              <a:t> </a:t>
            </a:r>
            <a:endParaRPr/>
          </a:p>
        </p:txBody>
      </p:sp>
      <p:pic>
        <p:nvPicPr>
          <p:cNvPr id="127" name="Google Shape;127;p20"/>
          <p:cNvPicPr preferRelativeResize="0"/>
          <p:nvPr/>
        </p:nvPicPr>
        <p:blipFill>
          <a:blip r:embed="rId3">
            <a:alphaModFix/>
          </a:blip>
          <a:stretch>
            <a:fillRect/>
          </a:stretch>
        </p:blipFill>
        <p:spPr>
          <a:xfrm>
            <a:off x="1320498" y="1451828"/>
            <a:ext cx="9096528" cy="512796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a:t>Infrastructure Architecture </a:t>
            </a:r>
            <a:endParaRPr/>
          </a:p>
        </p:txBody>
      </p:sp>
      <p:pic>
        <p:nvPicPr>
          <p:cNvPr id="133" name="Google Shape;133;p21"/>
          <p:cNvPicPr preferRelativeResize="0"/>
          <p:nvPr>
            <p:ph idx="1" type="body"/>
          </p:nvPr>
        </p:nvPicPr>
        <p:blipFill rotWithShape="1">
          <a:blip r:embed="rId3">
            <a:alphaModFix/>
          </a:blip>
          <a:srcRect b="0" l="0" r="0" t="0"/>
          <a:stretch/>
        </p:blipFill>
        <p:spPr>
          <a:xfrm>
            <a:off x="2203704" y="1366208"/>
            <a:ext cx="8017403" cy="5427783"/>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2"/>
          <p:cNvSpPr txBox="1"/>
          <p:nvPr>
            <p:ph type="title"/>
          </p:nvPr>
        </p:nvSpPr>
        <p:spPr>
          <a:xfrm>
            <a:off x="215250" y="365125"/>
            <a:ext cx="11769000" cy="1325700"/>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Clr>
                <a:schemeClr val="dk1"/>
              </a:buClr>
              <a:buSzPts val="4400"/>
              <a:buFont typeface="Play"/>
              <a:buNone/>
            </a:pPr>
            <a:r>
              <a:rPr lang="en-US" sz="3600"/>
              <a:t>Infrastructure Architecture - </a:t>
            </a:r>
            <a:r>
              <a:rPr lang="en-US" sz="3600"/>
              <a:t>Global Edge &amp; Identity (1/4)</a:t>
            </a:r>
            <a:endParaRPr sz="3600"/>
          </a:p>
        </p:txBody>
      </p:sp>
      <p:pic>
        <p:nvPicPr>
          <p:cNvPr id="139" name="Google Shape;139;p22"/>
          <p:cNvPicPr preferRelativeResize="0"/>
          <p:nvPr>
            <p:ph idx="1" type="body"/>
          </p:nvPr>
        </p:nvPicPr>
        <p:blipFill rotWithShape="1">
          <a:blip r:embed="rId3">
            <a:alphaModFix/>
          </a:blip>
          <a:srcRect b="0" l="0" r="0" t="0"/>
          <a:stretch/>
        </p:blipFill>
        <p:spPr>
          <a:xfrm>
            <a:off x="519236" y="1243584"/>
            <a:ext cx="11150317" cy="5513832"/>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Clr>
                <a:schemeClr val="dk1"/>
              </a:buClr>
              <a:buSzPts val="4400"/>
              <a:buFont typeface="Play"/>
              <a:buNone/>
            </a:pPr>
            <a:r>
              <a:rPr lang="en-US" sz="3600"/>
              <a:t>Infrastructure Architecture - </a:t>
            </a:r>
            <a:r>
              <a:rPr lang="en-US" sz="3600"/>
              <a:t>Application Compute &amp; Data Services (2/4)</a:t>
            </a:r>
            <a:endParaRPr sz="3600"/>
          </a:p>
        </p:txBody>
      </p:sp>
      <p:pic>
        <p:nvPicPr>
          <p:cNvPr id="145" name="Google Shape;145;p23"/>
          <p:cNvPicPr preferRelativeResize="0"/>
          <p:nvPr>
            <p:ph idx="1" type="body"/>
          </p:nvPr>
        </p:nvPicPr>
        <p:blipFill rotWithShape="1">
          <a:blip r:embed="rId3">
            <a:alphaModFix/>
          </a:blip>
          <a:srcRect b="0" l="0" r="0" t="0"/>
          <a:stretch/>
        </p:blipFill>
        <p:spPr>
          <a:xfrm>
            <a:off x="838200" y="1675594"/>
            <a:ext cx="11302621" cy="4999526"/>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24"/>
          <p:cNvSpPr txBox="1"/>
          <p:nvPr>
            <p:ph type="title"/>
          </p:nvPr>
        </p:nvSpPr>
        <p:spPr>
          <a:xfrm>
            <a:off x="489700" y="365125"/>
            <a:ext cx="11317200" cy="1325700"/>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Clr>
                <a:schemeClr val="dk1"/>
              </a:buClr>
              <a:buSzPts val="4400"/>
              <a:buFont typeface="Play"/>
              <a:buNone/>
            </a:pPr>
            <a:r>
              <a:rPr lang="en-US" sz="3600"/>
              <a:t>Infrastructure Architecture - </a:t>
            </a:r>
            <a:r>
              <a:rPr lang="en-US" sz="3600"/>
              <a:t>AI Platform Services (3/4)</a:t>
            </a:r>
            <a:endParaRPr sz="3600"/>
          </a:p>
        </p:txBody>
      </p:sp>
      <p:pic>
        <p:nvPicPr>
          <p:cNvPr id="151" name="Google Shape;151;p24"/>
          <p:cNvPicPr preferRelativeResize="0"/>
          <p:nvPr>
            <p:ph idx="1" type="body"/>
          </p:nvPr>
        </p:nvPicPr>
        <p:blipFill rotWithShape="1">
          <a:blip r:embed="rId3">
            <a:alphaModFix/>
          </a:blip>
          <a:srcRect b="0" l="0" r="0" t="0"/>
          <a:stretch/>
        </p:blipFill>
        <p:spPr>
          <a:xfrm>
            <a:off x="100584" y="1922089"/>
            <a:ext cx="12030456" cy="36933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p2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Clr>
                <a:schemeClr val="dk1"/>
              </a:buClr>
              <a:buSzPts val="4400"/>
              <a:buFont typeface="Play"/>
              <a:buNone/>
            </a:pPr>
            <a:r>
              <a:rPr lang="en-US" sz="3600"/>
              <a:t>Infrastructure Architecture - </a:t>
            </a:r>
            <a:r>
              <a:rPr lang="en-US" sz="3600"/>
              <a:t>Platform, Security &amp; Operations (4/4)</a:t>
            </a:r>
            <a:endParaRPr sz="3600"/>
          </a:p>
        </p:txBody>
      </p:sp>
      <p:pic>
        <p:nvPicPr>
          <p:cNvPr id="157" name="Google Shape;157;p25"/>
          <p:cNvPicPr preferRelativeResize="0"/>
          <p:nvPr>
            <p:ph idx="1" type="body"/>
          </p:nvPr>
        </p:nvPicPr>
        <p:blipFill rotWithShape="1">
          <a:blip r:embed="rId3">
            <a:alphaModFix/>
          </a:blip>
          <a:srcRect b="0" l="0" r="0" t="0"/>
          <a:stretch/>
        </p:blipFill>
        <p:spPr>
          <a:xfrm>
            <a:off x="466344" y="1639126"/>
            <a:ext cx="11757165" cy="520058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26"/>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a:t>Security, Observability, and Scaling </a:t>
            </a:r>
            <a:endParaRPr/>
          </a:p>
        </p:txBody>
      </p:sp>
      <p:sp>
        <p:nvSpPr>
          <p:cNvPr id="163" name="Google Shape;163;p26"/>
          <p:cNvSpPr/>
          <p:nvPr/>
        </p:nvSpPr>
        <p:spPr>
          <a:xfrm>
            <a:off x="502920" y="1645920"/>
            <a:ext cx="3618000" cy="347400"/>
          </a:xfrm>
          <a:prstGeom prst="rect">
            <a:avLst/>
          </a:prstGeom>
          <a:solidFill>
            <a:srgbClr val="115594"/>
          </a:solidFill>
          <a:ln>
            <a:noFill/>
          </a:ln>
        </p:spPr>
        <p:txBody>
          <a:bodyPr anchorCtr="0" anchor="ctr" bIns="18275" lIns="100575" spcFirstLastPara="1" rIns="54850" wrap="square" tIns="18275">
            <a:noAutofit/>
          </a:bodyPr>
          <a:lstStyle/>
          <a:p>
            <a:pPr indent="0" lvl="0" marL="0" marR="0" rtl="0" algn="ctr">
              <a:lnSpc>
                <a:spcPct val="100000"/>
              </a:lnSpc>
              <a:spcBef>
                <a:spcPts val="0"/>
              </a:spcBef>
              <a:spcAft>
                <a:spcPts val="0"/>
              </a:spcAft>
              <a:buNone/>
            </a:pPr>
            <a:r>
              <a:rPr b="1" i="0" lang="en-US" sz="1200" u="none" cap="none" strike="noStrike">
                <a:solidFill>
                  <a:srgbClr val="FFFFFF"/>
                </a:solidFill>
                <a:latin typeface="Arial"/>
                <a:ea typeface="Arial"/>
                <a:cs typeface="Arial"/>
                <a:sym typeface="Arial"/>
              </a:rPr>
              <a:t>Security</a:t>
            </a:r>
            <a:endParaRPr/>
          </a:p>
        </p:txBody>
      </p:sp>
      <p:sp>
        <p:nvSpPr>
          <p:cNvPr id="164" name="Google Shape;164;p26"/>
          <p:cNvSpPr/>
          <p:nvPr/>
        </p:nvSpPr>
        <p:spPr>
          <a:xfrm>
            <a:off x="502925" y="1993402"/>
            <a:ext cx="3618000" cy="4618200"/>
          </a:xfrm>
          <a:prstGeom prst="rect">
            <a:avLst/>
          </a:prstGeom>
          <a:solidFill>
            <a:srgbClr val="FFFFFF"/>
          </a:solidFill>
          <a:ln cap="flat" cmpd="sng" w="9525">
            <a:solidFill>
              <a:srgbClr val="C9D6E4"/>
            </a:solidFill>
            <a:prstDash val="solid"/>
            <a:round/>
            <a:headEnd len="sm" w="sm" type="none"/>
            <a:tailEnd len="sm" w="sm" type="none"/>
          </a:ln>
        </p:spPr>
        <p:txBody>
          <a:bodyPr anchorCtr="0" anchor="t" bIns="54850" lIns="118850" spcFirstLastPara="1" rIns="100575" wrap="square" tIns="82275">
            <a:noAutofit/>
          </a:bodyPr>
          <a:lstStyle/>
          <a:p>
            <a:pPr indent="0" lvl="0" marL="0" marR="0" rtl="0" algn="l">
              <a:lnSpc>
                <a:spcPct val="92000"/>
              </a:lnSpc>
              <a:spcBef>
                <a:spcPts val="0"/>
              </a:spcBef>
              <a:spcAft>
                <a:spcPts val="0"/>
              </a:spcAft>
              <a:buNone/>
            </a:pPr>
            <a:r>
              <a:rPr b="1" lang="en-US">
                <a:solidFill>
                  <a:srgbClr val="1A1A1A"/>
                </a:solidFill>
              </a:rPr>
              <a:t>Entra ID and RBAC</a:t>
            </a:r>
            <a:r>
              <a:rPr lang="en-US">
                <a:solidFill>
                  <a:srgbClr val="1A1A1A"/>
                </a:solidFill>
              </a:rPr>
              <a:t>: Use Entra ID with OAuth2/OIDC sign-in. Short-lived JWTs are validated in every FastAPI dependency, and RBAC enforces Vendor and Customer scopes.</a:t>
            </a:r>
            <a:endParaRPr/>
          </a:p>
          <a:p>
            <a:pPr indent="0" lvl="0" marL="0" marR="0" rtl="0" algn="l">
              <a:lnSpc>
                <a:spcPct val="92000"/>
              </a:lnSpc>
              <a:spcBef>
                <a:spcPts val="400"/>
              </a:spcBef>
              <a:spcAft>
                <a:spcPts val="0"/>
              </a:spcAft>
              <a:buNone/>
            </a:pPr>
            <a:r>
              <a:rPr b="1" lang="en-US">
                <a:solidFill>
                  <a:srgbClr val="1A1A1A"/>
                </a:solidFill>
              </a:rPr>
              <a:t>WAF-protected ingress:</a:t>
            </a:r>
            <a:r>
              <a:rPr lang="en-US">
                <a:solidFill>
                  <a:srgbClr val="1A1A1A"/>
                </a:solidFill>
              </a:rPr>
              <a:t> Apply one WAF policy across Front Door and Application Gateway, including OWASP managed rules, bot protection, rate limiting, and platform DDoS protection.</a:t>
            </a:r>
            <a:endParaRPr/>
          </a:p>
          <a:p>
            <a:pPr indent="0" lvl="0" marL="0" marR="0" rtl="0" algn="l">
              <a:lnSpc>
                <a:spcPct val="92000"/>
              </a:lnSpc>
              <a:spcBef>
                <a:spcPts val="400"/>
              </a:spcBef>
              <a:spcAft>
                <a:spcPts val="0"/>
              </a:spcAft>
              <a:buNone/>
            </a:pPr>
            <a:r>
              <a:rPr b="1" lang="en-US">
                <a:solidFill>
                  <a:srgbClr val="1A1A1A"/>
                </a:solidFill>
              </a:rPr>
              <a:t>Private service connectivity: </a:t>
            </a:r>
            <a:r>
              <a:rPr lang="en-US">
                <a:solidFill>
                  <a:srgbClr val="1A1A1A"/>
                </a:solidFill>
              </a:rPr>
              <a:t>Keep application workloads in a protected private network and access documents, databases, AI services, and container images through private endpoints instead of the public Internet. </a:t>
            </a:r>
            <a:endParaRPr>
              <a:solidFill>
                <a:srgbClr val="1A1A1A"/>
              </a:solidFill>
            </a:endParaRPr>
          </a:p>
          <a:p>
            <a:pPr indent="0" lvl="0" marL="0" marR="0" rtl="0" algn="l">
              <a:lnSpc>
                <a:spcPct val="92000"/>
              </a:lnSpc>
              <a:spcBef>
                <a:spcPts val="400"/>
              </a:spcBef>
              <a:spcAft>
                <a:spcPts val="0"/>
              </a:spcAft>
              <a:buNone/>
            </a:pPr>
            <a:r>
              <a:rPr b="1" lang="en-US">
                <a:solidFill>
                  <a:srgbClr val="1A1A1A"/>
                </a:solidFill>
              </a:rPr>
              <a:t>Protected data:</a:t>
            </a:r>
            <a:r>
              <a:rPr lang="en-US">
                <a:solidFill>
                  <a:srgbClr val="1A1A1A"/>
                </a:solidFill>
              </a:rPr>
              <a:t> Use TLS for data in transit, use Key Vault for secrets management, encrypt sensitive user fields at rest, and keep original documents immutable in Blob Storage under  lifecycle and retention policies.</a:t>
            </a:r>
            <a:endParaRPr/>
          </a:p>
        </p:txBody>
      </p:sp>
      <p:sp>
        <p:nvSpPr>
          <p:cNvPr id="165" name="Google Shape;165;p26"/>
          <p:cNvSpPr/>
          <p:nvPr/>
        </p:nvSpPr>
        <p:spPr>
          <a:xfrm>
            <a:off x="4285488" y="1645920"/>
            <a:ext cx="3618000" cy="347400"/>
          </a:xfrm>
          <a:prstGeom prst="rect">
            <a:avLst/>
          </a:prstGeom>
          <a:solidFill>
            <a:srgbClr val="115594"/>
          </a:solidFill>
          <a:ln>
            <a:noFill/>
          </a:ln>
        </p:spPr>
        <p:txBody>
          <a:bodyPr anchorCtr="0" anchor="ctr" bIns="18275" lIns="100575" spcFirstLastPara="1" rIns="54850" wrap="square" tIns="18275">
            <a:noAutofit/>
          </a:bodyPr>
          <a:lstStyle/>
          <a:p>
            <a:pPr indent="0" lvl="0" marL="0" marR="0" rtl="0" algn="ctr">
              <a:lnSpc>
                <a:spcPct val="100000"/>
              </a:lnSpc>
              <a:spcBef>
                <a:spcPts val="0"/>
              </a:spcBef>
              <a:spcAft>
                <a:spcPts val="0"/>
              </a:spcAft>
              <a:buNone/>
            </a:pPr>
            <a:r>
              <a:rPr b="1" i="0" lang="en-US" sz="1200" u="none" cap="none" strike="noStrike">
                <a:solidFill>
                  <a:srgbClr val="FFFFFF"/>
                </a:solidFill>
                <a:latin typeface="Arial"/>
                <a:ea typeface="Arial"/>
                <a:cs typeface="Arial"/>
                <a:sym typeface="Arial"/>
              </a:rPr>
              <a:t>Observability</a:t>
            </a:r>
            <a:endParaRPr/>
          </a:p>
        </p:txBody>
      </p:sp>
      <p:sp>
        <p:nvSpPr>
          <p:cNvPr id="166" name="Google Shape;166;p26"/>
          <p:cNvSpPr/>
          <p:nvPr/>
        </p:nvSpPr>
        <p:spPr>
          <a:xfrm>
            <a:off x="4285500" y="1993402"/>
            <a:ext cx="3618000" cy="4618200"/>
          </a:xfrm>
          <a:prstGeom prst="rect">
            <a:avLst/>
          </a:prstGeom>
          <a:solidFill>
            <a:srgbClr val="FFFFFF"/>
          </a:solidFill>
          <a:ln cap="flat" cmpd="sng" w="9525">
            <a:solidFill>
              <a:srgbClr val="C9D6E4"/>
            </a:solidFill>
            <a:prstDash val="solid"/>
            <a:round/>
            <a:headEnd len="sm" w="sm" type="none"/>
            <a:tailEnd len="sm" w="sm" type="none"/>
          </a:ln>
        </p:spPr>
        <p:txBody>
          <a:bodyPr anchorCtr="0" anchor="t" bIns="54850" lIns="118850" spcFirstLastPara="1" rIns="100575" wrap="square" tIns="82275">
            <a:noAutofit/>
          </a:bodyPr>
          <a:lstStyle/>
          <a:p>
            <a:pPr indent="0" lvl="0" marL="0" rtl="0" algn="l">
              <a:lnSpc>
                <a:spcPct val="92000"/>
              </a:lnSpc>
              <a:spcBef>
                <a:spcPts val="400"/>
              </a:spcBef>
              <a:spcAft>
                <a:spcPts val="0"/>
              </a:spcAft>
              <a:buNone/>
            </a:pPr>
            <a:r>
              <a:rPr b="1" lang="en-US">
                <a:solidFill>
                  <a:srgbClr val="1A1A1A"/>
                </a:solidFill>
              </a:rPr>
              <a:t>Centralized monitoring:</a:t>
            </a:r>
            <a:r>
              <a:rPr lang="en-US">
                <a:solidFill>
                  <a:srgbClr val="1A1A1A"/>
                </a:solidFill>
              </a:rPr>
              <a:t> Use Azure Monitor for traces, logs and metrics.</a:t>
            </a:r>
            <a:endParaRPr>
              <a:solidFill>
                <a:srgbClr val="1A1A1A"/>
              </a:solidFill>
            </a:endParaRPr>
          </a:p>
          <a:p>
            <a:pPr indent="0" lvl="0" marL="0" rtl="0" algn="l">
              <a:lnSpc>
                <a:spcPct val="92000"/>
              </a:lnSpc>
              <a:spcBef>
                <a:spcPts val="400"/>
              </a:spcBef>
              <a:spcAft>
                <a:spcPts val="0"/>
              </a:spcAft>
              <a:buNone/>
            </a:pPr>
            <a:r>
              <a:rPr b="1" lang="en-US">
                <a:solidFill>
                  <a:srgbClr val="1A1A1A"/>
                </a:solidFill>
              </a:rPr>
              <a:t>Operational dashboards:</a:t>
            </a:r>
            <a:r>
              <a:rPr lang="en-US">
                <a:solidFill>
                  <a:srgbClr val="1A1A1A"/>
                </a:solidFill>
              </a:rPr>
              <a:t> Track queue depth per ETL stage, audit duration, AI Search latency, token consumption, and service availability.</a:t>
            </a:r>
            <a:endParaRPr>
              <a:solidFill>
                <a:srgbClr val="1A1A1A"/>
              </a:solidFill>
            </a:endParaRPr>
          </a:p>
          <a:p>
            <a:pPr indent="0" lvl="0" marL="0" rtl="0" algn="l">
              <a:lnSpc>
                <a:spcPct val="92000"/>
              </a:lnSpc>
              <a:spcBef>
                <a:spcPts val="400"/>
              </a:spcBef>
              <a:spcAft>
                <a:spcPts val="0"/>
              </a:spcAft>
              <a:buNone/>
            </a:pPr>
            <a:r>
              <a:rPr b="1" lang="en-US">
                <a:solidFill>
                  <a:srgbClr val="1A1A1A"/>
                </a:solidFill>
              </a:rPr>
              <a:t>SLO and cost alerts:</a:t>
            </a:r>
            <a:r>
              <a:rPr lang="en-US">
                <a:solidFill>
                  <a:srgbClr val="1A1A1A"/>
                </a:solidFill>
              </a:rPr>
              <a:t> Alert when p95 query latency exceeds 3 seconds, an audit exceeds 10 minutes, the dead-letter queue is non-empty, or availability falls below 99.9%. Trigger budget alerts at 80%, 90%, and 100% of the monthly cap.</a:t>
            </a:r>
            <a:endParaRPr>
              <a:solidFill>
                <a:srgbClr val="1A1A1A"/>
              </a:solidFill>
            </a:endParaRPr>
          </a:p>
          <a:p>
            <a:pPr indent="0" lvl="0" marL="0" rtl="0" algn="l">
              <a:lnSpc>
                <a:spcPct val="92000"/>
              </a:lnSpc>
              <a:spcBef>
                <a:spcPts val="400"/>
              </a:spcBef>
              <a:spcAft>
                <a:spcPts val="0"/>
              </a:spcAft>
              <a:buNone/>
            </a:pPr>
            <a:r>
              <a:rPr b="1" lang="en-US">
                <a:solidFill>
                  <a:srgbClr val="1A1A1A"/>
                </a:solidFill>
              </a:rPr>
              <a:t>Auditable history:</a:t>
            </a:r>
            <a:r>
              <a:rPr lang="en-US">
                <a:solidFill>
                  <a:srgbClr val="1A1A1A"/>
                </a:solidFill>
              </a:rPr>
              <a:t> Store every submission, AI finding, and reviewer accept/reject decision in immutable PostgreSQL audit history with timestamps.</a:t>
            </a:r>
            <a:endParaRPr>
              <a:solidFill>
                <a:srgbClr val="1A1A1A"/>
              </a:solidFill>
            </a:endParaRPr>
          </a:p>
        </p:txBody>
      </p:sp>
      <p:sp>
        <p:nvSpPr>
          <p:cNvPr id="167" name="Google Shape;167;p26"/>
          <p:cNvSpPr/>
          <p:nvPr/>
        </p:nvSpPr>
        <p:spPr>
          <a:xfrm>
            <a:off x="8068056" y="1645920"/>
            <a:ext cx="3618000" cy="347400"/>
          </a:xfrm>
          <a:prstGeom prst="rect">
            <a:avLst/>
          </a:prstGeom>
          <a:solidFill>
            <a:srgbClr val="115594"/>
          </a:solidFill>
          <a:ln>
            <a:noFill/>
          </a:ln>
        </p:spPr>
        <p:txBody>
          <a:bodyPr anchorCtr="0" anchor="ctr" bIns="18275" lIns="100575" spcFirstLastPara="1" rIns="54850" wrap="square" tIns="18275">
            <a:noAutofit/>
          </a:bodyPr>
          <a:lstStyle/>
          <a:p>
            <a:pPr indent="0" lvl="0" marL="0" marR="0" rtl="0" algn="ctr">
              <a:lnSpc>
                <a:spcPct val="100000"/>
              </a:lnSpc>
              <a:spcBef>
                <a:spcPts val="0"/>
              </a:spcBef>
              <a:spcAft>
                <a:spcPts val="0"/>
              </a:spcAft>
              <a:buNone/>
            </a:pPr>
            <a:r>
              <a:rPr b="1" i="0" lang="en-US" sz="1200" u="none" cap="none" strike="noStrike">
                <a:solidFill>
                  <a:srgbClr val="FFFFFF"/>
                </a:solidFill>
                <a:latin typeface="Arial"/>
                <a:ea typeface="Arial"/>
                <a:cs typeface="Arial"/>
                <a:sym typeface="Arial"/>
              </a:rPr>
              <a:t>Scaling</a:t>
            </a:r>
            <a:endParaRPr/>
          </a:p>
        </p:txBody>
      </p:sp>
      <p:sp>
        <p:nvSpPr>
          <p:cNvPr id="168" name="Google Shape;168;p26"/>
          <p:cNvSpPr/>
          <p:nvPr/>
        </p:nvSpPr>
        <p:spPr>
          <a:xfrm>
            <a:off x="8068050" y="1993402"/>
            <a:ext cx="3618000" cy="4618200"/>
          </a:xfrm>
          <a:prstGeom prst="rect">
            <a:avLst/>
          </a:prstGeom>
          <a:solidFill>
            <a:srgbClr val="FFFFFF"/>
          </a:solidFill>
          <a:ln cap="flat" cmpd="sng" w="9525">
            <a:solidFill>
              <a:srgbClr val="C9D6E4"/>
            </a:solidFill>
            <a:prstDash val="solid"/>
            <a:round/>
            <a:headEnd len="sm" w="sm" type="none"/>
            <a:tailEnd len="sm" w="sm" type="none"/>
          </a:ln>
        </p:spPr>
        <p:txBody>
          <a:bodyPr anchorCtr="0" anchor="t" bIns="54850" lIns="118850" spcFirstLastPara="1" rIns="100575" wrap="square" tIns="82275">
            <a:noAutofit/>
          </a:bodyPr>
          <a:lstStyle/>
          <a:p>
            <a:pPr indent="0" lvl="0" marL="0" marR="0" rtl="0" algn="l">
              <a:lnSpc>
                <a:spcPct val="92000"/>
              </a:lnSpc>
              <a:spcBef>
                <a:spcPts val="400"/>
              </a:spcBef>
              <a:spcAft>
                <a:spcPts val="0"/>
              </a:spcAft>
              <a:buNone/>
            </a:pPr>
            <a:r>
              <a:rPr b="1" lang="en-US">
                <a:solidFill>
                  <a:srgbClr val="1A1A1A"/>
                </a:solidFill>
              </a:rPr>
              <a:t>Independent scaling: </a:t>
            </a:r>
            <a:r>
              <a:rPr lang="en-US">
                <a:solidFill>
                  <a:srgbClr val="1A1A1A"/>
                </a:solidFill>
              </a:rPr>
              <a:t>Scale the Backend, AI, and ETL services independently based on CPU, memory, queue depth, and request volume.</a:t>
            </a:r>
            <a:endParaRPr>
              <a:solidFill>
                <a:srgbClr val="1A1A1A"/>
              </a:solidFill>
            </a:endParaRPr>
          </a:p>
          <a:p>
            <a:pPr indent="0" lvl="0" marL="0" marR="0" rtl="0" algn="l">
              <a:lnSpc>
                <a:spcPct val="92000"/>
              </a:lnSpc>
              <a:spcBef>
                <a:spcPts val="400"/>
              </a:spcBef>
              <a:spcAft>
                <a:spcPts val="0"/>
              </a:spcAft>
              <a:buNone/>
            </a:pPr>
            <a:r>
              <a:rPr b="1" lang="en-US">
                <a:solidFill>
                  <a:srgbClr val="1A1A1A"/>
                </a:solidFill>
              </a:rPr>
              <a:t>Burst handling: </a:t>
            </a:r>
            <a:r>
              <a:rPr lang="en-US">
                <a:solidFill>
                  <a:srgbClr val="1A1A1A"/>
                </a:solidFill>
              </a:rPr>
              <a:t>Add pods and workers automatically during submission spikes and high query concurrency without degrading latency.</a:t>
            </a:r>
            <a:endParaRPr>
              <a:solidFill>
                <a:srgbClr val="1A1A1A"/>
              </a:solidFill>
            </a:endParaRPr>
          </a:p>
          <a:p>
            <a:pPr indent="0" lvl="0" marL="0" marR="0" rtl="0" algn="l">
              <a:lnSpc>
                <a:spcPct val="92000"/>
              </a:lnSpc>
              <a:spcBef>
                <a:spcPts val="400"/>
              </a:spcBef>
              <a:spcAft>
                <a:spcPts val="0"/>
              </a:spcAft>
              <a:buNone/>
            </a:pPr>
            <a:r>
              <a:rPr b="1" lang="en-US">
                <a:solidFill>
                  <a:srgbClr val="1A1A1A"/>
                </a:solidFill>
              </a:rPr>
              <a:t>Elastic search and cache: </a:t>
            </a:r>
            <a:r>
              <a:rPr lang="en-US">
                <a:solidFill>
                  <a:srgbClr val="1A1A1A"/>
                </a:solidFill>
              </a:rPr>
              <a:t>Expand Azure AI Search replicas/partitions and Redis capacity to maintain fast retrieval under peak load.</a:t>
            </a:r>
            <a:endParaRPr>
              <a:solidFill>
                <a:srgbClr val="1A1A1A"/>
              </a:solidFill>
            </a:endParaRPr>
          </a:p>
          <a:p>
            <a:pPr indent="0" lvl="0" marL="0" marR="0" rtl="0" algn="l">
              <a:lnSpc>
                <a:spcPct val="92000"/>
              </a:lnSpc>
              <a:spcBef>
                <a:spcPts val="400"/>
              </a:spcBef>
              <a:spcAft>
                <a:spcPts val="0"/>
              </a:spcAft>
              <a:buNone/>
            </a:pPr>
            <a:r>
              <a:rPr b="1" lang="en-US">
                <a:solidFill>
                  <a:srgbClr val="1A1A1A"/>
                </a:solidFill>
              </a:rPr>
              <a:t>Cost-aware scaling: </a:t>
            </a:r>
            <a:r>
              <a:rPr lang="en-US">
                <a:solidFill>
                  <a:srgbClr val="1A1A1A"/>
                </a:solidFill>
              </a:rPr>
              <a:t>Maintain a lean baseline and scale out only when needed, then scale back down during normal operating periods.</a:t>
            </a:r>
            <a:endParaRPr>
              <a:solidFill>
                <a:srgbClr val="1A1A1A"/>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27"/>
          <p:cNvSpPr txBox="1"/>
          <p:nvPr>
            <p:ph type="title"/>
          </p:nvPr>
        </p:nvSpPr>
        <p:spPr>
          <a:xfrm>
            <a:off x="838080" y="365040"/>
            <a:ext cx="10515300" cy="13254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b="0" lang="en-US" sz="4400" u="none" strike="noStrike">
                <a:solidFill>
                  <a:schemeClr val="dk1"/>
                </a:solidFill>
                <a:latin typeface="Play"/>
                <a:ea typeface="Play"/>
                <a:cs typeface="Play"/>
                <a:sym typeface="Play"/>
              </a:rPr>
              <a:t>Azure Fit</a:t>
            </a:r>
            <a:endParaRPr b="0" sz="4400" u="none" strike="noStrike">
              <a:solidFill>
                <a:srgbClr val="000000"/>
              </a:solidFill>
              <a:latin typeface="Arial"/>
              <a:ea typeface="Arial"/>
              <a:cs typeface="Arial"/>
              <a:sym typeface="Arial"/>
            </a:endParaRPr>
          </a:p>
        </p:txBody>
      </p:sp>
      <p:graphicFrame>
        <p:nvGraphicFramePr>
          <p:cNvPr id="174" name="Google Shape;174;p27"/>
          <p:cNvGraphicFramePr/>
          <p:nvPr/>
        </p:nvGraphicFramePr>
        <p:xfrm>
          <a:off x="502920" y="1645920"/>
          <a:ext cx="3000000" cy="3000000"/>
        </p:xfrm>
        <a:graphic>
          <a:graphicData uri="http://schemas.openxmlformats.org/drawingml/2006/table">
            <a:tbl>
              <a:tblPr>
                <a:noFill/>
                <a:tableStyleId>{F6703325-8A91-4656-A187-A93E7337B26D}</a:tableStyleId>
              </a:tblPr>
              <a:tblGrid>
                <a:gridCol w="1674350"/>
                <a:gridCol w="3438000"/>
                <a:gridCol w="6043325"/>
              </a:tblGrid>
              <a:tr h="291950">
                <a:tc>
                  <a:txBody>
                    <a:bodyPr/>
                    <a:lstStyle/>
                    <a:p>
                      <a:pPr indent="0" lvl="0" marL="0" marR="0" rtl="0" algn="l">
                        <a:lnSpc>
                          <a:spcPct val="90000"/>
                        </a:lnSpc>
                        <a:spcBef>
                          <a:spcPts val="0"/>
                        </a:spcBef>
                        <a:spcAft>
                          <a:spcPts val="0"/>
                        </a:spcAft>
                        <a:buNone/>
                      </a:pPr>
                      <a:r>
                        <a:rPr b="1" lang="en-US" sz="1200" u="none" cap="none" strike="noStrike">
                          <a:solidFill>
                            <a:srgbClr val="FFFFFF"/>
                          </a:solidFill>
                          <a:latin typeface="Arial"/>
                          <a:ea typeface="Arial"/>
                          <a:cs typeface="Arial"/>
                          <a:sym typeface="Arial"/>
                        </a:rPr>
                        <a:t>Capability</a:t>
                      </a:r>
                      <a:endParaRPr b="0" sz="1200" u="none" cap="none" strike="noStrike">
                        <a:solidFill>
                          <a:srgbClr val="FFFFFF"/>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15594"/>
                    </a:solidFill>
                  </a:tcPr>
                </a:tc>
                <a:tc>
                  <a:txBody>
                    <a:bodyPr/>
                    <a:lstStyle/>
                    <a:p>
                      <a:pPr indent="0" lvl="0" marL="0" marR="0" rtl="0" algn="l">
                        <a:lnSpc>
                          <a:spcPct val="90000"/>
                        </a:lnSpc>
                        <a:spcBef>
                          <a:spcPts val="0"/>
                        </a:spcBef>
                        <a:spcAft>
                          <a:spcPts val="0"/>
                        </a:spcAft>
                        <a:buNone/>
                      </a:pPr>
                      <a:r>
                        <a:rPr b="1" lang="en-US" sz="1200" u="none" cap="none" strike="noStrike">
                          <a:solidFill>
                            <a:srgbClr val="FFFFFF"/>
                          </a:solidFill>
                          <a:latin typeface="Arial"/>
                          <a:ea typeface="Arial"/>
                          <a:cs typeface="Arial"/>
                          <a:sym typeface="Arial"/>
                        </a:rPr>
                        <a:t>Service</a:t>
                      </a:r>
                      <a:endParaRPr b="0" sz="1200" u="none" cap="none" strike="noStrike">
                        <a:solidFill>
                          <a:srgbClr val="FFFFFF"/>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15594"/>
                    </a:solidFill>
                  </a:tcPr>
                </a:tc>
                <a:tc>
                  <a:txBody>
                    <a:bodyPr/>
                    <a:lstStyle/>
                    <a:p>
                      <a:pPr indent="0" lvl="0" marL="0" marR="0" rtl="0" algn="l">
                        <a:lnSpc>
                          <a:spcPct val="90000"/>
                        </a:lnSpc>
                        <a:spcBef>
                          <a:spcPts val="0"/>
                        </a:spcBef>
                        <a:spcAft>
                          <a:spcPts val="0"/>
                        </a:spcAft>
                        <a:buNone/>
                      </a:pPr>
                      <a:r>
                        <a:rPr b="1" lang="en-US" sz="1200" u="none" cap="none" strike="noStrike">
                          <a:solidFill>
                            <a:srgbClr val="FFFFFF"/>
                          </a:solidFill>
                          <a:latin typeface="Arial"/>
                          <a:ea typeface="Arial"/>
                          <a:cs typeface="Arial"/>
                          <a:sym typeface="Arial"/>
                        </a:rPr>
                        <a:t>Why</a:t>
                      </a:r>
                      <a:endParaRPr b="0" sz="1200" u="none" cap="none" strike="noStrike">
                        <a:solidFill>
                          <a:srgbClr val="FFFFFF"/>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15594"/>
                    </a:solidFill>
                  </a:tcPr>
                </a:tc>
              </a:tr>
              <a:tr h="291950">
                <a:tc>
                  <a:txBody>
                    <a:bodyPr/>
                    <a:lstStyle/>
                    <a:p>
                      <a:pPr indent="0" lvl="0" marL="0" marR="0" rtl="0" algn="l">
                        <a:lnSpc>
                          <a:spcPct val="90000"/>
                        </a:lnSpc>
                        <a:spcBef>
                          <a:spcPts val="0"/>
                        </a:spcBef>
                        <a:spcAft>
                          <a:spcPts val="0"/>
                        </a:spcAft>
                        <a:buNone/>
                      </a:pPr>
                      <a:r>
                        <a:rPr b="1" lang="en-US" sz="1200" u="none" cap="none" strike="noStrike">
                          <a:solidFill>
                            <a:srgbClr val="0E3A66"/>
                          </a:solidFill>
                          <a:latin typeface="Arial"/>
                          <a:ea typeface="Arial"/>
                          <a:cs typeface="Arial"/>
                          <a:sym typeface="Arial"/>
                        </a:rPr>
                        <a:t>CDN</a:t>
                      </a:r>
                      <a:endParaRPr b="0" sz="1200" u="none" cap="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lnSpc>
                          <a:spcPct val="90000"/>
                        </a:lnSpc>
                        <a:spcBef>
                          <a:spcPts val="0"/>
                        </a:spcBef>
                        <a:spcAft>
                          <a:spcPts val="0"/>
                        </a:spcAft>
                        <a:buNone/>
                      </a:pPr>
                      <a:r>
                        <a:rPr b="0" lang="en-US" sz="1200" u="none" cap="none" strike="noStrike">
                          <a:solidFill>
                            <a:srgbClr val="115594"/>
                          </a:solidFill>
                          <a:latin typeface="Arial"/>
                          <a:ea typeface="Arial"/>
                          <a:cs typeface="Arial"/>
                          <a:sym typeface="Arial"/>
                        </a:rPr>
                        <a:t>Azure Front Door</a:t>
                      </a:r>
                      <a:endParaRPr b="0" sz="1200" u="none" cap="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lang="en-US" sz="1200" u="none" cap="none" strike="noStrike">
                          <a:solidFill>
                            <a:srgbClr val="000000"/>
                          </a:solidFill>
                          <a:latin typeface="Arial"/>
                          <a:ea typeface="Arial"/>
                          <a:cs typeface="Arial"/>
                          <a:sym typeface="Arial"/>
                        </a:rPr>
                        <a:t>Global edge caching + TLS + DDoS + WAF</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91950">
                <a:tc>
                  <a:txBody>
                    <a:bodyPr/>
                    <a:lstStyle/>
                    <a:p>
                      <a:pPr indent="0" lvl="0" marL="0" marR="0" rtl="0" algn="l">
                        <a:lnSpc>
                          <a:spcPct val="90000"/>
                        </a:lnSpc>
                        <a:spcBef>
                          <a:spcPts val="0"/>
                        </a:spcBef>
                        <a:spcAft>
                          <a:spcPts val="0"/>
                        </a:spcAft>
                        <a:buNone/>
                      </a:pPr>
                      <a:r>
                        <a:rPr b="1" lang="en-US" sz="1200" u="none" strike="noStrike">
                          <a:solidFill>
                            <a:srgbClr val="0E3A66"/>
                          </a:solidFill>
                          <a:latin typeface="Arial"/>
                          <a:ea typeface="Arial"/>
                          <a:cs typeface="Arial"/>
                          <a:sym typeface="Arial"/>
                        </a:rPr>
                        <a:t>Identity</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l">
                        <a:lnSpc>
                          <a:spcPct val="90000"/>
                        </a:lnSpc>
                        <a:spcBef>
                          <a:spcPts val="0"/>
                        </a:spcBef>
                        <a:spcAft>
                          <a:spcPts val="0"/>
                        </a:spcAft>
                        <a:buNone/>
                      </a:pPr>
                      <a:r>
                        <a:rPr b="0" lang="en-US" sz="1200" u="none" strike="noStrike">
                          <a:solidFill>
                            <a:srgbClr val="115594"/>
                          </a:solidFill>
                          <a:latin typeface="Arial"/>
                          <a:ea typeface="Arial"/>
                          <a:cs typeface="Arial"/>
                          <a:sym typeface="Arial"/>
                        </a:rPr>
                        <a:t>Azure Entra ID</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l">
                        <a:spcBef>
                          <a:spcPts val="0"/>
                        </a:spcBef>
                        <a:spcAft>
                          <a:spcPts val="0"/>
                        </a:spcAft>
                        <a:buNone/>
                      </a:pPr>
                      <a:r>
                        <a:rPr b="0" lang="en-US" sz="1200" u="none" strike="noStrike">
                          <a:solidFill>
                            <a:srgbClr val="000000"/>
                          </a:solidFill>
                          <a:latin typeface="Arial"/>
                          <a:ea typeface="Arial"/>
                          <a:cs typeface="Arial"/>
                          <a:sym typeface="Arial"/>
                        </a:rPr>
                        <a:t>Mandatory</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r h="291950">
                <a:tc>
                  <a:txBody>
                    <a:bodyPr/>
                    <a:lstStyle/>
                    <a:p>
                      <a:pPr indent="0" lvl="0" marL="0" marR="0" rtl="0" algn="l">
                        <a:lnSpc>
                          <a:spcPct val="90000"/>
                        </a:lnSpc>
                        <a:spcBef>
                          <a:spcPts val="0"/>
                        </a:spcBef>
                        <a:spcAft>
                          <a:spcPts val="0"/>
                        </a:spcAft>
                        <a:buNone/>
                      </a:pPr>
                      <a:r>
                        <a:rPr b="1" lang="en-US" sz="1200" u="none" strike="noStrike">
                          <a:solidFill>
                            <a:srgbClr val="0E3A66"/>
                          </a:solidFill>
                          <a:latin typeface="Arial"/>
                          <a:ea typeface="Arial"/>
                          <a:cs typeface="Arial"/>
                          <a:sym typeface="Arial"/>
                        </a:rPr>
                        <a:t>SPA hosting</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lnSpc>
                          <a:spcPct val="90000"/>
                        </a:lnSpc>
                        <a:spcBef>
                          <a:spcPts val="0"/>
                        </a:spcBef>
                        <a:spcAft>
                          <a:spcPts val="0"/>
                        </a:spcAft>
                        <a:buNone/>
                      </a:pPr>
                      <a:r>
                        <a:rPr b="0" lang="en-US" sz="1200" u="none" strike="noStrike">
                          <a:solidFill>
                            <a:srgbClr val="115594"/>
                          </a:solidFill>
                          <a:latin typeface="Arial"/>
                          <a:ea typeface="Arial"/>
                          <a:cs typeface="Arial"/>
                          <a:sym typeface="Arial"/>
                        </a:rPr>
                        <a:t>Azure Static Web Apps</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lang="en-US" sz="1200" u="none" strike="noStrike">
                          <a:solidFill>
                            <a:srgbClr val="000000"/>
                          </a:solidFill>
                          <a:latin typeface="Arial"/>
                          <a:ea typeface="Arial"/>
                          <a:cs typeface="Arial"/>
                          <a:sym typeface="Arial"/>
                        </a:rPr>
                        <a:t>Serverless </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91950">
                <a:tc>
                  <a:txBody>
                    <a:bodyPr/>
                    <a:lstStyle/>
                    <a:p>
                      <a:pPr indent="0" lvl="0" marL="0" marR="0" rtl="0" algn="l">
                        <a:lnSpc>
                          <a:spcPct val="90000"/>
                        </a:lnSpc>
                        <a:spcBef>
                          <a:spcPts val="0"/>
                        </a:spcBef>
                        <a:spcAft>
                          <a:spcPts val="0"/>
                        </a:spcAft>
                        <a:buNone/>
                      </a:pPr>
                      <a:r>
                        <a:rPr b="1" lang="en-US" sz="1200" u="none" strike="noStrike">
                          <a:solidFill>
                            <a:srgbClr val="0E3A66"/>
                          </a:solidFill>
                          <a:latin typeface="Arial"/>
                          <a:ea typeface="Arial"/>
                          <a:cs typeface="Arial"/>
                          <a:sym typeface="Arial"/>
                        </a:rPr>
                        <a:t>Load balancer</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lnSpc>
                          <a:spcPct val="90000"/>
                        </a:lnSpc>
                        <a:spcBef>
                          <a:spcPts val="0"/>
                        </a:spcBef>
                        <a:spcAft>
                          <a:spcPts val="0"/>
                        </a:spcAft>
                        <a:buNone/>
                      </a:pPr>
                      <a:r>
                        <a:rPr b="0" lang="en-US" sz="1200" u="none" strike="noStrike">
                          <a:solidFill>
                            <a:srgbClr val="115594"/>
                          </a:solidFill>
                          <a:latin typeface="Arial"/>
                          <a:ea typeface="Arial"/>
                          <a:cs typeface="Arial"/>
                          <a:sym typeface="Arial"/>
                        </a:rPr>
                        <a:t>Azure Application Gateway</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lang="en-US" sz="1200" u="none" strike="noStrike">
                          <a:solidFill>
                            <a:srgbClr val="000000"/>
                          </a:solidFill>
                          <a:latin typeface="Arial"/>
                          <a:ea typeface="Arial"/>
                          <a:cs typeface="Arial"/>
                          <a:sym typeface="Arial"/>
                        </a:rPr>
                        <a:t>WAF + Keep AKS off the public Internet </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91950">
                <a:tc>
                  <a:txBody>
                    <a:bodyPr/>
                    <a:lstStyle/>
                    <a:p>
                      <a:pPr indent="0" lvl="0" marL="0" marR="0" rtl="0" algn="l">
                        <a:lnSpc>
                          <a:spcPct val="90000"/>
                        </a:lnSpc>
                        <a:spcBef>
                          <a:spcPts val="0"/>
                        </a:spcBef>
                        <a:spcAft>
                          <a:spcPts val="0"/>
                        </a:spcAft>
                        <a:buNone/>
                      </a:pPr>
                      <a:r>
                        <a:rPr b="1" lang="en-US" sz="1200" u="none" strike="noStrike">
                          <a:solidFill>
                            <a:srgbClr val="0E3A66"/>
                          </a:solidFill>
                          <a:latin typeface="Arial"/>
                          <a:ea typeface="Arial"/>
                          <a:cs typeface="Arial"/>
                          <a:sym typeface="Arial"/>
                        </a:rPr>
                        <a:t>Container platform</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l">
                        <a:lnSpc>
                          <a:spcPct val="90000"/>
                        </a:lnSpc>
                        <a:spcBef>
                          <a:spcPts val="0"/>
                        </a:spcBef>
                        <a:spcAft>
                          <a:spcPts val="0"/>
                        </a:spcAft>
                        <a:buNone/>
                      </a:pPr>
                      <a:r>
                        <a:rPr b="0" lang="en-US" sz="1200" u="none" strike="noStrike">
                          <a:solidFill>
                            <a:srgbClr val="115594"/>
                          </a:solidFill>
                          <a:latin typeface="Arial"/>
                          <a:ea typeface="Arial"/>
                          <a:cs typeface="Arial"/>
                          <a:sym typeface="Arial"/>
                        </a:rPr>
                        <a:t>Azure Kubernetes Service</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l">
                        <a:spcBef>
                          <a:spcPts val="0"/>
                        </a:spcBef>
                        <a:spcAft>
                          <a:spcPts val="0"/>
                        </a:spcAft>
                        <a:buNone/>
                      </a:pPr>
                      <a:r>
                        <a:rPr b="0" lang="en-US" sz="1200" u="none" strike="noStrike">
                          <a:solidFill>
                            <a:srgbClr val="000000"/>
                          </a:solidFill>
                          <a:latin typeface="Arial"/>
                          <a:ea typeface="Arial"/>
                          <a:cs typeface="Arial"/>
                          <a:sym typeface="Arial"/>
                        </a:rPr>
                        <a:t>More configurable scaling</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r h="291950">
                <a:tc>
                  <a:txBody>
                    <a:bodyPr/>
                    <a:lstStyle/>
                    <a:p>
                      <a:pPr indent="0" lvl="0" marL="0" marR="0" rtl="0" algn="l">
                        <a:lnSpc>
                          <a:spcPct val="90000"/>
                        </a:lnSpc>
                        <a:spcBef>
                          <a:spcPts val="0"/>
                        </a:spcBef>
                        <a:spcAft>
                          <a:spcPts val="0"/>
                        </a:spcAft>
                        <a:buNone/>
                      </a:pPr>
                      <a:r>
                        <a:rPr b="1" lang="en-US" sz="1200" u="none" strike="noStrike">
                          <a:solidFill>
                            <a:srgbClr val="0E3A66"/>
                          </a:solidFill>
                          <a:latin typeface="Arial"/>
                          <a:ea typeface="Arial"/>
                          <a:cs typeface="Arial"/>
                          <a:sym typeface="Arial"/>
                        </a:rPr>
                        <a:t>Relational database</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lnSpc>
                          <a:spcPct val="90000"/>
                        </a:lnSpc>
                        <a:spcBef>
                          <a:spcPts val="0"/>
                        </a:spcBef>
                        <a:spcAft>
                          <a:spcPts val="0"/>
                        </a:spcAft>
                        <a:buNone/>
                      </a:pPr>
                      <a:r>
                        <a:rPr b="0" lang="en-US" sz="1200" u="none" strike="noStrike">
                          <a:solidFill>
                            <a:srgbClr val="115594"/>
                          </a:solidFill>
                          <a:latin typeface="Arial"/>
                          <a:ea typeface="Arial"/>
                          <a:cs typeface="Arial"/>
                          <a:sym typeface="Arial"/>
                        </a:rPr>
                        <a:t>Azure Database for PostgreSQL</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lang="en-US" sz="1200" u="none" strike="noStrike">
                          <a:solidFill>
                            <a:srgbClr val="000000"/>
                          </a:solidFill>
                          <a:latin typeface="Arial"/>
                          <a:ea typeface="Arial"/>
                          <a:cs typeface="Arial"/>
                          <a:sym typeface="Arial"/>
                        </a:rPr>
                        <a:t>Fully managed + HA + PITR</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91950">
                <a:tc>
                  <a:txBody>
                    <a:bodyPr/>
                    <a:lstStyle/>
                    <a:p>
                      <a:pPr indent="0" lvl="0" marL="0" marR="0" rtl="0" algn="l">
                        <a:lnSpc>
                          <a:spcPct val="90000"/>
                        </a:lnSpc>
                        <a:spcBef>
                          <a:spcPts val="0"/>
                        </a:spcBef>
                        <a:spcAft>
                          <a:spcPts val="0"/>
                        </a:spcAft>
                        <a:buNone/>
                      </a:pPr>
                      <a:r>
                        <a:rPr b="1" lang="en-US" sz="1200" u="none" strike="noStrike">
                          <a:solidFill>
                            <a:srgbClr val="0E3A66"/>
                          </a:solidFill>
                          <a:latin typeface="Arial"/>
                          <a:ea typeface="Arial"/>
                          <a:cs typeface="Arial"/>
                          <a:sym typeface="Arial"/>
                        </a:rPr>
                        <a:t>Cache &amp; Celery broker</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l">
                        <a:lnSpc>
                          <a:spcPct val="90000"/>
                        </a:lnSpc>
                        <a:spcBef>
                          <a:spcPts val="0"/>
                        </a:spcBef>
                        <a:spcAft>
                          <a:spcPts val="0"/>
                        </a:spcAft>
                        <a:buNone/>
                      </a:pPr>
                      <a:r>
                        <a:rPr b="0" lang="en-US" sz="1200" u="none" strike="noStrike">
                          <a:solidFill>
                            <a:srgbClr val="115594"/>
                          </a:solidFill>
                          <a:latin typeface="Arial"/>
                          <a:ea typeface="Arial"/>
                          <a:cs typeface="Arial"/>
                          <a:sym typeface="Arial"/>
                        </a:rPr>
                        <a:t>Azure Cache for Redis</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l">
                        <a:lnSpc>
                          <a:spcPct val="100000"/>
                        </a:lnSpc>
                        <a:spcBef>
                          <a:spcPts val="0"/>
                        </a:spcBef>
                        <a:spcAft>
                          <a:spcPts val="0"/>
                        </a:spcAft>
                        <a:buNone/>
                      </a:pPr>
                      <a:r>
                        <a:rPr b="0" lang="en-US" sz="1200" u="none" strike="noStrike">
                          <a:solidFill>
                            <a:srgbClr val="000000"/>
                          </a:solidFill>
                          <a:latin typeface="Arial"/>
                          <a:ea typeface="Arial"/>
                          <a:cs typeface="Arial"/>
                          <a:sym typeface="Arial"/>
                        </a:rPr>
                        <a:t>Fully managed + HA</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r h="291950">
                <a:tc>
                  <a:txBody>
                    <a:bodyPr/>
                    <a:lstStyle/>
                    <a:p>
                      <a:pPr indent="0" lvl="0" marL="0" marR="0" rtl="0" algn="l">
                        <a:lnSpc>
                          <a:spcPct val="90000"/>
                        </a:lnSpc>
                        <a:spcBef>
                          <a:spcPts val="0"/>
                        </a:spcBef>
                        <a:spcAft>
                          <a:spcPts val="0"/>
                        </a:spcAft>
                        <a:buNone/>
                      </a:pPr>
                      <a:r>
                        <a:rPr b="1" lang="en-US" sz="1200" u="none" strike="noStrike">
                          <a:solidFill>
                            <a:srgbClr val="0E3A66"/>
                          </a:solidFill>
                          <a:latin typeface="Arial"/>
                          <a:ea typeface="Arial"/>
                          <a:cs typeface="Arial"/>
                          <a:sym typeface="Arial"/>
                        </a:rPr>
                        <a:t>Object storage</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lnSpc>
                          <a:spcPct val="90000"/>
                        </a:lnSpc>
                        <a:spcBef>
                          <a:spcPts val="0"/>
                        </a:spcBef>
                        <a:spcAft>
                          <a:spcPts val="0"/>
                        </a:spcAft>
                        <a:buNone/>
                      </a:pPr>
                      <a:r>
                        <a:rPr b="0" lang="en-US" sz="1200" u="none" strike="noStrike">
                          <a:solidFill>
                            <a:srgbClr val="115594"/>
                          </a:solidFill>
                          <a:latin typeface="Arial"/>
                          <a:ea typeface="Arial"/>
                          <a:cs typeface="Arial"/>
                          <a:sym typeface="Arial"/>
                        </a:rPr>
                        <a:t>Azure Blob Storage</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lang="en-US" sz="1200" u="none" strike="noStrike">
                          <a:solidFill>
                            <a:srgbClr val="000000"/>
                          </a:solidFill>
                          <a:latin typeface="Arial"/>
                          <a:ea typeface="Arial"/>
                          <a:cs typeface="Arial"/>
                          <a:sym typeface="Arial"/>
                        </a:rPr>
                        <a:t>ZRS + Versioning + Policies</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91950">
                <a:tc>
                  <a:txBody>
                    <a:bodyPr/>
                    <a:lstStyle/>
                    <a:p>
                      <a:pPr indent="0" lvl="0" marL="0" marR="0" rtl="0" algn="l">
                        <a:lnSpc>
                          <a:spcPct val="90000"/>
                        </a:lnSpc>
                        <a:spcBef>
                          <a:spcPts val="0"/>
                        </a:spcBef>
                        <a:spcAft>
                          <a:spcPts val="0"/>
                        </a:spcAft>
                        <a:buNone/>
                      </a:pPr>
                      <a:r>
                        <a:rPr b="1" lang="en-US" sz="1200" u="none" strike="noStrike">
                          <a:solidFill>
                            <a:srgbClr val="0E3A66"/>
                          </a:solidFill>
                          <a:latin typeface="Arial"/>
                          <a:ea typeface="Arial"/>
                          <a:cs typeface="Arial"/>
                          <a:sym typeface="Arial"/>
                        </a:rPr>
                        <a:t>Vector database</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l">
                        <a:lnSpc>
                          <a:spcPct val="90000"/>
                        </a:lnSpc>
                        <a:spcBef>
                          <a:spcPts val="0"/>
                        </a:spcBef>
                        <a:spcAft>
                          <a:spcPts val="0"/>
                        </a:spcAft>
                        <a:buNone/>
                      </a:pPr>
                      <a:r>
                        <a:rPr b="0" lang="en-US" sz="1200" u="none" strike="noStrike">
                          <a:solidFill>
                            <a:srgbClr val="115594"/>
                          </a:solidFill>
                          <a:latin typeface="Arial"/>
                          <a:ea typeface="Arial"/>
                          <a:cs typeface="Arial"/>
                          <a:sym typeface="Arial"/>
                        </a:rPr>
                        <a:t>Azure AI Search</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l">
                        <a:lnSpc>
                          <a:spcPct val="100000"/>
                        </a:lnSpc>
                        <a:spcBef>
                          <a:spcPts val="0"/>
                        </a:spcBef>
                        <a:spcAft>
                          <a:spcPts val="0"/>
                        </a:spcAft>
                        <a:buNone/>
                      </a:pPr>
                      <a:r>
                        <a:rPr b="0" lang="en-US" sz="1200" u="none" strike="noStrike">
                          <a:solidFill>
                            <a:srgbClr val="000000"/>
                          </a:solidFill>
                          <a:latin typeface="Arial"/>
                          <a:ea typeface="Arial"/>
                          <a:cs typeface="Arial"/>
                          <a:sym typeface="Arial"/>
                        </a:rPr>
                        <a:t>Fully managed + First-party integration with AOS &amp; ACU</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r h="291950">
                <a:tc>
                  <a:txBody>
                    <a:bodyPr/>
                    <a:lstStyle/>
                    <a:p>
                      <a:pPr indent="0" lvl="0" marL="0" marR="0" rtl="0" algn="l">
                        <a:lnSpc>
                          <a:spcPct val="90000"/>
                        </a:lnSpc>
                        <a:spcBef>
                          <a:spcPts val="0"/>
                        </a:spcBef>
                        <a:spcAft>
                          <a:spcPts val="0"/>
                        </a:spcAft>
                        <a:buNone/>
                      </a:pPr>
                      <a:r>
                        <a:rPr b="1" lang="en-US" sz="1200" u="none" strike="noStrike">
                          <a:solidFill>
                            <a:srgbClr val="0E3A66"/>
                          </a:solidFill>
                          <a:latin typeface="Arial"/>
                          <a:ea typeface="Arial"/>
                          <a:cs typeface="Arial"/>
                          <a:sym typeface="Arial"/>
                        </a:rPr>
                        <a:t>LLM &amp; embeddings</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lnSpc>
                          <a:spcPct val="90000"/>
                        </a:lnSpc>
                        <a:spcBef>
                          <a:spcPts val="0"/>
                        </a:spcBef>
                        <a:spcAft>
                          <a:spcPts val="0"/>
                        </a:spcAft>
                        <a:buNone/>
                      </a:pPr>
                      <a:r>
                        <a:rPr b="0" lang="en-US" sz="1200" u="none" strike="noStrike">
                          <a:solidFill>
                            <a:srgbClr val="115594"/>
                          </a:solidFill>
                          <a:latin typeface="Arial"/>
                          <a:ea typeface="Arial"/>
                          <a:cs typeface="Arial"/>
                          <a:sym typeface="Arial"/>
                        </a:rPr>
                        <a:t>Azure OpenAI Service</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lang="en-US" sz="1200" u="none" strike="noStrike">
                          <a:solidFill>
                            <a:srgbClr val="000000"/>
                          </a:solidFill>
                          <a:latin typeface="Arial"/>
                          <a:ea typeface="Arial"/>
                          <a:cs typeface="Arial"/>
                          <a:sym typeface="Arial"/>
                        </a:rPr>
                        <a:t>Enterprise-grade + Data staying inside Azure tenant boundary</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370450">
                <a:tc>
                  <a:txBody>
                    <a:bodyPr/>
                    <a:lstStyle/>
                    <a:p>
                      <a:pPr indent="0" lvl="0" marL="0" marR="0" rtl="0" algn="l">
                        <a:lnSpc>
                          <a:spcPct val="90000"/>
                        </a:lnSpc>
                        <a:spcBef>
                          <a:spcPts val="0"/>
                        </a:spcBef>
                        <a:spcAft>
                          <a:spcPts val="0"/>
                        </a:spcAft>
                        <a:buNone/>
                      </a:pPr>
                      <a:r>
                        <a:rPr b="1" lang="en-US" sz="1200" u="none" strike="noStrike">
                          <a:solidFill>
                            <a:srgbClr val="0E3A66"/>
                          </a:solidFill>
                          <a:latin typeface="Arial"/>
                          <a:ea typeface="Arial"/>
                          <a:cs typeface="Arial"/>
                          <a:sym typeface="Arial"/>
                        </a:rPr>
                        <a:t>Document extraction</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l">
                        <a:lnSpc>
                          <a:spcPct val="90000"/>
                        </a:lnSpc>
                        <a:spcBef>
                          <a:spcPts val="0"/>
                        </a:spcBef>
                        <a:spcAft>
                          <a:spcPts val="0"/>
                        </a:spcAft>
                        <a:buNone/>
                      </a:pPr>
                      <a:r>
                        <a:rPr b="0" lang="en-US" sz="1200" u="none" strike="noStrike">
                          <a:solidFill>
                            <a:srgbClr val="115594"/>
                          </a:solidFill>
                          <a:latin typeface="Arial"/>
                          <a:ea typeface="Arial"/>
                          <a:cs typeface="Arial"/>
                          <a:sym typeface="Arial"/>
                        </a:rPr>
                        <a:t>Azure Content Understanding</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l">
                        <a:spcBef>
                          <a:spcPts val="0"/>
                        </a:spcBef>
                        <a:spcAft>
                          <a:spcPts val="0"/>
                        </a:spcAft>
                        <a:buNone/>
                      </a:pPr>
                      <a:r>
                        <a:rPr b="0" lang="en-US" sz="1200" u="none" strike="noStrike">
                          <a:solidFill>
                            <a:srgbClr val="000000"/>
                          </a:solidFill>
                          <a:latin typeface="Arial"/>
                          <a:ea typeface="Arial"/>
                          <a:cs typeface="Arial"/>
                          <a:sym typeface="Arial"/>
                        </a:rPr>
                        <a:t>Extract text, layout and structure from mixed document formats without custom OCR </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r h="291950">
                <a:tc>
                  <a:txBody>
                    <a:bodyPr/>
                    <a:lstStyle/>
                    <a:p>
                      <a:pPr indent="0" lvl="0" marL="0" marR="0" rtl="0" algn="l">
                        <a:lnSpc>
                          <a:spcPct val="90000"/>
                        </a:lnSpc>
                        <a:spcBef>
                          <a:spcPts val="0"/>
                        </a:spcBef>
                        <a:spcAft>
                          <a:spcPts val="0"/>
                        </a:spcAft>
                        <a:buNone/>
                      </a:pPr>
                      <a:r>
                        <a:rPr b="1" lang="en-US" sz="1200" u="none" strike="noStrike">
                          <a:solidFill>
                            <a:srgbClr val="0E3A66"/>
                          </a:solidFill>
                          <a:latin typeface="Arial"/>
                          <a:ea typeface="Arial"/>
                          <a:cs typeface="Arial"/>
                          <a:sym typeface="Arial"/>
                        </a:rPr>
                        <a:t>Secrets management</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lnSpc>
                          <a:spcPct val="90000"/>
                        </a:lnSpc>
                        <a:spcBef>
                          <a:spcPts val="0"/>
                        </a:spcBef>
                        <a:spcAft>
                          <a:spcPts val="0"/>
                        </a:spcAft>
                        <a:buNone/>
                      </a:pPr>
                      <a:r>
                        <a:rPr b="0" lang="en-US" sz="1200" u="none" strike="noStrike">
                          <a:solidFill>
                            <a:srgbClr val="115594"/>
                          </a:solidFill>
                          <a:latin typeface="Arial"/>
                          <a:ea typeface="Arial"/>
                          <a:cs typeface="Arial"/>
                          <a:sym typeface="Arial"/>
                        </a:rPr>
                        <a:t>Azure Key Vault</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lang="en-US" sz="1200" u="none" strike="noStrike">
                          <a:solidFill>
                            <a:srgbClr val="000000"/>
                          </a:solidFill>
                          <a:latin typeface="Arial"/>
                          <a:ea typeface="Arial"/>
                          <a:cs typeface="Arial"/>
                          <a:sym typeface="Arial"/>
                        </a:rPr>
                        <a:t>Central store for secrets, keys and certs </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91950">
                <a:tc>
                  <a:txBody>
                    <a:bodyPr/>
                    <a:lstStyle/>
                    <a:p>
                      <a:pPr indent="0" lvl="0" marL="0" marR="0" rtl="0" algn="l">
                        <a:lnSpc>
                          <a:spcPct val="90000"/>
                        </a:lnSpc>
                        <a:spcBef>
                          <a:spcPts val="0"/>
                        </a:spcBef>
                        <a:spcAft>
                          <a:spcPts val="0"/>
                        </a:spcAft>
                        <a:buNone/>
                      </a:pPr>
                      <a:r>
                        <a:rPr b="1" lang="en-US" sz="1200" u="none" strike="noStrike">
                          <a:solidFill>
                            <a:srgbClr val="0E3A66"/>
                          </a:solidFill>
                          <a:latin typeface="Arial"/>
                          <a:ea typeface="Arial"/>
                          <a:cs typeface="Arial"/>
                          <a:sym typeface="Arial"/>
                        </a:rPr>
                        <a:t>Observability</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l">
                        <a:lnSpc>
                          <a:spcPct val="90000"/>
                        </a:lnSpc>
                        <a:spcBef>
                          <a:spcPts val="0"/>
                        </a:spcBef>
                        <a:spcAft>
                          <a:spcPts val="0"/>
                        </a:spcAft>
                        <a:buNone/>
                      </a:pPr>
                      <a:r>
                        <a:rPr b="0" lang="en-US" sz="1200" u="none" strike="noStrike">
                          <a:solidFill>
                            <a:srgbClr val="115594"/>
                          </a:solidFill>
                          <a:latin typeface="Arial"/>
                          <a:ea typeface="Arial"/>
                          <a:cs typeface="Arial"/>
                          <a:sym typeface="Arial"/>
                        </a:rPr>
                        <a:t>Azure Monitor</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l">
                        <a:spcBef>
                          <a:spcPts val="0"/>
                        </a:spcBef>
                        <a:spcAft>
                          <a:spcPts val="0"/>
                        </a:spcAft>
                        <a:buNone/>
                      </a:pPr>
                      <a:r>
                        <a:rPr b="0" lang="en-US" sz="1200" u="none" strike="noStrike">
                          <a:solidFill>
                            <a:srgbClr val="000000"/>
                          </a:solidFill>
                          <a:latin typeface="Arial"/>
                          <a:ea typeface="Arial"/>
                          <a:cs typeface="Arial"/>
                          <a:sym typeface="Arial"/>
                        </a:rPr>
                        <a:t>Traces, logs, metrics dashboards and alerts in one place </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r h="291950">
                <a:tc>
                  <a:txBody>
                    <a:bodyPr/>
                    <a:lstStyle/>
                    <a:p>
                      <a:pPr indent="0" lvl="0" marL="0" marR="0" rtl="0" algn="l">
                        <a:lnSpc>
                          <a:spcPct val="90000"/>
                        </a:lnSpc>
                        <a:spcBef>
                          <a:spcPts val="0"/>
                        </a:spcBef>
                        <a:spcAft>
                          <a:spcPts val="0"/>
                        </a:spcAft>
                        <a:buNone/>
                      </a:pPr>
                      <a:r>
                        <a:rPr b="1" lang="en-US" sz="1200" u="none" strike="noStrike">
                          <a:solidFill>
                            <a:srgbClr val="0E3A66"/>
                          </a:solidFill>
                          <a:latin typeface="Arial"/>
                          <a:ea typeface="Arial"/>
                          <a:cs typeface="Arial"/>
                          <a:sym typeface="Arial"/>
                        </a:rPr>
                        <a:t>Registry &amp; CI/CD</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lnSpc>
                          <a:spcPct val="90000"/>
                        </a:lnSpc>
                        <a:spcBef>
                          <a:spcPts val="0"/>
                        </a:spcBef>
                        <a:spcAft>
                          <a:spcPts val="0"/>
                        </a:spcAft>
                        <a:buNone/>
                      </a:pPr>
                      <a:r>
                        <a:rPr b="0" lang="en-US" sz="1200" u="none" strike="noStrike">
                          <a:solidFill>
                            <a:srgbClr val="115594"/>
                          </a:solidFill>
                          <a:latin typeface="Arial"/>
                          <a:ea typeface="Arial"/>
                          <a:cs typeface="Arial"/>
                          <a:sym typeface="Arial"/>
                        </a:rPr>
                        <a:t>Azure Container Registry + Azure DevOps</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lang="en-US" sz="1200" u="none" strike="noStrike">
                          <a:solidFill>
                            <a:srgbClr val="000000"/>
                          </a:solidFill>
                          <a:latin typeface="Arial"/>
                          <a:ea typeface="Arial"/>
                          <a:cs typeface="Arial"/>
                          <a:sym typeface="Arial"/>
                        </a:rPr>
                        <a:t>Mandatory</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97000">
                <a:tc>
                  <a:txBody>
                    <a:bodyPr/>
                    <a:lstStyle/>
                    <a:p>
                      <a:pPr indent="0" lvl="0" marL="0" marR="0" rtl="0" algn="l">
                        <a:lnSpc>
                          <a:spcPct val="90000"/>
                        </a:lnSpc>
                        <a:spcBef>
                          <a:spcPts val="0"/>
                        </a:spcBef>
                        <a:spcAft>
                          <a:spcPts val="0"/>
                        </a:spcAft>
                        <a:buNone/>
                      </a:pPr>
                      <a:r>
                        <a:rPr b="1" lang="en-US" sz="1200" u="none" strike="noStrike">
                          <a:solidFill>
                            <a:srgbClr val="0E3A66"/>
                          </a:solidFill>
                          <a:latin typeface="Arial"/>
                          <a:ea typeface="Arial"/>
                          <a:cs typeface="Arial"/>
                          <a:sym typeface="Arial"/>
                        </a:rPr>
                        <a:t>Networking</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l">
                        <a:lnSpc>
                          <a:spcPct val="90000"/>
                        </a:lnSpc>
                        <a:spcBef>
                          <a:spcPts val="0"/>
                        </a:spcBef>
                        <a:spcAft>
                          <a:spcPts val="0"/>
                        </a:spcAft>
                        <a:buNone/>
                      </a:pPr>
                      <a:r>
                        <a:rPr b="0" lang="en-US" sz="1200" u="none" strike="noStrike">
                          <a:solidFill>
                            <a:srgbClr val="115594"/>
                          </a:solidFill>
                          <a:latin typeface="Arial"/>
                          <a:ea typeface="Arial"/>
                          <a:cs typeface="Arial"/>
                          <a:sym typeface="Arial"/>
                        </a:rPr>
                        <a:t>VNet + Subnet + Private Link</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l">
                        <a:spcBef>
                          <a:spcPts val="0"/>
                        </a:spcBef>
                        <a:spcAft>
                          <a:spcPts val="0"/>
                        </a:spcAft>
                        <a:buNone/>
                      </a:pPr>
                      <a:r>
                        <a:rPr b="0" lang="en-US" sz="1200" u="none" strike="noStrike">
                          <a:solidFill>
                            <a:srgbClr val="000000"/>
                          </a:solidFill>
                          <a:latin typeface="Arial"/>
                          <a:ea typeface="Arial"/>
                          <a:cs typeface="Arial"/>
                          <a:sym typeface="Arial"/>
                        </a:rPr>
                        <a:t>Keep backend, data and AI services private</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28"/>
          <p:cNvSpPr txBox="1"/>
          <p:nvPr>
            <p:ph type="title"/>
          </p:nvPr>
        </p:nvSpPr>
        <p:spPr>
          <a:xfrm>
            <a:off x="838080" y="180720"/>
            <a:ext cx="10515300" cy="13254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b="0" lang="en-US" sz="4400" u="none" strike="noStrike">
                <a:solidFill>
                  <a:schemeClr val="dk1"/>
                </a:solidFill>
                <a:latin typeface="Play"/>
                <a:ea typeface="Play"/>
                <a:cs typeface="Play"/>
                <a:sym typeface="Play"/>
              </a:rPr>
              <a:t>Sizing &amp; Cost (1)</a:t>
            </a:r>
            <a:endParaRPr b="0" sz="4400" u="none" strike="noStrike">
              <a:solidFill>
                <a:srgbClr val="000000"/>
              </a:solidFill>
              <a:latin typeface="Arial"/>
              <a:ea typeface="Arial"/>
              <a:cs typeface="Arial"/>
              <a:sym typeface="Arial"/>
            </a:endParaRPr>
          </a:p>
        </p:txBody>
      </p:sp>
      <p:sp>
        <p:nvSpPr>
          <p:cNvPr id="180" name="Google Shape;180;p28"/>
          <p:cNvSpPr/>
          <p:nvPr/>
        </p:nvSpPr>
        <p:spPr>
          <a:xfrm>
            <a:off x="504360" y="1277280"/>
            <a:ext cx="3309900" cy="347100"/>
          </a:xfrm>
          <a:prstGeom prst="rect">
            <a:avLst/>
          </a:prstGeom>
          <a:solidFill>
            <a:srgbClr val="115594"/>
          </a:solidFill>
          <a:ln>
            <a:noFill/>
          </a:ln>
        </p:spPr>
        <p:txBody>
          <a:bodyPr anchorCtr="0" anchor="ctr" bIns="18350" lIns="100425" spcFirstLastPara="1" rIns="54700" wrap="square" tIns="18350">
            <a:noAutofit/>
          </a:bodyPr>
          <a:lstStyle/>
          <a:p>
            <a:pPr indent="0" lvl="0" marL="0" marR="0" rtl="0" algn="ctr">
              <a:lnSpc>
                <a:spcPct val="100000"/>
              </a:lnSpc>
              <a:spcBef>
                <a:spcPts val="0"/>
              </a:spcBef>
              <a:spcAft>
                <a:spcPts val="0"/>
              </a:spcAft>
              <a:buNone/>
            </a:pPr>
            <a:r>
              <a:rPr b="1" i="0" lang="en-US" sz="1400" u="none" cap="none" strike="noStrike">
                <a:solidFill>
                  <a:srgbClr val="FFFFFF"/>
                </a:solidFill>
                <a:latin typeface="Arial"/>
                <a:ea typeface="Arial"/>
                <a:cs typeface="Arial"/>
                <a:sym typeface="Arial"/>
              </a:rPr>
              <a:t>Workload sizing</a:t>
            </a:r>
            <a:endParaRPr b="0" i="0" sz="1400" u="none" cap="none" strike="noStrike">
              <a:solidFill>
                <a:srgbClr val="FFFFFF"/>
              </a:solidFill>
              <a:latin typeface="Arial"/>
              <a:ea typeface="Arial"/>
              <a:cs typeface="Arial"/>
              <a:sym typeface="Arial"/>
            </a:endParaRPr>
          </a:p>
        </p:txBody>
      </p:sp>
      <p:sp>
        <p:nvSpPr>
          <p:cNvPr id="181" name="Google Shape;181;p28"/>
          <p:cNvSpPr/>
          <p:nvPr/>
        </p:nvSpPr>
        <p:spPr>
          <a:xfrm>
            <a:off x="504360" y="1624680"/>
            <a:ext cx="3309900" cy="4547400"/>
          </a:xfrm>
          <a:prstGeom prst="rect">
            <a:avLst/>
          </a:prstGeom>
          <a:solidFill>
            <a:srgbClr val="FFFFFF"/>
          </a:solidFill>
          <a:ln cap="flat" cmpd="sng" w="9525">
            <a:solidFill>
              <a:srgbClr val="C9D6E4"/>
            </a:solidFill>
            <a:prstDash val="solid"/>
            <a:round/>
            <a:headEnd len="sm" w="sm" type="none"/>
            <a:tailEnd len="sm" w="sm" type="none"/>
          </a:ln>
        </p:spPr>
        <p:txBody>
          <a:bodyPr anchorCtr="0" anchor="ctr" bIns="54700" lIns="118800" spcFirstLastPara="1" rIns="100425" wrap="square" tIns="82425">
            <a:noAutofit/>
          </a:bodyPr>
          <a:lstStyle/>
          <a:p>
            <a:pPr indent="0" lvl="0" marL="0" marR="0" rtl="0" algn="l">
              <a:lnSpc>
                <a:spcPct val="92000"/>
              </a:lnSpc>
              <a:spcBef>
                <a:spcPts val="0"/>
              </a:spcBef>
              <a:spcAft>
                <a:spcPts val="0"/>
              </a:spcAft>
              <a:buNone/>
            </a:pPr>
            <a:r>
              <a:rPr b="1" i="0" lang="en-US" sz="1200" u="none" cap="none" strike="noStrike">
                <a:solidFill>
                  <a:srgbClr val="0E3A66"/>
                </a:solidFill>
                <a:latin typeface="Arial"/>
                <a:ea typeface="Arial"/>
                <a:cs typeface="Arial"/>
                <a:sym typeface="Arial"/>
              </a:rPr>
              <a:t>Throughput</a:t>
            </a:r>
            <a:endParaRPr b="0" i="0" sz="1200" u="none" cap="none" strike="noStrike">
              <a:solidFill>
                <a:srgbClr val="000000"/>
              </a:solidFill>
              <a:latin typeface="Arial"/>
              <a:ea typeface="Arial"/>
              <a:cs typeface="Arial"/>
              <a:sym typeface="Arial"/>
            </a:endParaRPr>
          </a:p>
          <a:p>
            <a:pPr indent="-146160" lvl="0" marL="146160" marR="0" rtl="0" algn="l">
              <a:lnSpc>
                <a:spcPct val="92000"/>
              </a:lnSpc>
              <a:spcBef>
                <a:spcPts val="201"/>
              </a:spcBef>
              <a:spcAft>
                <a:spcPts val="0"/>
              </a:spcAft>
              <a:buNone/>
            </a:pPr>
            <a:r>
              <a:rPr b="0" i="0" lang="en-US" sz="1200" u="none" cap="none" strike="noStrike">
                <a:solidFill>
                  <a:srgbClr val="1A1A1A"/>
                </a:solidFill>
                <a:latin typeface="Arial"/>
                <a:ea typeface="Arial"/>
                <a:cs typeface="Arial"/>
                <a:sym typeface="Arial"/>
              </a:rPr>
              <a:t>•  500 document submissions / hour</a:t>
            </a:r>
            <a:endParaRPr b="0" i="0" sz="1200" u="none" cap="none" strike="noStrike">
              <a:solidFill>
                <a:srgbClr val="000000"/>
              </a:solidFill>
              <a:latin typeface="Arial"/>
              <a:ea typeface="Arial"/>
              <a:cs typeface="Arial"/>
              <a:sym typeface="Arial"/>
            </a:endParaRPr>
          </a:p>
          <a:p>
            <a:pPr indent="-146160" lvl="0" marL="146160" marR="0" rtl="0" algn="l">
              <a:lnSpc>
                <a:spcPct val="92000"/>
              </a:lnSpc>
              <a:spcBef>
                <a:spcPts val="400"/>
              </a:spcBef>
              <a:spcAft>
                <a:spcPts val="0"/>
              </a:spcAft>
              <a:buNone/>
            </a:pPr>
            <a:r>
              <a:rPr b="0" i="0" lang="en-US" sz="1200" u="none" cap="none" strike="noStrike">
                <a:solidFill>
                  <a:srgbClr val="1A1A1A"/>
                </a:solidFill>
                <a:latin typeface="Arial"/>
                <a:ea typeface="Arial"/>
                <a:cs typeface="Arial"/>
                <a:sym typeface="Arial"/>
              </a:rPr>
              <a:t>•  50 concurrent interactive queries</a:t>
            </a:r>
            <a:endParaRPr b="0" i="0" sz="1200" u="none" cap="none" strike="noStrike">
              <a:solidFill>
                <a:srgbClr val="000000"/>
              </a:solidFill>
              <a:latin typeface="Arial"/>
              <a:ea typeface="Arial"/>
              <a:cs typeface="Arial"/>
              <a:sym typeface="Arial"/>
            </a:endParaRPr>
          </a:p>
          <a:p>
            <a:pPr indent="0" lvl="0" marL="0" marR="0" rtl="0" algn="l">
              <a:lnSpc>
                <a:spcPct val="92000"/>
              </a:lnSpc>
              <a:spcBef>
                <a:spcPts val="901"/>
              </a:spcBef>
              <a:spcAft>
                <a:spcPts val="0"/>
              </a:spcAft>
              <a:buNone/>
            </a:pPr>
            <a:r>
              <a:rPr b="1" i="0" lang="en-US" sz="1200" u="none" cap="none" strike="noStrike">
                <a:solidFill>
                  <a:srgbClr val="0E3A66"/>
                </a:solidFill>
                <a:latin typeface="Arial"/>
                <a:ea typeface="Arial"/>
                <a:cs typeface="Arial"/>
                <a:sym typeface="Arial"/>
              </a:rPr>
              <a:t>Latency</a:t>
            </a:r>
            <a:endParaRPr b="0" i="0" sz="1200" u="none" cap="none" strike="noStrike">
              <a:solidFill>
                <a:srgbClr val="000000"/>
              </a:solidFill>
              <a:latin typeface="Arial"/>
              <a:ea typeface="Arial"/>
              <a:cs typeface="Arial"/>
              <a:sym typeface="Arial"/>
            </a:endParaRPr>
          </a:p>
          <a:p>
            <a:pPr indent="-146160" lvl="0" marL="146160" marR="0" rtl="0" algn="l">
              <a:lnSpc>
                <a:spcPct val="92000"/>
              </a:lnSpc>
              <a:spcBef>
                <a:spcPts val="201"/>
              </a:spcBef>
              <a:spcAft>
                <a:spcPts val="0"/>
              </a:spcAft>
              <a:buNone/>
            </a:pPr>
            <a:r>
              <a:rPr b="0" i="0" lang="en-US" sz="1200" u="none" cap="none" strike="noStrike">
                <a:solidFill>
                  <a:srgbClr val="1A1A1A"/>
                </a:solidFill>
                <a:latin typeface="Arial"/>
                <a:ea typeface="Arial"/>
                <a:cs typeface="Arial"/>
                <a:sym typeface="Arial"/>
              </a:rPr>
              <a:t>•  First token &lt; 2s (p95)</a:t>
            </a:r>
            <a:endParaRPr b="0" i="0" sz="1200" u="none" cap="none" strike="noStrike">
              <a:solidFill>
                <a:srgbClr val="000000"/>
              </a:solidFill>
              <a:latin typeface="Arial"/>
              <a:ea typeface="Arial"/>
              <a:cs typeface="Arial"/>
              <a:sym typeface="Arial"/>
            </a:endParaRPr>
          </a:p>
          <a:p>
            <a:pPr indent="-146160" lvl="0" marL="146160" marR="0" rtl="0" algn="l">
              <a:lnSpc>
                <a:spcPct val="92000"/>
              </a:lnSpc>
              <a:spcBef>
                <a:spcPts val="400"/>
              </a:spcBef>
              <a:spcAft>
                <a:spcPts val="0"/>
              </a:spcAft>
              <a:buNone/>
            </a:pPr>
            <a:r>
              <a:rPr b="0" i="0" lang="en-US" sz="1200" u="none" cap="none" strike="noStrike">
                <a:solidFill>
                  <a:srgbClr val="1A1A1A"/>
                </a:solidFill>
                <a:latin typeface="Arial"/>
                <a:ea typeface="Arial"/>
                <a:cs typeface="Arial"/>
                <a:sym typeface="Arial"/>
              </a:rPr>
              <a:t>•  Query P95 &lt; 3s during bursts</a:t>
            </a:r>
            <a:endParaRPr b="0" i="0" sz="1200" u="none" cap="none" strike="noStrike">
              <a:solidFill>
                <a:srgbClr val="000000"/>
              </a:solidFill>
              <a:latin typeface="Arial"/>
              <a:ea typeface="Arial"/>
              <a:cs typeface="Arial"/>
              <a:sym typeface="Arial"/>
            </a:endParaRPr>
          </a:p>
          <a:p>
            <a:pPr indent="-146160" lvl="0" marL="146160" marR="0" rtl="0" algn="l">
              <a:lnSpc>
                <a:spcPct val="92000"/>
              </a:lnSpc>
              <a:spcBef>
                <a:spcPts val="400"/>
              </a:spcBef>
              <a:spcAft>
                <a:spcPts val="0"/>
              </a:spcAft>
              <a:buNone/>
            </a:pPr>
            <a:r>
              <a:rPr b="0" i="0" lang="en-US" sz="1200" u="none" cap="none" strike="noStrike">
                <a:solidFill>
                  <a:srgbClr val="1A1A1A"/>
                </a:solidFill>
                <a:latin typeface="Arial"/>
                <a:ea typeface="Arial"/>
                <a:cs typeface="Arial"/>
                <a:sym typeface="Arial"/>
              </a:rPr>
              <a:t>•  95% of audits &lt; 10min per package</a:t>
            </a:r>
            <a:endParaRPr b="0" i="0" sz="1200" u="none" cap="none" strike="noStrike">
              <a:solidFill>
                <a:srgbClr val="000000"/>
              </a:solidFill>
              <a:latin typeface="Arial"/>
              <a:ea typeface="Arial"/>
              <a:cs typeface="Arial"/>
              <a:sym typeface="Arial"/>
            </a:endParaRPr>
          </a:p>
          <a:p>
            <a:pPr indent="-146160" lvl="0" marL="146160" marR="0" rtl="0" algn="l">
              <a:lnSpc>
                <a:spcPct val="92000"/>
              </a:lnSpc>
              <a:spcBef>
                <a:spcPts val="400"/>
              </a:spcBef>
              <a:spcAft>
                <a:spcPts val="0"/>
              </a:spcAft>
              <a:buNone/>
            </a:pPr>
            <a:r>
              <a:rPr b="0" i="0" lang="en-US" sz="1200" u="none" cap="none" strike="noStrike">
                <a:solidFill>
                  <a:srgbClr val="1A1A1A"/>
                </a:solidFill>
                <a:latin typeface="Arial"/>
                <a:ea typeface="Arial"/>
                <a:cs typeface="Arial"/>
                <a:sym typeface="Arial"/>
              </a:rPr>
              <a:t>•  P99 end-to-end &lt; 15 min</a:t>
            </a:r>
            <a:endParaRPr b="0" i="0" sz="1200" u="none" cap="none" strike="noStrike">
              <a:solidFill>
                <a:srgbClr val="000000"/>
              </a:solidFill>
              <a:latin typeface="Arial"/>
              <a:ea typeface="Arial"/>
              <a:cs typeface="Arial"/>
              <a:sym typeface="Arial"/>
            </a:endParaRPr>
          </a:p>
          <a:p>
            <a:pPr indent="0" lvl="0" marL="0" marR="0" rtl="0" algn="l">
              <a:lnSpc>
                <a:spcPct val="92000"/>
              </a:lnSpc>
              <a:spcBef>
                <a:spcPts val="901"/>
              </a:spcBef>
              <a:spcAft>
                <a:spcPts val="0"/>
              </a:spcAft>
              <a:buNone/>
            </a:pPr>
            <a:r>
              <a:rPr b="1" i="0" lang="en-US" sz="1200" u="none" cap="none" strike="noStrike">
                <a:solidFill>
                  <a:srgbClr val="0E3A66"/>
                </a:solidFill>
                <a:latin typeface="Arial"/>
                <a:ea typeface="Arial"/>
                <a:cs typeface="Arial"/>
                <a:sym typeface="Arial"/>
              </a:rPr>
              <a:t>Resilience</a:t>
            </a:r>
            <a:endParaRPr b="0" i="0" sz="1200" u="none" cap="none" strike="noStrike">
              <a:solidFill>
                <a:srgbClr val="000000"/>
              </a:solidFill>
              <a:latin typeface="Arial"/>
              <a:ea typeface="Arial"/>
              <a:cs typeface="Arial"/>
              <a:sym typeface="Arial"/>
            </a:endParaRPr>
          </a:p>
          <a:p>
            <a:pPr indent="-146160" lvl="0" marL="146160" marR="0" rtl="0" algn="l">
              <a:lnSpc>
                <a:spcPct val="92000"/>
              </a:lnSpc>
              <a:spcBef>
                <a:spcPts val="201"/>
              </a:spcBef>
              <a:spcAft>
                <a:spcPts val="0"/>
              </a:spcAft>
              <a:buNone/>
            </a:pPr>
            <a:r>
              <a:rPr b="0" i="0" lang="en-US" sz="1200" u="none" cap="none" strike="noStrike">
                <a:solidFill>
                  <a:srgbClr val="1A1A1A"/>
                </a:solidFill>
                <a:latin typeface="Arial"/>
                <a:ea typeface="Arial"/>
                <a:cs typeface="Arial"/>
                <a:sym typeface="Arial"/>
              </a:rPr>
              <a:t>•  99.9% monthly availability</a:t>
            </a:r>
            <a:endParaRPr b="0" i="0" sz="1200" u="none" cap="none" strike="noStrike">
              <a:solidFill>
                <a:srgbClr val="000000"/>
              </a:solidFill>
              <a:latin typeface="Arial"/>
              <a:ea typeface="Arial"/>
              <a:cs typeface="Arial"/>
              <a:sym typeface="Arial"/>
            </a:endParaRPr>
          </a:p>
          <a:p>
            <a:pPr indent="-146160" lvl="0" marL="146160" marR="0" rtl="0" algn="l">
              <a:lnSpc>
                <a:spcPct val="92000"/>
              </a:lnSpc>
              <a:spcBef>
                <a:spcPts val="400"/>
              </a:spcBef>
              <a:spcAft>
                <a:spcPts val="0"/>
              </a:spcAft>
              <a:buNone/>
            </a:pPr>
            <a:r>
              <a:rPr b="0" i="0" lang="en-US" sz="1200" u="none" cap="none" strike="noStrike">
                <a:solidFill>
                  <a:srgbClr val="1A1A1A"/>
                </a:solidFill>
                <a:latin typeface="Arial"/>
                <a:ea typeface="Arial"/>
                <a:cs typeface="Arial"/>
                <a:sym typeface="Arial"/>
              </a:rPr>
              <a:t>•  RTO &lt; 30min · RPO &lt; 15min · zero silent data loss</a:t>
            </a:r>
            <a:endParaRPr b="0" i="0" sz="1200" u="none" cap="none" strike="noStrike">
              <a:solidFill>
                <a:srgbClr val="000000"/>
              </a:solidFill>
              <a:latin typeface="Arial"/>
              <a:ea typeface="Arial"/>
              <a:cs typeface="Arial"/>
              <a:sym typeface="Arial"/>
            </a:endParaRPr>
          </a:p>
          <a:p>
            <a:pPr indent="0" lvl="0" marL="0" marR="0" rtl="0" algn="l">
              <a:lnSpc>
                <a:spcPct val="92000"/>
              </a:lnSpc>
              <a:spcBef>
                <a:spcPts val="901"/>
              </a:spcBef>
              <a:spcAft>
                <a:spcPts val="0"/>
              </a:spcAft>
              <a:buNone/>
            </a:pPr>
            <a:r>
              <a:rPr b="1" i="0" lang="en-US" sz="1200" u="none" cap="none" strike="noStrike">
                <a:solidFill>
                  <a:srgbClr val="0E3A66"/>
                </a:solidFill>
                <a:latin typeface="Arial"/>
                <a:ea typeface="Arial"/>
                <a:cs typeface="Arial"/>
                <a:sym typeface="Arial"/>
              </a:rPr>
              <a:t>Platform footprint</a:t>
            </a:r>
            <a:endParaRPr b="0" i="0" sz="1200" u="none" cap="none" strike="noStrike">
              <a:solidFill>
                <a:srgbClr val="000000"/>
              </a:solidFill>
              <a:latin typeface="Arial"/>
              <a:ea typeface="Arial"/>
              <a:cs typeface="Arial"/>
              <a:sym typeface="Arial"/>
            </a:endParaRPr>
          </a:p>
          <a:p>
            <a:pPr indent="-146160" lvl="0" marL="146160" marR="0" rtl="0" algn="l">
              <a:lnSpc>
                <a:spcPct val="92000"/>
              </a:lnSpc>
              <a:spcBef>
                <a:spcPts val="201"/>
              </a:spcBef>
              <a:spcAft>
                <a:spcPts val="0"/>
              </a:spcAft>
              <a:buNone/>
            </a:pPr>
            <a:r>
              <a:rPr b="0" i="0" lang="en-US" sz="1200" u="none" cap="none" strike="noStrike">
                <a:solidFill>
                  <a:srgbClr val="1A1A1A"/>
                </a:solidFill>
                <a:latin typeface="Arial"/>
                <a:ea typeface="Arial"/>
                <a:cs typeface="Arial"/>
                <a:sym typeface="Arial"/>
              </a:rPr>
              <a:t>•  AKS zone-redundant AZ 1-2-3, four services (Backend, AI, ETL, Expert)</a:t>
            </a:r>
            <a:endParaRPr b="0" i="0" sz="1200" u="none" cap="none" strike="noStrike">
              <a:solidFill>
                <a:srgbClr val="000000"/>
              </a:solidFill>
              <a:latin typeface="Arial"/>
              <a:ea typeface="Arial"/>
              <a:cs typeface="Arial"/>
              <a:sym typeface="Arial"/>
            </a:endParaRPr>
          </a:p>
          <a:p>
            <a:pPr indent="-146160" lvl="0" marL="146160" marR="0" rtl="0" algn="l">
              <a:lnSpc>
                <a:spcPct val="92000"/>
              </a:lnSpc>
              <a:spcBef>
                <a:spcPts val="400"/>
              </a:spcBef>
              <a:spcAft>
                <a:spcPts val="0"/>
              </a:spcAft>
              <a:buNone/>
            </a:pPr>
            <a:r>
              <a:rPr b="0" i="0" lang="en-US" sz="1200" u="none" cap="none" strike="noStrike">
                <a:solidFill>
                  <a:srgbClr val="1A1A1A"/>
                </a:solidFill>
                <a:latin typeface="Arial"/>
                <a:ea typeface="Arial"/>
                <a:cs typeface="Arial"/>
                <a:sym typeface="Arial"/>
              </a:rPr>
              <a:t>•  AI Search sized by replicas (QPS) and partitions (index size)</a:t>
            </a:r>
            <a:endParaRPr b="0" i="0" sz="1200" u="none" cap="none" strike="noStrike">
              <a:solidFill>
                <a:srgbClr val="000000"/>
              </a:solidFill>
              <a:latin typeface="Arial"/>
              <a:ea typeface="Arial"/>
              <a:cs typeface="Arial"/>
              <a:sym typeface="Arial"/>
            </a:endParaRPr>
          </a:p>
          <a:p>
            <a:pPr indent="-146160" lvl="0" marL="146160" marR="0" rtl="0" algn="l">
              <a:lnSpc>
                <a:spcPct val="92000"/>
              </a:lnSpc>
              <a:spcBef>
                <a:spcPts val="400"/>
              </a:spcBef>
              <a:spcAft>
                <a:spcPts val="0"/>
              </a:spcAft>
              <a:buNone/>
            </a:pPr>
            <a:r>
              <a:rPr b="0" i="0" lang="en-US" sz="1200" u="none" cap="none" strike="noStrike">
                <a:solidFill>
                  <a:srgbClr val="1A1A1A"/>
                </a:solidFill>
                <a:latin typeface="Arial"/>
                <a:ea typeface="Arial"/>
                <a:cs typeface="Arial"/>
                <a:sym typeface="Arial"/>
              </a:rPr>
              <a:t>•  PostgreSQL zone-redundant HA + PITR </a:t>
            </a:r>
            <a:endParaRPr b="0" i="0" sz="1200" u="none" cap="none" strike="noStrike">
              <a:solidFill>
                <a:srgbClr val="000000"/>
              </a:solidFill>
              <a:latin typeface="Arial"/>
              <a:ea typeface="Arial"/>
              <a:cs typeface="Arial"/>
              <a:sym typeface="Arial"/>
            </a:endParaRPr>
          </a:p>
          <a:p>
            <a:pPr indent="-146160" lvl="0" marL="146160" marR="0" rtl="0" algn="l">
              <a:lnSpc>
                <a:spcPct val="92000"/>
              </a:lnSpc>
              <a:spcBef>
                <a:spcPts val="400"/>
              </a:spcBef>
              <a:spcAft>
                <a:spcPts val="0"/>
              </a:spcAft>
              <a:buNone/>
            </a:pPr>
            <a:r>
              <a:rPr b="0" i="0" lang="en-US" sz="1200" u="none" cap="none" strike="noStrike">
                <a:solidFill>
                  <a:srgbClr val="1A1A1A"/>
                </a:solidFill>
                <a:latin typeface="Arial"/>
                <a:ea typeface="Arial"/>
                <a:cs typeface="Arial"/>
                <a:sym typeface="Arial"/>
              </a:rPr>
              <a:t>•  Redis zone-redundant HA</a:t>
            </a:r>
            <a:endParaRPr b="0" i="0" sz="1200" u="none" cap="none" strike="noStrike">
              <a:solidFill>
                <a:srgbClr val="000000"/>
              </a:solidFill>
              <a:latin typeface="Arial"/>
              <a:ea typeface="Arial"/>
              <a:cs typeface="Arial"/>
              <a:sym typeface="Arial"/>
            </a:endParaRPr>
          </a:p>
          <a:p>
            <a:pPr indent="-146160" lvl="0" marL="146160" marR="0" rtl="0" algn="l">
              <a:lnSpc>
                <a:spcPct val="92000"/>
              </a:lnSpc>
              <a:spcBef>
                <a:spcPts val="400"/>
              </a:spcBef>
              <a:spcAft>
                <a:spcPts val="0"/>
              </a:spcAft>
              <a:buNone/>
            </a:pPr>
            <a:r>
              <a:rPr b="0" i="0" lang="en-US" sz="1200" u="none" cap="none" strike="noStrike">
                <a:solidFill>
                  <a:srgbClr val="1A1A1A"/>
                </a:solidFill>
                <a:latin typeface="Arial"/>
                <a:ea typeface="Arial"/>
                <a:cs typeface="Arial"/>
                <a:sym typeface="Arial"/>
              </a:rPr>
              <a:t>•  Blob Storage ZRS + Versioning</a:t>
            </a:r>
            <a:endParaRPr b="0" i="0" sz="1200" u="none" cap="none" strike="noStrike">
              <a:solidFill>
                <a:srgbClr val="000000"/>
              </a:solidFill>
              <a:latin typeface="Arial"/>
              <a:ea typeface="Arial"/>
              <a:cs typeface="Arial"/>
              <a:sym typeface="Arial"/>
            </a:endParaRPr>
          </a:p>
        </p:txBody>
      </p:sp>
      <p:sp>
        <p:nvSpPr>
          <p:cNvPr id="182" name="Google Shape;182;p28"/>
          <p:cNvSpPr/>
          <p:nvPr/>
        </p:nvSpPr>
        <p:spPr>
          <a:xfrm>
            <a:off x="3932280" y="1253160"/>
            <a:ext cx="7726200" cy="347100"/>
          </a:xfrm>
          <a:prstGeom prst="rect">
            <a:avLst/>
          </a:prstGeom>
          <a:solidFill>
            <a:srgbClr val="115594"/>
          </a:solidFill>
          <a:ln>
            <a:noFill/>
          </a:ln>
        </p:spPr>
        <p:txBody>
          <a:bodyPr anchorCtr="0" anchor="ctr" bIns="18350" lIns="100425" spcFirstLastPara="1" rIns="54700" wrap="square" tIns="18350">
            <a:noAutofit/>
          </a:bodyPr>
          <a:lstStyle/>
          <a:p>
            <a:pPr indent="0" lvl="0" marL="0" marR="0" rtl="0" algn="ctr">
              <a:spcBef>
                <a:spcPts val="0"/>
              </a:spcBef>
              <a:spcAft>
                <a:spcPts val="0"/>
              </a:spcAft>
              <a:buNone/>
            </a:pPr>
            <a:r>
              <a:rPr b="1" i="0" lang="en-US" sz="1400" u="none" cap="none" strike="noStrike">
                <a:solidFill>
                  <a:srgbClr val="FFFFFF"/>
                </a:solidFill>
                <a:latin typeface="Arial"/>
                <a:ea typeface="Arial"/>
                <a:cs typeface="Arial"/>
                <a:sym typeface="Arial"/>
              </a:rPr>
              <a:t>Development effort (1 PM, 2 Backend, 3 AIE, 2 Frontend, 2 QA) </a:t>
            </a:r>
            <a:endParaRPr b="0" i="0" sz="1400" u="none" cap="none" strike="noStrike">
              <a:solidFill>
                <a:srgbClr val="FFFFFF"/>
              </a:solidFill>
              <a:latin typeface="Arial"/>
              <a:ea typeface="Arial"/>
              <a:cs typeface="Arial"/>
              <a:sym typeface="Arial"/>
            </a:endParaRPr>
          </a:p>
        </p:txBody>
      </p:sp>
      <p:graphicFrame>
        <p:nvGraphicFramePr>
          <p:cNvPr id="183" name="Google Shape;183;p28"/>
          <p:cNvGraphicFramePr/>
          <p:nvPr/>
        </p:nvGraphicFramePr>
        <p:xfrm>
          <a:off x="3934800" y="1582920"/>
          <a:ext cx="3000000" cy="3000000"/>
        </p:xfrm>
        <a:graphic>
          <a:graphicData uri="http://schemas.openxmlformats.org/drawingml/2006/table">
            <a:tbl>
              <a:tblPr>
                <a:noFill/>
                <a:tableStyleId>{F6703325-8A91-4656-A187-A93E7337B26D}</a:tableStyleId>
              </a:tblPr>
              <a:tblGrid>
                <a:gridCol w="5102725"/>
                <a:gridCol w="2621075"/>
              </a:tblGrid>
              <a:tr h="283325">
                <a:tc>
                  <a:txBody>
                    <a:bodyPr/>
                    <a:lstStyle/>
                    <a:p>
                      <a:pPr indent="0" lvl="0" marL="0" marR="0" rtl="0" algn="l">
                        <a:lnSpc>
                          <a:spcPct val="90000"/>
                        </a:lnSpc>
                        <a:spcBef>
                          <a:spcPts val="0"/>
                        </a:spcBef>
                        <a:spcAft>
                          <a:spcPts val="0"/>
                        </a:spcAft>
                        <a:buNone/>
                      </a:pPr>
                      <a:r>
                        <a:rPr b="1" lang="en-US" sz="1200" u="none" strike="noStrike">
                          <a:solidFill>
                            <a:srgbClr val="FFFFFF"/>
                          </a:solidFill>
                          <a:latin typeface="Arial"/>
                          <a:ea typeface="Arial"/>
                          <a:cs typeface="Arial"/>
                          <a:sym typeface="Arial"/>
                        </a:rPr>
                        <a:t>Task</a:t>
                      </a:r>
                      <a:endParaRPr b="0" sz="1200" u="none" strike="noStrike">
                        <a:solidFill>
                          <a:srgbClr val="FFFFFF"/>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15594"/>
                    </a:solidFill>
                  </a:tcPr>
                </a:tc>
                <a:tc>
                  <a:txBody>
                    <a:bodyPr/>
                    <a:lstStyle/>
                    <a:p>
                      <a:pPr indent="0" lvl="0" marL="0" marR="0" rtl="0" algn="r">
                        <a:lnSpc>
                          <a:spcPct val="90000"/>
                        </a:lnSpc>
                        <a:spcBef>
                          <a:spcPts val="0"/>
                        </a:spcBef>
                        <a:spcAft>
                          <a:spcPts val="0"/>
                        </a:spcAft>
                        <a:buNone/>
                      </a:pPr>
                      <a:r>
                        <a:rPr b="1" lang="en-US" sz="1200" u="none" strike="noStrike">
                          <a:solidFill>
                            <a:srgbClr val="FFFFFF"/>
                          </a:solidFill>
                          <a:latin typeface="Arial"/>
                          <a:ea typeface="Arial"/>
                          <a:cs typeface="Arial"/>
                          <a:sym typeface="Arial"/>
                        </a:rPr>
                        <a:t>Man-Days</a:t>
                      </a:r>
                      <a:endParaRPr b="0" sz="1200" u="none" strike="noStrike">
                        <a:solidFill>
                          <a:srgbClr val="FFFFFF"/>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15594"/>
                    </a:solidFill>
                  </a:tcPr>
                </a:tc>
              </a:tr>
              <a:tr h="283325">
                <a:tc>
                  <a:txBody>
                    <a:bodyPr/>
                    <a:lstStyle/>
                    <a:p>
                      <a:pPr indent="0" lvl="0" marL="0" marR="0" rtl="0" algn="l">
                        <a:lnSpc>
                          <a:spcPct val="90000"/>
                        </a:lnSpc>
                        <a:spcBef>
                          <a:spcPts val="0"/>
                        </a:spcBef>
                        <a:spcAft>
                          <a:spcPts val="0"/>
                        </a:spcAft>
                        <a:buNone/>
                      </a:pPr>
                      <a:r>
                        <a:rPr lang="en-US" sz="1200">
                          <a:solidFill>
                            <a:srgbClr val="1A1A1A"/>
                          </a:solidFill>
                        </a:rPr>
                        <a:t>Project setup &amp; cloud infrastructure</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r">
                        <a:lnSpc>
                          <a:spcPct val="90000"/>
                        </a:lnSpc>
                        <a:spcBef>
                          <a:spcPts val="0"/>
                        </a:spcBef>
                        <a:spcAft>
                          <a:spcPts val="0"/>
                        </a:spcAft>
                        <a:buNone/>
                      </a:pPr>
                      <a:r>
                        <a:rPr b="0" lang="en-US" sz="1200" u="none" strike="noStrike">
                          <a:solidFill>
                            <a:srgbClr val="1A1A1A"/>
                          </a:solidFill>
                          <a:latin typeface="Arial"/>
                          <a:ea typeface="Arial"/>
                          <a:cs typeface="Arial"/>
                          <a:sym typeface="Arial"/>
                        </a:rPr>
                        <a:t>1</a:t>
                      </a:r>
                      <a:r>
                        <a:rPr lang="en-US" sz="1200">
                          <a:solidFill>
                            <a:srgbClr val="1A1A1A"/>
                          </a:solidFill>
                        </a:rPr>
                        <a:t>6</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83325">
                <a:tc>
                  <a:txBody>
                    <a:bodyPr/>
                    <a:lstStyle/>
                    <a:p>
                      <a:pPr indent="0" lvl="0" marL="0" marR="0" rtl="0" algn="l">
                        <a:lnSpc>
                          <a:spcPct val="90000"/>
                        </a:lnSpc>
                        <a:spcBef>
                          <a:spcPts val="0"/>
                        </a:spcBef>
                        <a:spcAft>
                          <a:spcPts val="0"/>
                        </a:spcAft>
                        <a:buNone/>
                      </a:pPr>
                      <a:r>
                        <a:rPr lang="en-US" sz="1200">
                          <a:solidFill>
                            <a:srgbClr val="1A1A1A"/>
                          </a:solidFill>
                        </a:rPr>
                        <a:t>Authentication &amp; authorization</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r">
                        <a:lnSpc>
                          <a:spcPct val="90000"/>
                        </a:lnSpc>
                        <a:spcBef>
                          <a:spcPts val="0"/>
                        </a:spcBef>
                        <a:spcAft>
                          <a:spcPts val="0"/>
                        </a:spcAft>
                        <a:buNone/>
                      </a:pPr>
                      <a:r>
                        <a:rPr lang="en-US" sz="1200">
                          <a:solidFill>
                            <a:srgbClr val="1A1A1A"/>
                          </a:solidFill>
                        </a:rPr>
                        <a:t>8</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r h="283325">
                <a:tc>
                  <a:txBody>
                    <a:bodyPr/>
                    <a:lstStyle/>
                    <a:p>
                      <a:pPr indent="0" lvl="0" marL="0" marR="0" rtl="0" algn="l">
                        <a:lnSpc>
                          <a:spcPct val="90000"/>
                        </a:lnSpc>
                        <a:spcBef>
                          <a:spcPts val="0"/>
                        </a:spcBef>
                        <a:spcAft>
                          <a:spcPts val="0"/>
                        </a:spcAft>
                        <a:buNone/>
                      </a:pPr>
                      <a:r>
                        <a:rPr lang="en-US" sz="1200">
                          <a:solidFill>
                            <a:srgbClr val="1A1A1A"/>
                          </a:solidFill>
                        </a:rPr>
                        <a:t>Frontend application</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r">
                        <a:lnSpc>
                          <a:spcPct val="90000"/>
                        </a:lnSpc>
                        <a:spcBef>
                          <a:spcPts val="0"/>
                        </a:spcBef>
                        <a:spcAft>
                          <a:spcPts val="0"/>
                        </a:spcAft>
                        <a:buNone/>
                      </a:pPr>
                      <a:r>
                        <a:rPr lang="en-US" sz="1200">
                          <a:solidFill>
                            <a:srgbClr val="1A1A1A"/>
                          </a:solidFill>
                        </a:rPr>
                        <a:t>56</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83325">
                <a:tc>
                  <a:txBody>
                    <a:bodyPr/>
                    <a:lstStyle/>
                    <a:p>
                      <a:pPr indent="0" lvl="0" marL="0" marR="0" rtl="0" algn="l">
                        <a:lnSpc>
                          <a:spcPct val="90000"/>
                        </a:lnSpc>
                        <a:spcBef>
                          <a:spcPts val="0"/>
                        </a:spcBef>
                        <a:spcAft>
                          <a:spcPts val="0"/>
                        </a:spcAft>
                        <a:buNone/>
                      </a:pPr>
                      <a:r>
                        <a:rPr lang="en-US" sz="1200">
                          <a:solidFill>
                            <a:srgbClr val="1A1A1A"/>
                          </a:solidFill>
                        </a:rPr>
                        <a:t>Backend API</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r">
                        <a:lnSpc>
                          <a:spcPct val="90000"/>
                        </a:lnSpc>
                        <a:spcBef>
                          <a:spcPts val="0"/>
                        </a:spcBef>
                        <a:spcAft>
                          <a:spcPts val="0"/>
                        </a:spcAft>
                        <a:buNone/>
                      </a:pPr>
                      <a:r>
                        <a:rPr lang="en-US" sz="1200">
                          <a:solidFill>
                            <a:srgbClr val="1A1A1A"/>
                          </a:solidFill>
                        </a:rPr>
                        <a:t>46</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r h="283325">
                <a:tc>
                  <a:txBody>
                    <a:bodyPr/>
                    <a:lstStyle/>
                    <a:p>
                      <a:pPr indent="0" lvl="0" marL="0" marR="0" rtl="0" algn="l">
                        <a:lnSpc>
                          <a:spcPct val="90000"/>
                        </a:lnSpc>
                        <a:spcBef>
                          <a:spcPts val="0"/>
                        </a:spcBef>
                        <a:spcAft>
                          <a:spcPts val="0"/>
                        </a:spcAft>
                        <a:buNone/>
                      </a:pPr>
                      <a:r>
                        <a:rPr lang="en-US" sz="1200">
                          <a:solidFill>
                            <a:srgbClr val="1A1A1A"/>
                          </a:solidFill>
                        </a:rPr>
                        <a:t>Document processing pipeline</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r">
                        <a:lnSpc>
                          <a:spcPct val="90000"/>
                        </a:lnSpc>
                        <a:spcBef>
                          <a:spcPts val="0"/>
                        </a:spcBef>
                        <a:spcAft>
                          <a:spcPts val="0"/>
                        </a:spcAft>
                        <a:buNone/>
                      </a:pPr>
                      <a:r>
                        <a:rPr lang="en-US" sz="1200">
                          <a:solidFill>
                            <a:srgbClr val="1A1A1A"/>
                          </a:solidFill>
                        </a:rPr>
                        <a:t>34</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83325">
                <a:tc>
                  <a:txBody>
                    <a:bodyPr/>
                    <a:lstStyle/>
                    <a:p>
                      <a:pPr indent="0" lvl="0" marL="0" marR="0" rtl="0" algn="l">
                        <a:lnSpc>
                          <a:spcPct val="90000"/>
                        </a:lnSpc>
                        <a:spcBef>
                          <a:spcPts val="0"/>
                        </a:spcBef>
                        <a:spcAft>
                          <a:spcPts val="0"/>
                        </a:spcAft>
                        <a:buNone/>
                      </a:pPr>
                      <a:r>
                        <a:rPr lang="en-US" sz="1200">
                          <a:solidFill>
                            <a:srgbClr val="1A1A1A"/>
                          </a:solidFill>
                        </a:rPr>
                        <a:t>AI search &amp; knowledge base</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r">
                        <a:lnSpc>
                          <a:spcPct val="90000"/>
                        </a:lnSpc>
                        <a:spcBef>
                          <a:spcPts val="0"/>
                        </a:spcBef>
                        <a:spcAft>
                          <a:spcPts val="0"/>
                        </a:spcAft>
                        <a:buNone/>
                      </a:pPr>
                      <a:r>
                        <a:rPr lang="en-US" sz="1200">
                          <a:solidFill>
                            <a:srgbClr val="1A1A1A"/>
                          </a:solidFill>
                        </a:rPr>
                        <a:t>26</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r h="283325">
                <a:tc>
                  <a:txBody>
                    <a:bodyPr/>
                    <a:lstStyle/>
                    <a:p>
                      <a:pPr indent="0" lvl="0" marL="0" marR="0" rtl="0" algn="l">
                        <a:lnSpc>
                          <a:spcPct val="90000"/>
                        </a:lnSpc>
                        <a:spcBef>
                          <a:spcPts val="0"/>
                        </a:spcBef>
                        <a:spcAft>
                          <a:spcPts val="0"/>
                        </a:spcAft>
                        <a:buNone/>
                      </a:pPr>
                      <a:r>
                        <a:rPr lang="en-US" sz="1200">
                          <a:solidFill>
                            <a:srgbClr val="1A1A1A"/>
                          </a:solidFill>
                        </a:rPr>
                        <a:t>Expert identification</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r">
                        <a:lnSpc>
                          <a:spcPct val="90000"/>
                        </a:lnSpc>
                        <a:spcBef>
                          <a:spcPts val="0"/>
                        </a:spcBef>
                        <a:spcAft>
                          <a:spcPts val="0"/>
                        </a:spcAft>
                        <a:buNone/>
                      </a:pPr>
                      <a:r>
                        <a:rPr b="0" lang="en-US" sz="1200" u="none" strike="noStrike">
                          <a:solidFill>
                            <a:srgbClr val="1A1A1A"/>
                          </a:solidFill>
                          <a:latin typeface="Arial"/>
                          <a:ea typeface="Arial"/>
                          <a:cs typeface="Arial"/>
                          <a:sym typeface="Arial"/>
                        </a:rPr>
                        <a:t>1</a:t>
                      </a:r>
                      <a:r>
                        <a:rPr lang="en-US" sz="1200">
                          <a:solidFill>
                            <a:srgbClr val="1A1A1A"/>
                          </a:solidFill>
                        </a:rPr>
                        <a:t>0</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83325">
                <a:tc>
                  <a:txBody>
                    <a:bodyPr/>
                    <a:lstStyle/>
                    <a:p>
                      <a:pPr indent="0" lvl="0" marL="0" marR="0" rtl="0" algn="l">
                        <a:lnSpc>
                          <a:spcPct val="90000"/>
                        </a:lnSpc>
                        <a:spcBef>
                          <a:spcPts val="0"/>
                        </a:spcBef>
                        <a:spcAft>
                          <a:spcPts val="0"/>
                        </a:spcAft>
                        <a:buNone/>
                      </a:pPr>
                      <a:r>
                        <a:rPr lang="en-US" sz="1200">
                          <a:solidFill>
                            <a:srgbClr val="1A1A1A"/>
                          </a:solidFill>
                        </a:rPr>
                        <a:t>Learning from interactions</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r">
                        <a:lnSpc>
                          <a:spcPct val="90000"/>
                        </a:lnSpc>
                        <a:spcBef>
                          <a:spcPts val="0"/>
                        </a:spcBef>
                        <a:spcAft>
                          <a:spcPts val="0"/>
                        </a:spcAft>
                        <a:buNone/>
                      </a:pPr>
                      <a:r>
                        <a:rPr b="0" lang="en-US" sz="1200" u="none" strike="noStrike">
                          <a:solidFill>
                            <a:srgbClr val="1A1A1A"/>
                          </a:solidFill>
                          <a:latin typeface="Arial"/>
                          <a:ea typeface="Arial"/>
                          <a:cs typeface="Arial"/>
                          <a:sym typeface="Arial"/>
                        </a:rPr>
                        <a:t>1</a:t>
                      </a:r>
                      <a:r>
                        <a:rPr lang="en-US" sz="1200">
                          <a:solidFill>
                            <a:srgbClr val="1A1A1A"/>
                          </a:solidFill>
                        </a:rPr>
                        <a:t>0</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r h="283325">
                <a:tc>
                  <a:txBody>
                    <a:bodyPr/>
                    <a:lstStyle/>
                    <a:p>
                      <a:pPr indent="0" lvl="0" marL="0" marR="0" rtl="0" algn="l">
                        <a:lnSpc>
                          <a:spcPct val="90000"/>
                        </a:lnSpc>
                        <a:spcBef>
                          <a:spcPts val="0"/>
                        </a:spcBef>
                        <a:spcAft>
                          <a:spcPts val="0"/>
                        </a:spcAft>
                        <a:buNone/>
                      </a:pPr>
                      <a:r>
                        <a:rPr lang="en-US" sz="1200">
                          <a:solidFill>
                            <a:srgbClr val="1A1A1A"/>
                          </a:solidFill>
                        </a:rPr>
                        <a:t>Non-functional requirements</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r">
                        <a:lnSpc>
                          <a:spcPct val="90000"/>
                        </a:lnSpc>
                        <a:spcBef>
                          <a:spcPts val="0"/>
                        </a:spcBef>
                        <a:spcAft>
                          <a:spcPts val="0"/>
                        </a:spcAft>
                        <a:buNone/>
                      </a:pPr>
                      <a:r>
                        <a:rPr lang="en-US" sz="1200">
                          <a:solidFill>
                            <a:srgbClr val="1A1A1A"/>
                          </a:solidFill>
                        </a:rPr>
                        <a:t>26</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83325">
                <a:tc>
                  <a:txBody>
                    <a:bodyPr/>
                    <a:lstStyle/>
                    <a:p>
                      <a:pPr indent="0" lvl="0" marL="0" marR="0" rtl="0" algn="l">
                        <a:lnSpc>
                          <a:spcPct val="90000"/>
                        </a:lnSpc>
                        <a:spcBef>
                          <a:spcPts val="0"/>
                        </a:spcBef>
                        <a:spcAft>
                          <a:spcPts val="0"/>
                        </a:spcAft>
                        <a:buNone/>
                      </a:pPr>
                      <a:r>
                        <a:rPr lang="en-US" sz="1200">
                          <a:solidFill>
                            <a:srgbClr val="1A1A1A"/>
                          </a:solidFill>
                        </a:rPr>
                        <a:t>Testing</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r">
                        <a:lnSpc>
                          <a:spcPct val="90000"/>
                        </a:lnSpc>
                        <a:spcBef>
                          <a:spcPts val="0"/>
                        </a:spcBef>
                        <a:spcAft>
                          <a:spcPts val="0"/>
                        </a:spcAft>
                        <a:buNone/>
                      </a:pPr>
                      <a:r>
                        <a:rPr b="0" lang="en-US" sz="1200" u="none" strike="noStrike">
                          <a:solidFill>
                            <a:srgbClr val="1A1A1A"/>
                          </a:solidFill>
                          <a:latin typeface="Arial"/>
                          <a:ea typeface="Arial"/>
                          <a:cs typeface="Arial"/>
                          <a:sym typeface="Arial"/>
                        </a:rPr>
                        <a:t>1</a:t>
                      </a:r>
                      <a:r>
                        <a:rPr lang="en-US" sz="1200">
                          <a:solidFill>
                            <a:srgbClr val="1A1A1A"/>
                          </a:solidFill>
                        </a:rPr>
                        <a:t>4</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r h="283325">
                <a:tc>
                  <a:txBody>
                    <a:bodyPr/>
                    <a:lstStyle/>
                    <a:p>
                      <a:pPr indent="0" lvl="0" marL="0" marR="0" rtl="0" algn="l">
                        <a:lnSpc>
                          <a:spcPct val="90000"/>
                        </a:lnSpc>
                        <a:spcBef>
                          <a:spcPts val="0"/>
                        </a:spcBef>
                        <a:spcAft>
                          <a:spcPts val="0"/>
                        </a:spcAft>
                        <a:buNone/>
                      </a:pPr>
                      <a:r>
                        <a:rPr lang="en-US" sz="1200">
                          <a:solidFill>
                            <a:srgbClr val="1A1A1A"/>
                          </a:solidFill>
                        </a:rPr>
                        <a:t>Deployment, documentation &amp; training</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r">
                        <a:lnSpc>
                          <a:spcPct val="90000"/>
                        </a:lnSpc>
                        <a:spcBef>
                          <a:spcPts val="0"/>
                        </a:spcBef>
                        <a:spcAft>
                          <a:spcPts val="0"/>
                        </a:spcAft>
                        <a:buNone/>
                      </a:pPr>
                      <a:r>
                        <a:rPr b="0" lang="en-US" sz="1200" u="none" strike="noStrike">
                          <a:solidFill>
                            <a:srgbClr val="1A1A1A"/>
                          </a:solidFill>
                          <a:latin typeface="Arial"/>
                          <a:ea typeface="Arial"/>
                          <a:cs typeface="Arial"/>
                          <a:sym typeface="Arial"/>
                        </a:rPr>
                        <a:t>1</a:t>
                      </a:r>
                      <a:r>
                        <a:rPr lang="en-US" sz="1200">
                          <a:solidFill>
                            <a:srgbClr val="1A1A1A"/>
                          </a:solidFill>
                        </a:rPr>
                        <a:t>8</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83325">
                <a:tc>
                  <a:txBody>
                    <a:bodyPr/>
                    <a:lstStyle/>
                    <a:p>
                      <a:pPr indent="0" lvl="0" marL="0" marR="0" rtl="0" algn="l">
                        <a:lnSpc>
                          <a:spcPct val="90000"/>
                        </a:lnSpc>
                        <a:spcBef>
                          <a:spcPts val="0"/>
                        </a:spcBef>
                        <a:spcAft>
                          <a:spcPts val="0"/>
                        </a:spcAft>
                        <a:buNone/>
                      </a:pPr>
                      <a:r>
                        <a:rPr lang="en-US" sz="1200">
                          <a:solidFill>
                            <a:srgbClr val="1A1A1A"/>
                          </a:solidFill>
                        </a:rPr>
                        <a:t>Risk buffers</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r">
                        <a:lnSpc>
                          <a:spcPct val="90000"/>
                        </a:lnSpc>
                        <a:spcBef>
                          <a:spcPts val="0"/>
                        </a:spcBef>
                        <a:spcAft>
                          <a:spcPts val="0"/>
                        </a:spcAft>
                        <a:buNone/>
                      </a:pPr>
                      <a:r>
                        <a:rPr lang="en-US" sz="1200">
                          <a:solidFill>
                            <a:srgbClr val="1A1A1A"/>
                          </a:solidFill>
                        </a:rPr>
                        <a:t>28</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r h="216000">
                <a:tc>
                  <a:txBody>
                    <a:bodyPr/>
                    <a:lstStyle/>
                    <a:p>
                      <a:pPr indent="0" lvl="0" marL="0" marR="0" rtl="0" algn="l">
                        <a:lnSpc>
                          <a:spcPct val="90000"/>
                        </a:lnSpc>
                        <a:spcBef>
                          <a:spcPts val="0"/>
                        </a:spcBef>
                        <a:spcAft>
                          <a:spcPts val="0"/>
                        </a:spcAft>
                        <a:buNone/>
                      </a:pPr>
                      <a:r>
                        <a:rPr b="1" lang="en-US" sz="1200" u="none" strike="noStrike">
                          <a:solidFill>
                            <a:srgbClr val="0E3A66"/>
                          </a:solidFill>
                          <a:latin typeface="Arial"/>
                          <a:ea typeface="Arial"/>
                          <a:cs typeface="Arial"/>
                          <a:sym typeface="Arial"/>
                        </a:rPr>
                        <a:t>Total</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EAF1F9"/>
                    </a:solidFill>
                  </a:tcPr>
                </a:tc>
                <a:tc>
                  <a:txBody>
                    <a:bodyPr/>
                    <a:lstStyle/>
                    <a:p>
                      <a:pPr indent="0" lvl="0" marL="0" marR="0" rtl="0" algn="r">
                        <a:lnSpc>
                          <a:spcPct val="90000"/>
                        </a:lnSpc>
                        <a:spcBef>
                          <a:spcPts val="0"/>
                        </a:spcBef>
                        <a:spcAft>
                          <a:spcPts val="0"/>
                        </a:spcAft>
                        <a:buNone/>
                      </a:pPr>
                      <a:r>
                        <a:rPr b="1" lang="en-US" sz="1200" u="none" strike="noStrike">
                          <a:solidFill>
                            <a:srgbClr val="0E3A66"/>
                          </a:solidFill>
                          <a:latin typeface="Arial"/>
                          <a:ea typeface="Arial"/>
                          <a:cs typeface="Arial"/>
                          <a:sym typeface="Arial"/>
                        </a:rPr>
                        <a:t>304</a:t>
                      </a:r>
                      <a:endParaRPr b="0" sz="1200" u="none" strike="noStrike">
                        <a:solidFill>
                          <a:srgbClr val="000000"/>
                        </a:solidFill>
                        <a:latin typeface="Times New Roman"/>
                        <a:ea typeface="Times New Roman"/>
                        <a:cs typeface="Times New Roman"/>
                        <a:sym typeface="Times New Roman"/>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EAF1F9"/>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29"/>
          <p:cNvSpPr txBox="1"/>
          <p:nvPr>
            <p:ph type="title"/>
          </p:nvPr>
        </p:nvSpPr>
        <p:spPr>
          <a:xfrm>
            <a:off x="838080" y="365040"/>
            <a:ext cx="10515300" cy="13251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b="0" lang="en-US" sz="4400" u="none" strike="noStrike">
                <a:solidFill>
                  <a:schemeClr val="dk1"/>
                </a:solidFill>
                <a:latin typeface="Play"/>
                <a:ea typeface="Play"/>
                <a:cs typeface="Play"/>
                <a:sym typeface="Play"/>
              </a:rPr>
              <a:t>Sizing &amp; Cost (2)</a:t>
            </a:r>
            <a:endParaRPr b="0" sz="4400" u="none" strike="noStrike">
              <a:solidFill>
                <a:srgbClr val="000000"/>
              </a:solidFill>
              <a:latin typeface="Arial"/>
              <a:ea typeface="Arial"/>
              <a:cs typeface="Arial"/>
              <a:sym typeface="Arial"/>
            </a:endParaRPr>
          </a:p>
        </p:txBody>
      </p:sp>
      <p:sp>
        <p:nvSpPr>
          <p:cNvPr id="189" name="Google Shape;189;p29"/>
          <p:cNvSpPr/>
          <p:nvPr/>
        </p:nvSpPr>
        <p:spPr>
          <a:xfrm>
            <a:off x="838080" y="1478520"/>
            <a:ext cx="5105400" cy="347100"/>
          </a:xfrm>
          <a:prstGeom prst="rect">
            <a:avLst/>
          </a:prstGeom>
          <a:solidFill>
            <a:srgbClr val="115594"/>
          </a:solidFill>
          <a:ln>
            <a:noFill/>
          </a:ln>
        </p:spPr>
        <p:txBody>
          <a:bodyPr anchorCtr="0" anchor="ctr" bIns="18350" lIns="100425" spcFirstLastPara="1" rIns="54700" wrap="square" tIns="18350">
            <a:noAutofit/>
          </a:bodyPr>
          <a:lstStyle/>
          <a:p>
            <a:pPr indent="0" lvl="0" marL="0" marR="0" rtl="0" algn="ctr">
              <a:lnSpc>
                <a:spcPct val="100000"/>
              </a:lnSpc>
              <a:spcBef>
                <a:spcPts val="0"/>
              </a:spcBef>
              <a:spcAft>
                <a:spcPts val="0"/>
              </a:spcAft>
              <a:buNone/>
            </a:pPr>
            <a:r>
              <a:rPr b="1" i="0" lang="en-US" sz="1600" u="none" cap="none" strike="noStrike">
                <a:solidFill>
                  <a:srgbClr val="FFFFFF"/>
                </a:solidFill>
                <a:latin typeface="Arial"/>
                <a:ea typeface="Arial"/>
                <a:cs typeface="Arial"/>
                <a:sym typeface="Arial"/>
              </a:rPr>
              <a:t>Infrastructure cost — development (3 months)</a:t>
            </a:r>
            <a:endParaRPr b="0" i="0" sz="1600" u="none" cap="none" strike="noStrike">
              <a:solidFill>
                <a:srgbClr val="FFFFFF"/>
              </a:solidFill>
              <a:latin typeface="Arial"/>
              <a:ea typeface="Arial"/>
              <a:cs typeface="Arial"/>
              <a:sym typeface="Arial"/>
            </a:endParaRPr>
          </a:p>
        </p:txBody>
      </p:sp>
      <p:graphicFrame>
        <p:nvGraphicFramePr>
          <p:cNvPr id="190" name="Google Shape;190;p29"/>
          <p:cNvGraphicFramePr/>
          <p:nvPr/>
        </p:nvGraphicFramePr>
        <p:xfrm>
          <a:off x="838080" y="1825560"/>
          <a:ext cx="3000000" cy="3000000"/>
        </p:xfrm>
        <a:graphic>
          <a:graphicData uri="http://schemas.openxmlformats.org/drawingml/2006/table">
            <a:tbl>
              <a:tblPr>
                <a:noFill/>
                <a:tableStyleId>{F6703325-8A91-4656-A187-A93E7337B26D}</a:tableStyleId>
              </a:tblPr>
              <a:tblGrid>
                <a:gridCol w="3084475"/>
                <a:gridCol w="1031050"/>
                <a:gridCol w="990000"/>
              </a:tblGrid>
              <a:tr h="283325">
                <a:tc>
                  <a:txBody>
                    <a:bodyPr/>
                    <a:lstStyle/>
                    <a:p>
                      <a:pPr indent="0" lvl="0" marL="0" marR="0" rtl="0" algn="l">
                        <a:lnSpc>
                          <a:spcPct val="90000"/>
                        </a:lnSpc>
                        <a:spcBef>
                          <a:spcPts val="0"/>
                        </a:spcBef>
                        <a:spcAft>
                          <a:spcPts val="0"/>
                        </a:spcAft>
                        <a:buClr>
                          <a:srgbClr val="FFFFFF"/>
                        </a:buClr>
                        <a:buSzPts val="1200"/>
                        <a:buFont typeface="Arial"/>
                        <a:buNone/>
                      </a:pPr>
                      <a:r>
                        <a:rPr b="1" lang="en-US" sz="1200" u="none" strike="noStrike">
                          <a:solidFill>
                            <a:srgbClr val="FFFFFF"/>
                          </a:solidFill>
                          <a:latin typeface="Arial"/>
                          <a:ea typeface="Arial"/>
                          <a:cs typeface="Arial"/>
                          <a:sym typeface="Arial"/>
                        </a:rPr>
                        <a:t>Component</a:t>
                      </a:r>
                      <a:endParaRPr b="0" sz="1200" u="none" strike="noStrike">
                        <a:solidFill>
                          <a:srgbClr val="FFFFFF"/>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15594"/>
                    </a:solidFill>
                  </a:tcPr>
                </a:tc>
                <a:tc>
                  <a:txBody>
                    <a:bodyPr/>
                    <a:lstStyle/>
                    <a:p>
                      <a:pPr indent="0" lvl="0" marL="0" marR="0" rtl="0" algn="r">
                        <a:lnSpc>
                          <a:spcPct val="90000"/>
                        </a:lnSpc>
                        <a:spcBef>
                          <a:spcPts val="0"/>
                        </a:spcBef>
                        <a:spcAft>
                          <a:spcPts val="0"/>
                        </a:spcAft>
                        <a:buClr>
                          <a:srgbClr val="FFFFFF"/>
                        </a:buClr>
                        <a:buSzPts val="1200"/>
                        <a:buFont typeface="Arial"/>
                        <a:buNone/>
                      </a:pPr>
                      <a:r>
                        <a:rPr b="1" lang="en-US" sz="1200" u="none" strike="noStrike">
                          <a:solidFill>
                            <a:srgbClr val="FFFFFF"/>
                          </a:solidFill>
                          <a:latin typeface="Arial"/>
                          <a:ea typeface="Arial"/>
                          <a:cs typeface="Arial"/>
                          <a:sym typeface="Arial"/>
                        </a:rPr>
                        <a:t>Monthly</a:t>
                      </a:r>
                      <a:endParaRPr b="0" sz="1200" u="none" strike="noStrike">
                        <a:solidFill>
                          <a:srgbClr val="FFFFFF"/>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15594"/>
                    </a:solidFill>
                  </a:tcPr>
                </a:tc>
                <a:tc>
                  <a:txBody>
                    <a:bodyPr/>
                    <a:lstStyle/>
                    <a:p>
                      <a:pPr indent="0" lvl="0" marL="0" marR="0" rtl="0" algn="r">
                        <a:lnSpc>
                          <a:spcPct val="90000"/>
                        </a:lnSpc>
                        <a:spcBef>
                          <a:spcPts val="0"/>
                        </a:spcBef>
                        <a:spcAft>
                          <a:spcPts val="0"/>
                        </a:spcAft>
                        <a:buClr>
                          <a:srgbClr val="FFFFFF"/>
                        </a:buClr>
                        <a:buSzPts val="1200"/>
                        <a:buFont typeface="Arial"/>
                        <a:buNone/>
                      </a:pPr>
                      <a:r>
                        <a:rPr b="1" lang="en-US" sz="1200" u="none" strike="noStrike">
                          <a:solidFill>
                            <a:srgbClr val="FFFFFF"/>
                          </a:solidFill>
                          <a:latin typeface="Arial"/>
                          <a:ea typeface="Arial"/>
                          <a:cs typeface="Arial"/>
                          <a:sym typeface="Arial"/>
                        </a:rPr>
                        <a:t>3 months</a:t>
                      </a:r>
                      <a:endParaRPr b="0" sz="1200" u="none" strike="noStrike">
                        <a:solidFill>
                          <a:srgbClr val="FFFFFF"/>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15594"/>
                    </a:solidFill>
                  </a:tcPr>
                </a:tc>
              </a:tr>
              <a:tr h="283325">
                <a:tc>
                  <a:txBody>
                    <a:bodyPr/>
                    <a:lstStyle/>
                    <a:p>
                      <a:pPr indent="0" lvl="0" marL="0" marR="0" rtl="0" algn="l">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Azure OpenAI Service (dev + test)</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900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2,700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83325">
                <a:tc>
                  <a:txBody>
                    <a:bodyPr/>
                    <a:lstStyle/>
                    <a:p>
                      <a:pPr indent="0" lvl="0" marL="0" marR="0" rtl="0" algn="l">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Azure Database for PostgreSQL</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150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450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r h="283325">
                <a:tc>
                  <a:txBody>
                    <a:bodyPr/>
                    <a:lstStyle/>
                    <a:p>
                      <a:pPr indent="0" lvl="0" marL="0" marR="0" rtl="0" algn="l">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Azure AI Search</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120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360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83325">
                <a:tc>
                  <a:txBody>
                    <a:bodyPr/>
                    <a:lstStyle/>
                    <a:p>
                      <a:pPr indent="0" lvl="0" marL="0" marR="0" rtl="0" algn="l">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Azure Monitor</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90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270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r h="283325">
                <a:tc>
                  <a:txBody>
                    <a:bodyPr/>
                    <a:lstStyle/>
                    <a:p>
                      <a:pPr indent="0" lvl="0" marL="0" marR="0" rtl="0" algn="l">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CI/CD, test runner &amp; support tooling</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80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240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83325">
                <a:tc>
                  <a:txBody>
                    <a:bodyPr/>
                    <a:lstStyle/>
                    <a:p>
                      <a:pPr indent="0" lvl="0" marL="0" marR="0" rtl="0" algn="l">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Azure Cache for Redis</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70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210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r h="283325">
                <a:tc>
                  <a:txBody>
                    <a:bodyPr/>
                    <a:lstStyle/>
                    <a:p>
                      <a:pPr indent="0" lvl="0" marL="0" marR="0" rtl="0" algn="l">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Key Vault, private networking &amp; DNS</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60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180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83325">
                <a:tc>
                  <a:txBody>
                    <a:bodyPr/>
                    <a:lstStyle/>
                    <a:p>
                      <a:pPr indent="0" lvl="0" marL="0" marR="0" rtl="0" algn="l">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Azure Blob Storage</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35</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105</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r h="284400">
                <a:tc>
                  <a:txBody>
                    <a:bodyPr/>
                    <a:lstStyle/>
                    <a:p>
                      <a:pPr indent="0" lvl="0" marL="0" marR="0" rtl="0" algn="l">
                        <a:lnSpc>
                          <a:spcPct val="90000"/>
                        </a:lnSpc>
                        <a:spcBef>
                          <a:spcPts val="0"/>
                        </a:spcBef>
                        <a:spcAft>
                          <a:spcPts val="0"/>
                        </a:spcAft>
                        <a:buClr>
                          <a:srgbClr val="0E3A66"/>
                        </a:buClr>
                        <a:buSzPts val="1200"/>
                        <a:buFont typeface="Arial"/>
                        <a:buNone/>
                      </a:pPr>
                      <a:r>
                        <a:rPr b="1" lang="en-US" sz="1200" u="none" strike="noStrike">
                          <a:solidFill>
                            <a:srgbClr val="0E3A66"/>
                          </a:solidFill>
                          <a:latin typeface="Arial"/>
                          <a:ea typeface="Arial"/>
                          <a:cs typeface="Arial"/>
                          <a:sym typeface="Arial"/>
                        </a:rPr>
                        <a:t>Total (USD)</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EAF1F9"/>
                    </a:solidFill>
                  </a:tcPr>
                </a:tc>
                <a:tc>
                  <a:txBody>
                    <a:bodyPr/>
                    <a:lstStyle/>
                    <a:p>
                      <a:pPr indent="0" lvl="0" marL="0" marR="0" rtl="0" algn="r">
                        <a:lnSpc>
                          <a:spcPct val="90000"/>
                        </a:lnSpc>
                        <a:spcBef>
                          <a:spcPts val="0"/>
                        </a:spcBef>
                        <a:spcAft>
                          <a:spcPts val="0"/>
                        </a:spcAft>
                        <a:buClr>
                          <a:srgbClr val="0E3A66"/>
                        </a:buClr>
                        <a:buSzPts val="1200"/>
                        <a:buFont typeface="Arial"/>
                        <a:buNone/>
                      </a:pPr>
                      <a:r>
                        <a:rPr b="1" lang="en-US" sz="1200" u="none" strike="noStrike">
                          <a:solidFill>
                            <a:srgbClr val="0E3A66"/>
                          </a:solidFill>
                          <a:latin typeface="Arial"/>
                          <a:ea typeface="Arial"/>
                          <a:cs typeface="Arial"/>
                          <a:sym typeface="Arial"/>
                        </a:rPr>
                        <a:t>1,505</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EAF1F9"/>
                    </a:solidFill>
                  </a:tcPr>
                </a:tc>
                <a:tc>
                  <a:txBody>
                    <a:bodyPr/>
                    <a:lstStyle/>
                    <a:p>
                      <a:pPr indent="0" lvl="0" marL="0" marR="0" rtl="0" algn="r">
                        <a:lnSpc>
                          <a:spcPct val="90000"/>
                        </a:lnSpc>
                        <a:spcBef>
                          <a:spcPts val="0"/>
                        </a:spcBef>
                        <a:spcAft>
                          <a:spcPts val="0"/>
                        </a:spcAft>
                        <a:buClr>
                          <a:srgbClr val="0E3A66"/>
                        </a:buClr>
                        <a:buSzPts val="1200"/>
                        <a:buFont typeface="Arial"/>
                        <a:buNone/>
                      </a:pPr>
                      <a:r>
                        <a:rPr b="1" lang="en-US" sz="1200" u="none" strike="noStrike">
                          <a:solidFill>
                            <a:srgbClr val="0E3A66"/>
                          </a:solidFill>
                          <a:latin typeface="Arial"/>
                          <a:ea typeface="Arial"/>
                          <a:cs typeface="Arial"/>
                          <a:sym typeface="Arial"/>
                        </a:rPr>
                        <a:t>4,515</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EAF1F9"/>
                    </a:solidFill>
                  </a:tcPr>
                </a:tc>
              </a:tr>
            </a:tbl>
          </a:graphicData>
        </a:graphic>
      </p:graphicFrame>
      <p:sp>
        <p:nvSpPr>
          <p:cNvPr id="191" name="Google Shape;191;p29"/>
          <p:cNvSpPr/>
          <p:nvPr/>
        </p:nvSpPr>
        <p:spPr>
          <a:xfrm>
            <a:off x="6226200" y="1478520"/>
            <a:ext cx="5127000" cy="347100"/>
          </a:xfrm>
          <a:prstGeom prst="rect">
            <a:avLst/>
          </a:prstGeom>
          <a:solidFill>
            <a:srgbClr val="115594"/>
          </a:solidFill>
          <a:ln>
            <a:noFill/>
          </a:ln>
        </p:spPr>
        <p:txBody>
          <a:bodyPr anchorCtr="0" anchor="ctr" bIns="18350" lIns="100425" spcFirstLastPara="1" rIns="54700" wrap="square" tIns="18350">
            <a:noAutofit/>
          </a:bodyPr>
          <a:lstStyle/>
          <a:p>
            <a:pPr indent="0" lvl="0" marL="0" marR="0" rtl="0" algn="ctr">
              <a:lnSpc>
                <a:spcPct val="100000"/>
              </a:lnSpc>
              <a:spcBef>
                <a:spcPts val="0"/>
              </a:spcBef>
              <a:spcAft>
                <a:spcPts val="0"/>
              </a:spcAft>
              <a:buNone/>
            </a:pPr>
            <a:r>
              <a:rPr b="1" i="0" lang="en-US" sz="1600" u="none" cap="none" strike="noStrike">
                <a:solidFill>
                  <a:srgbClr val="FFFFFF"/>
                </a:solidFill>
                <a:latin typeface="Arial"/>
                <a:ea typeface="Arial"/>
                <a:cs typeface="Arial"/>
                <a:sym typeface="Arial"/>
              </a:rPr>
              <a:t>Infrastructure cost — production (steady state)</a:t>
            </a:r>
            <a:endParaRPr b="0" i="0" sz="1600" u="none" cap="none" strike="noStrike">
              <a:solidFill>
                <a:srgbClr val="FFFFFF"/>
              </a:solidFill>
              <a:latin typeface="Arial"/>
              <a:ea typeface="Arial"/>
              <a:cs typeface="Arial"/>
              <a:sym typeface="Arial"/>
            </a:endParaRPr>
          </a:p>
        </p:txBody>
      </p:sp>
      <p:graphicFrame>
        <p:nvGraphicFramePr>
          <p:cNvPr id="192" name="Google Shape;192;p29"/>
          <p:cNvGraphicFramePr/>
          <p:nvPr/>
        </p:nvGraphicFramePr>
        <p:xfrm>
          <a:off x="6226200" y="1825560"/>
          <a:ext cx="3000000" cy="3000000"/>
        </p:xfrm>
        <a:graphic>
          <a:graphicData uri="http://schemas.openxmlformats.org/drawingml/2006/table">
            <a:tbl>
              <a:tblPr>
                <a:noFill/>
                <a:tableStyleId>{F6703325-8A91-4656-A187-A93E7337B26D}</a:tableStyleId>
              </a:tblPr>
              <a:tblGrid>
                <a:gridCol w="3961450"/>
                <a:gridCol w="1165675"/>
              </a:tblGrid>
              <a:tr h="283325">
                <a:tc>
                  <a:txBody>
                    <a:bodyPr/>
                    <a:lstStyle/>
                    <a:p>
                      <a:pPr indent="0" lvl="0" marL="0" marR="0" rtl="0" algn="l">
                        <a:lnSpc>
                          <a:spcPct val="90000"/>
                        </a:lnSpc>
                        <a:spcBef>
                          <a:spcPts val="0"/>
                        </a:spcBef>
                        <a:spcAft>
                          <a:spcPts val="0"/>
                        </a:spcAft>
                        <a:buClr>
                          <a:srgbClr val="FFFFFF"/>
                        </a:buClr>
                        <a:buSzPts val="1200"/>
                        <a:buFont typeface="Arial"/>
                        <a:buNone/>
                      </a:pPr>
                      <a:r>
                        <a:rPr b="1" lang="en-US" sz="1200" u="none" strike="noStrike">
                          <a:solidFill>
                            <a:srgbClr val="FFFFFF"/>
                          </a:solidFill>
                          <a:latin typeface="Arial"/>
                          <a:ea typeface="Arial"/>
                          <a:cs typeface="Arial"/>
                          <a:sym typeface="Arial"/>
                        </a:rPr>
                        <a:t>Component</a:t>
                      </a:r>
                      <a:endParaRPr b="0" sz="1200" u="none" strike="noStrike">
                        <a:solidFill>
                          <a:srgbClr val="FFFFFF"/>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15594"/>
                    </a:solidFill>
                  </a:tcPr>
                </a:tc>
                <a:tc>
                  <a:txBody>
                    <a:bodyPr/>
                    <a:lstStyle/>
                    <a:p>
                      <a:pPr indent="0" lvl="0" marL="0" marR="0" rtl="0" algn="r">
                        <a:lnSpc>
                          <a:spcPct val="90000"/>
                        </a:lnSpc>
                        <a:spcBef>
                          <a:spcPts val="0"/>
                        </a:spcBef>
                        <a:spcAft>
                          <a:spcPts val="0"/>
                        </a:spcAft>
                        <a:buClr>
                          <a:srgbClr val="FFFFFF"/>
                        </a:buClr>
                        <a:buSzPts val="1200"/>
                        <a:buFont typeface="Arial"/>
                        <a:buNone/>
                      </a:pPr>
                      <a:r>
                        <a:rPr b="1" lang="en-US" sz="1200" u="none" strike="noStrike">
                          <a:solidFill>
                            <a:srgbClr val="FFFFFF"/>
                          </a:solidFill>
                          <a:latin typeface="Arial"/>
                          <a:ea typeface="Arial"/>
                          <a:cs typeface="Arial"/>
                          <a:sym typeface="Arial"/>
                        </a:rPr>
                        <a:t>Monthly</a:t>
                      </a:r>
                      <a:endParaRPr b="0" sz="1200" u="none" strike="noStrike">
                        <a:solidFill>
                          <a:srgbClr val="FFFFFF"/>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15594"/>
                    </a:solidFill>
                  </a:tcPr>
                </a:tc>
              </a:tr>
              <a:tr h="283325">
                <a:tc>
                  <a:txBody>
                    <a:bodyPr/>
                    <a:lstStyle/>
                    <a:p>
                      <a:pPr indent="0" lvl="0" marL="0" marR="0" rtl="0" algn="l">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Azure OpenAI Service (production inference)</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2,500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83325">
                <a:tc>
                  <a:txBody>
                    <a:bodyPr/>
                    <a:lstStyle/>
                    <a:p>
                      <a:pPr indent="0" lvl="0" marL="0" marR="0" rtl="0" algn="l">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Azure Database for PostgreSQL (HA + PITR)</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350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r h="283325">
                <a:tc>
                  <a:txBody>
                    <a:bodyPr/>
                    <a:lstStyle/>
                    <a:p>
                      <a:pPr indent="0" lvl="0" marL="0" marR="0" rtl="0" algn="l">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Azure AI Search (standard tier)</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350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83325">
                <a:tc>
                  <a:txBody>
                    <a:bodyPr/>
                    <a:lstStyle/>
                    <a:p>
                      <a:pPr indent="0" lvl="0" marL="0" marR="0" rtl="0" algn="l">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Azure Monitor</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200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r h="283325">
                <a:tc>
                  <a:txBody>
                    <a:bodyPr/>
                    <a:lstStyle/>
                    <a:p>
                      <a:pPr indent="0" lvl="0" marL="0" marR="0" rtl="0" algn="l">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Alerting, autoscale support &amp; operational overhead</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100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83325">
                <a:tc>
                  <a:txBody>
                    <a:bodyPr/>
                    <a:lstStyle/>
                    <a:p>
                      <a:pPr indent="0" lvl="0" marL="0" marR="0" rtl="0" algn="l">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Azure Cache for Redis (HA)</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150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r h="283325">
                <a:tc>
                  <a:txBody>
                    <a:bodyPr/>
                    <a:lstStyle/>
                    <a:p>
                      <a:pPr indent="0" lvl="0" marL="0" marR="0" rtl="0" algn="l">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Key Vault, private networking &amp; DNS</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150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283325">
                <a:tc>
                  <a:txBody>
                    <a:bodyPr/>
                    <a:lstStyle/>
                    <a:p>
                      <a:pPr indent="0" lvl="0" marL="0" marR="0" rtl="0" algn="l">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Azure Blob Storage (ZRS + Versioning)</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c>
                  <a:txBody>
                    <a:bodyPr/>
                    <a:lstStyle/>
                    <a:p>
                      <a:pPr indent="0" lvl="0" marL="0" marR="0" rtl="0" algn="r">
                        <a:lnSpc>
                          <a:spcPct val="90000"/>
                        </a:lnSpc>
                        <a:spcBef>
                          <a:spcPts val="0"/>
                        </a:spcBef>
                        <a:spcAft>
                          <a:spcPts val="0"/>
                        </a:spcAft>
                        <a:buClr>
                          <a:srgbClr val="1A1A1A"/>
                        </a:buClr>
                        <a:buSzPts val="1200"/>
                        <a:buFont typeface="Arial"/>
                        <a:buNone/>
                      </a:pPr>
                      <a:r>
                        <a:rPr b="0" lang="en-US" sz="1200" u="none" strike="noStrike">
                          <a:solidFill>
                            <a:srgbClr val="1A1A1A"/>
                          </a:solidFill>
                          <a:latin typeface="Arial"/>
                          <a:ea typeface="Arial"/>
                          <a:cs typeface="Arial"/>
                          <a:sym typeface="Arial"/>
                        </a:rPr>
                        <a:t>120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6F9FC"/>
                    </a:solidFill>
                  </a:tcPr>
                </a:tc>
              </a:tr>
              <a:tr h="283325">
                <a:tc>
                  <a:txBody>
                    <a:bodyPr/>
                    <a:lstStyle/>
                    <a:p>
                      <a:pPr indent="0" lvl="0" marL="0" marR="0" rtl="0" algn="l">
                        <a:lnSpc>
                          <a:spcPct val="90000"/>
                        </a:lnSpc>
                        <a:spcBef>
                          <a:spcPts val="0"/>
                        </a:spcBef>
                        <a:spcAft>
                          <a:spcPts val="0"/>
                        </a:spcAft>
                        <a:buClr>
                          <a:srgbClr val="0E3A66"/>
                        </a:buClr>
                        <a:buSzPts val="1200"/>
                        <a:buFont typeface="Arial"/>
                        <a:buNone/>
                      </a:pPr>
                      <a:r>
                        <a:rPr b="1" lang="en-US" sz="1200" u="none" strike="noStrike">
                          <a:solidFill>
                            <a:srgbClr val="0E3A66"/>
                          </a:solidFill>
                          <a:latin typeface="Arial"/>
                          <a:ea typeface="Arial"/>
                          <a:cs typeface="Arial"/>
                          <a:sym typeface="Arial"/>
                        </a:rPr>
                        <a:t>Total (USD)</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EAF1F9"/>
                    </a:solidFill>
                  </a:tcPr>
                </a:tc>
                <a:tc>
                  <a:txBody>
                    <a:bodyPr/>
                    <a:lstStyle/>
                    <a:p>
                      <a:pPr indent="0" lvl="0" marL="0" marR="0" rtl="0" algn="r">
                        <a:lnSpc>
                          <a:spcPct val="90000"/>
                        </a:lnSpc>
                        <a:spcBef>
                          <a:spcPts val="0"/>
                        </a:spcBef>
                        <a:spcAft>
                          <a:spcPts val="0"/>
                        </a:spcAft>
                        <a:buClr>
                          <a:srgbClr val="0E3A66"/>
                        </a:buClr>
                        <a:buSzPts val="1200"/>
                        <a:buFont typeface="Arial"/>
                        <a:buNone/>
                      </a:pPr>
                      <a:r>
                        <a:rPr b="1" lang="en-US" sz="1200" u="none" strike="noStrike">
                          <a:solidFill>
                            <a:srgbClr val="0E3A66"/>
                          </a:solidFill>
                          <a:latin typeface="Arial"/>
                          <a:ea typeface="Arial"/>
                          <a:cs typeface="Arial"/>
                          <a:sym typeface="Arial"/>
                        </a:rPr>
                        <a:t>3,920</a:t>
                      </a:r>
                      <a:endParaRPr b="0" sz="1200" u="none" strike="noStrike">
                        <a:solidFill>
                          <a:srgbClr val="000000"/>
                        </a:solidFill>
                        <a:latin typeface="Arial"/>
                        <a:ea typeface="Arial"/>
                        <a:cs typeface="Arial"/>
                        <a:sym typeface="Arial"/>
                      </a:endParaRPr>
                    </a:p>
                  </a:txBody>
                  <a:tcPr marT="13675" marB="13675" marR="45725" marL="63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EAF1F9"/>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0"/>
          <p:cNvSpPr txBox="1"/>
          <p:nvPr>
            <p:ph type="ctrTitle"/>
          </p:nvPr>
        </p:nvSpPr>
        <p:spPr>
          <a:xfrm>
            <a:off x="1524000" y="1122363"/>
            <a:ext cx="9144000" cy="2387700"/>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dk1"/>
              </a:buClr>
              <a:buSzPts val="4400"/>
              <a:buFont typeface="Play"/>
              <a:buNone/>
            </a:pPr>
            <a:r>
              <a:rPr lang="en-US"/>
              <a:t>Q &amp; A</a:t>
            </a:r>
            <a:endParaRPr/>
          </a:p>
        </p:txBody>
      </p:sp>
      <p:sp>
        <p:nvSpPr>
          <p:cNvPr id="198" name="Google Shape;198;p30"/>
          <p:cNvSpPr txBox="1"/>
          <p:nvPr>
            <p:ph idx="1" type="subTitle"/>
          </p:nvPr>
        </p:nvSpPr>
        <p:spPr>
          <a:xfrm>
            <a:off x="1524000" y="3602038"/>
            <a:ext cx="9144000" cy="1655700"/>
          </a:xfrm>
          <a:prstGeom prst="rect">
            <a:avLst/>
          </a:prstGeom>
          <a:noFill/>
          <a:ln>
            <a:noFill/>
          </a:ln>
        </p:spPr>
        <p:txBody>
          <a:bodyPr anchorCtr="0" anchor="t" bIns="45700" lIns="91425" spcFirstLastPara="1" rIns="91425" wrap="square" tIns="45700">
            <a:normAutofit/>
          </a:bodyPr>
          <a:lstStyle/>
          <a:p>
            <a:pPr indent="-50800" lvl="0" marL="228600" rtl="0" algn="ctr">
              <a:lnSpc>
                <a:spcPct val="90000"/>
              </a:lnSpc>
              <a:spcBef>
                <a:spcPts val="0"/>
              </a:spcBef>
              <a:spcAft>
                <a:spcPts val="0"/>
              </a:spcAft>
              <a:buClr>
                <a:schemeClr val="dk1"/>
              </a:buClr>
              <a:buSzPts val="2800"/>
              <a:buNone/>
            </a:pPr>
            <a:r>
              <a:rPr lang="en-US" sz="3000"/>
              <a:t>Thank You</a:t>
            </a:r>
            <a:endParaRPr sz="30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