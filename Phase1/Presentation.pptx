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0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</p:sldIdLst>
  <p:sldSz cy="6858000" cx="12191675"/>
  <p:notesSz cx="6858000" cy="9144000"/>
  <p:embeddedFontLst>
    <p:embeddedFont>
      <p:font typeface="Arimo"/>
      <p:regular r:id="rId32"/>
      <p:bold r:id="rId33"/>
      <p:italic r:id="rId34"/>
      <p:boldItalic r:id="rId3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11" Type="http://schemas.openxmlformats.org/officeDocument/2006/relationships/slide" Target="slides/slide6.xml"/><Relationship Id="rId33" Type="http://schemas.openxmlformats.org/officeDocument/2006/relationships/font" Target="fonts/Arimo-bold.fntdata"/><Relationship Id="rId10" Type="http://schemas.openxmlformats.org/officeDocument/2006/relationships/slide" Target="slides/slide5.xml"/><Relationship Id="rId32" Type="http://schemas.openxmlformats.org/officeDocument/2006/relationships/font" Target="fonts/Arimo-regular.fntdata"/><Relationship Id="rId13" Type="http://schemas.openxmlformats.org/officeDocument/2006/relationships/slide" Target="slides/slide8.xml"/><Relationship Id="rId35" Type="http://schemas.openxmlformats.org/officeDocument/2006/relationships/font" Target="fonts/Arimo-boldItalic.fntdata"/><Relationship Id="rId12" Type="http://schemas.openxmlformats.org/officeDocument/2006/relationships/slide" Target="slides/slide7.xml"/><Relationship Id="rId34" Type="http://schemas.openxmlformats.org/officeDocument/2006/relationships/font" Target="fonts/Arimo-italic.fntdata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" name="Google Shape;83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QuanNH40</a:t>
            </a:r>
            <a:endParaRPr/>
          </a:p>
        </p:txBody>
      </p:sp>
      <p:sp>
        <p:nvSpPr>
          <p:cNvPr id="130" name="Google Shape;130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3f61ed39cf9_3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QuanNH40</a:t>
            </a:r>
            <a:endParaRPr/>
          </a:p>
        </p:txBody>
      </p:sp>
      <p:sp>
        <p:nvSpPr>
          <p:cNvPr id="139" name="Google Shape;139;g3f61ed39cf9_3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QuanNH40</a:t>
            </a:r>
            <a:endParaRPr/>
          </a:p>
        </p:txBody>
      </p:sp>
      <p:sp>
        <p:nvSpPr>
          <p:cNvPr id="177" name="Google Shape;177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ThangLC9</a:t>
            </a:r>
            <a:endParaRPr/>
          </a:p>
        </p:txBody>
      </p:sp>
      <p:sp>
        <p:nvSpPr>
          <p:cNvPr id="229" name="Google Shape;229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ThangLC9</a:t>
            </a:r>
            <a:endParaRPr/>
          </a:p>
        </p:txBody>
      </p:sp>
      <p:sp>
        <p:nvSpPr>
          <p:cNvPr id="264" name="Google Shape;264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ThangPD17</a:t>
            </a:r>
            <a:endParaRPr/>
          </a:p>
        </p:txBody>
      </p:sp>
      <p:sp>
        <p:nvSpPr>
          <p:cNvPr id="291" name="Google Shape;291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7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solidFill>
                  <a:schemeClr val="dk1"/>
                </a:solidFill>
              </a:rPr>
              <a:t>ThangPD17</a:t>
            </a:r>
            <a:endParaRPr/>
          </a:p>
        </p:txBody>
      </p:sp>
      <p:sp>
        <p:nvSpPr>
          <p:cNvPr id="329" name="Google Shape;329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6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g3f61e1218ab_1_26:notes"/>
          <p:cNvSpPr/>
          <p:nvPr>
            <p:ph idx="2" type="sldImg"/>
          </p:nvPr>
        </p:nvSpPr>
        <p:spPr>
          <a:xfrm>
            <a:off x="457249" y="571500"/>
            <a:ext cx="3657600" cy="15432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77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38" name="Google Shape;338;g3f61e1218ab_1_26:notes"/>
          <p:cNvSpPr txBox="1"/>
          <p:nvPr>
            <p:ph idx="1" type="body"/>
          </p:nvPr>
        </p:nvSpPr>
        <p:spPr>
          <a:xfrm>
            <a:off x="457200" y="2200275"/>
            <a:ext cx="3657600" cy="18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27925" lIns="55875" spcFirstLastPara="1" rIns="55875" wrap="square" tIns="279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DatPT125</a:t>
            </a:r>
            <a:endParaRPr/>
          </a:p>
        </p:txBody>
      </p:sp>
      <p:sp>
        <p:nvSpPr>
          <p:cNvPr id="339" name="Google Shape;339;g3f61e1218ab_1_26:notes"/>
          <p:cNvSpPr txBox="1"/>
          <p:nvPr>
            <p:ph idx="12" type="sldNum"/>
          </p:nvPr>
        </p:nvSpPr>
        <p:spPr>
          <a:xfrm>
            <a:off x="2589742" y="4342607"/>
            <a:ext cx="1981200" cy="229500"/>
          </a:xfrm>
          <a:prstGeom prst="rect">
            <a:avLst/>
          </a:prstGeom>
          <a:noFill/>
          <a:ln>
            <a:noFill/>
          </a:ln>
        </p:spPr>
        <p:txBody>
          <a:bodyPr anchorCtr="0" anchor="b" bIns="27925" lIns="55875" spcFirstLastPara="1" rIns="55875" wrap="square" tIns="279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900"/>
              <a:t>‹#›</a:t>
            </a:fld>
            <a:endParaRPr sz="90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9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g3f61ed39cf9_4_5:notes"/>
          <p:cNvSpPr/>
          <p:nvPr>
            <p:ph idx="2" type="sldImg"/>
          </p:nvPr>
        </p:nvSpPr>
        <p:spPr>
          <a:xfrm>
            <a:off x="457249" y="571500"/>
            <a:ext cx="3657600" cy="15432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77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51" name="Google Shape;351;g3f61ed39cf9_4_5:notes"/>
          <p:cNvSpPr txBox="1"/>
          <p:nvPr>
            <p:ph idx="1" type="body"/>
          </p:nvPr>
        </p:nvSpPr>
        <p:spPr>
          <a:xfrm>
            <a:off x="457200" y="2200275"/>
            <a:ext cx="3657600" cy="18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27925" lIns="55875" spcFirstLastPara="1" rIns="55875" wrap="square" tIns="279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>
                <a:solidFill>
                  <a:schemeClr val="dk1"/>
                </a:solidFill>
              </a:rPr>
              <a:t>DatPT125</a:t>
            </a:r>
            <a:endParaRPr/>
          </a:p>
        </p:txBody>
      </p:sp>
      <p:sp>
        <p:nvSpPr>
          <p:cNvPr id="352" name="Google Shape;352;g3f61ed39cf9_4_5:notes"/>
          <p:cNvSpPr txBox="1"/>
          <p:nvPr>
            <p:ph idx="12" type="sldNum"/>
          </p:nvPr>
        </p:nvSpPr>
        <p:spPr>
          <a:xfrm>
            <a:off x="2589742" y="4342607"/>
            <a:ext cx="1981200" cy="229500"/>
          </a:xfrm>
          <a:prstGeom prst="rect">
            <a:avLst/>
          </a:prstGeom>
          <a:noFill/>
          <a:ln>
            <a:noFill/>
          </a:ln>
        </p:spPr>
        <p:txBody>
          <a:bodyPr anchorCtr="0" anchor="b" bIns="27925" lIns="55875" spcFirstLastPara="1" rIns="55875" wrap="square" tIns="279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900"/>
              <a:t>‹#›</a:t>
            </a:fld>
            <a:endParaRPr sz="90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0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Google Shape;361;g3f61ed39cf9_4_15:notes"/>
          <p:cNvSpPr/>
          <p:nvPr>
            <p:ph idx="2" type="sldImg"/>
          </p:nvPr>
        </p:nvSpPr>
        <p:spPr>
          <a:xfrm>
            <a:off x="457249" y="571500"/>
            <a:ext cx="3657600" cy="15432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77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62" name="Google Shape;362;g3f61ed39cf9_4_15:notes"/>
          <p:cNvSpPr txBox="1"/>
          <p:nvPr>
            <p:ph idx="1" type="body"/>
          </p:nvPr>
        </p:nvSpPr>
        <p:spPr>
          <a:xfrm>
            <a:off x="457200" y="2200275"/>
            <a:ext cx="3657600" cy="18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27925" lIns="55875" spcFirstLastPara="1" rIns="55875" wrap="square" tIns="279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>
                <a:solidFill>
                  <a:schemeClr val="dk1"/>
                </a:solidFill>
              </a:rPr>
              <a:t>DatPT125</a:t>
            </a:r>
            <a:endParaRPr/>
          </a:p>
        </p:txBody>
      </p:sp>
      <p:sp>
        <p:nvSpPr>
          <p:cNvPr id="363" name="Google Shape;363;g3f61ed39cf9_4_15:notes"/>
          <p:cNvSpPr txBox="1"/>
          <p:nvPr>
            <p:ph idx="12" type="sldNum"/>
          </p:nvPr>
        </p:nvSpPr>
        <p:spPr>
          <a:xfrm>
            <a:off x="2589742" y="4342607"/>
            <a:ext cx="1981200" cy="229500"/>
          </a:xfrm>
          <a:prstGeom prst="rect">
            <a:avLst/>
          </a:prstGeom>
          <a:noFill/>
          <a:ln>
            <a:noFill/>
          </a:ln>
        </p:spPr>
        <p:txBody>
          <a:bodyPr anchorCtr="0" anchor="b" bIns="27925" lIns="55875" spcFirstLastPara="1" rIns="55875" wrap="square" tIns="279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900"/>
              <a:t>‹#›</a:t>
            </a:fld>
            <a:endParaRPr sz="90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Google Shape;382;g3f61ed39cf9_4_35:notes"/>
          <p:cNvSpPr/>
          <p:nvPr>
            <p:ph idx="2" type="sldImg"/>
          </p:nvPr>
        </p:nvSpPr>
        <p:spPr>
          <a:xfrm>
            <a:off x="457249" y="571500"/>
            <a:ext cx="3657600" cy="15432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77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83" name="Google Shape;383;g3f61ed39cf9_4_35:notes"/>
          <p:cNvSpPr txBox="1"/>
          <p:nvPr>
            <p:ph idx="1" type="body"/>
          </p:nvPr>
        </p:nvSpPr>
        <p:spPr>
          <a:xfrm>
            <a:off x="457200" y="2200275"/>
            <a:ext cx="3657600" cy="18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27925" lIns="55875" spcFirstLastPara="1" rIns="55875" wrap="square" tIns="279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>
                <a:solidFill>
                  <a:schemeClr val="dk1"/>
                </a:solidFill>
              </a:rPr>
              <a:t>DatPT125</a:t>
            </a:r>
            <a:endParaRPr/>
          </a:p>
        </p:txBody>
      </p:sp>
      <p:sp>
        <p:nvSpPr>
          <p:cNvPr id="384" name="Google Shape;384;g3f61ed39cf9_4_35:notes"/>
          <p:cNvSpPr txBox="1"/>
          <p:nvPr>
            <p:ph idx="12" type="sldNum"/>
          </p:nvPr>
        </p:nvSpPr>
        <p:spPr>
          <a:xfrm>
            <a:off x="2589742" y="4342607"/>
            <a:ext cx="1981200" cy="229500"/>
          </a:xfrm>
          <a:prstGeom prst="rect">
            <a:avLst/>
          </a:prstGeom>
          <a:noFill/>
          <a:ln>
            <a:noFill/>
          </a:ln>
        </p:spPr>
        <p:txBody>
          <a:bodyPr anchorCtr="0" anchor="b" bIns="27925" lIns="55875" spcFirstLastPara="1" rIns="55875" wrap="square" tIns="279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900"/>
              <a:t>‹#›</a:t>
            </a:fld>
            <a:endParaRPr sz="90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0" name="Shape 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" name="Google Shape;411;g3f61ed39cf9_4_63:notes"/>
          <p:cNvSpPr/>
          <p:nvPr>
            <p:ph idx="2" type="sldImg"/>
          </p:nvPr>
        </p:nvSpPr>
        <p:spPr>
          <a:xfrm>
            <a:off x="457249" y="571500"/>
            <a:ext cx="3657600" cy="15432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77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12" name="Google Shape;412;g3f61ed39cf9_4_63:notes"/>
          <p:cNvSpPr txBox="1"/>
          <p:nvPr>
            <p:ph idx="1" type="body"/>
          </p:nvPr>
        </p:nvSpPr>
        <p:spPr>
          <a:xfrm>
            <a:off x="457200" y="2200275"/>
            <a:ext cx="3657600" cy="18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27925" lIns="55875" spcFirstLastPara="1" rIns="55875" wrap="square" tIns="279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>
                <a:solidFill>
                  <a:schemeClr val="dk1"/>
                </a:solidFill>
              </a:rPr>
              <a:t>DatPT125</a:t>
            </a:r>
            <a:endParaRPr/>
          </a:p>
        </p:txBody>
      </p:sp>
      <p:sp>
        <p:nvSpPr>
          <p:cNvPr id="413" name="Google Shape;413;g3f61ed39cf9_4_63:notes"/>
          <p:cNvSpPr txBox="1"/>
          <p:nvPr>
            <p:ph idx="12" type="sldNum"/>
          </p:nvPr>
        </p:nvSpPr>
        <p:spPr>
          <a:xfrm>
            <a:off x="2589742" y="4342607"/>
            <a:ext cx="1981200" cy="229500"/>
          </a:xfrm>
          <a:prstGeom prst="rect">
            <a:avLst/>
          </a:prstGeom>
          <a:noFill/>
          <a:ln>
            <a:noFill/>
          </a:ln>
        </p:spPr>
        <p:txBody>
          <a:bodyPr anchorCtr="0" anchor="b" bIns="27925" lIns="55875" spcFirstLastPara="1" rIns="55875" wrap="square" tIns="279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900"/>
              <a:t>‹#›</a:t>
            </a:fld>
            <a:endParaRPr sz="900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4" name="Shape 4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5" name="Google Shape;455;g3f61ed39cf9_4_106:notes"/>
          <p:cNvSpPr/>
          <p:nvPr>
            <p:ph idx="2" type="sldImg"/>
          </p:nvPr>
        </p:nvSpPr>
        <p:spPr>
          <a:xfrm>
            <a:off x="457249" y="571500"/>
            <a:ext cx="3657600" cy="15432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77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56" name="Google Shape;456;g3f61ed39cf9_4_106:notes"/>
          <p:cNvSpPr txBox="1"/>
          <p:nvPr>
            <p:ph idx="1" type="body"/>
          </p:nvPr>
        </p:nvSpPr>
        <p:spPr>
          <a:xfrm>
            <a:off x="457200" y="2200275"/>
            <a:ext cx="3657600" cy="18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27925" lIns="55875" spcFirstLastPara="1" rIns="55875" wrap="square" tIns="279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>
                <a:solidFill>
                  <a:schemeClr val="dk1"/>
                </a:solidFill>
              </a:rPr>
              <a:t>DatPT125</a:t>
            </a:r>
            <a:endParaRPr/>
          </a:p>
        </p:txBody>
      </p:sp>
      <p:sp>
        <p:nvSpPr>
          <p:cNvPr id="457" name="Google Shape;457;g3f61ed39cf9_4_106:notes"/>
          <p:cNvSpPr txBox="1"/>
          <p:nvPr>
            <p:ph idx="12" type="sldNum"/>
          </p:nvPr>
        </p:nvSpPr>
        <p:spPr>
          <a:xfrm>
            <a:off x="2589742" y="4342607"/>
            <a:ext cx="1981200" cy="229500"/>
          </a:xfrm>
          <a:prstGeom prst="rect">
            <a:avLst/>
          </a:prstGeom>
          <a:noFill/>
          <a:ln>
            <a:noFill/>
          </a:ln>
        </p:spPr>
        <p:txBody>
          <a:bodyPr anchorCtr="0" anchor="b" bIns="27925" lIns="55875" spcFirstLastPara="1" rIns="55875" wrap="square" tIns="279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900"/>
              <a:t>‹#›</a:t>
            </a:fld>
            <a:endParaRPr sz="900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4" name="Shape 4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5" name="Google Shape;495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AnhNH101</a:t>
            </a:r>
            <a:endParaRPr/>
          </a:p>
        </p:txBody>
      </p:sp>
      <p:sp>
        <p:nvSpPr>
          <p:cNvPr id="496" name="Google Shape;496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6" name="Shape 5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7" name="Google Shape;537;g3f61ed39cf9_6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solidFill>
                  <a:schemeClr val="dk1"/>
                </a:solidFill>
              </a:rPr>
              <a:t>AnhNH101</a:t>
            </a:r>
            <a:endParaRPr/>
          </a:p>
        </p:txBody>
      </p:sp>
      <p:sp>
        <p:nvSpPr>
          <p:cNvPr id="538" name="Google Shape;538;g3f61ed39cf9_6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5" name="Shape 5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6" name="Google Shape;546;g3f61ed39cf9_6_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solidFill>
                  <a:schemeClr val="dk1"/>
                </a:solidFill>
              </a:rPr>
              <a:t>AnhNH101</a:t>
            </a:r>
            <a:endParaRPr/>
          </a:p>
        </p:txBody>
      </p:sp>
      <p:sp>
        <p:nvSpPr>
          <p:cNvPr id="547" name="Google Shape;547;g3f61ed39cf9_6_4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4" name="Shape 5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5" name="Google Shape;555;g3f61ed39cf9_6_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solidFill>
                  <a:schemeClr val="dk1"/>
                </a:solidFill>
              </a:rPr>
              <a:t>AnhNH101</a:t>
            </a:r>
            <a:endParaRPr/>
          </a:p>
        </p:txBody>
      </p:sp>
      <p:sp>
        <p:nvSpPr>
          <p:cNvPr id="556" name="Google Shape;556;g3f61ed39cf9_6_5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3" name="Shape 5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4" name="Google Shape;564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QuanNH40</a:t>
            </a:r>
            <a:endParaRPr/>
          </a:p>
        </p:txBody>
      </p:sp>
      <p:sp>
        <p:nvSpPr>
          <p:cNvPr id="565" name="Google Shape;565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1" name="Shape 5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2" name="Google Shape;572;g3f61ed39cf9_4_2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solidFill>
                  <a:schemeClr val="dk1"/>
                </a:solidFill>
              </a:rPr>
              <a:t>QuanNH40</a:t>
            </a:r>
            <a:endParaRPr/>
          </a:p>
        </p:txBody>
      </p:sp>
      <p:sp>
        <p:nvSpPr>
          <p:cNvPr id="573" name="Google Shape;573;g3f61ed39cf9_4_22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0" name="Shape 6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1" name="Google Shape;611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solidFill>
                  <a:schemeClr val="dk1"/>
                </a:solidFill>
              </a:rPr>
              <a:t>QuanNH40</a:t>
            </a:r>
            <a:endParaRPr/>
          </a:p>
        </p:txBody>
      </p:sp>
      <p:sp>
        <p:nvSpPr>
          <p:cNvPr id="612" name="Google Shape;612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3" name="Shape 6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4" name="Google Shape;674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solidFill>
                  <a:schemeClr val="dk1"/>
                </a:solidFill>
              </a:rPr>
              <a:t>QuanNH40</a:t>
            </a:r>
            <a:endParaRPr/>
          </a:p>
        </p:txBody>
      </p:sp>
      <p:sp>
        <p:nvSpPr>
          <p:cNvPr id="675" name="Google Shape;675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7" name="Shape 7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8" name="Google Shape;718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9" name="Google Shape;719;p1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6" name="Shape 7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7" name="Google Shape;777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8" name="Google Shape;778;p1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0" name="Shape 8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1" name="Google Shape;871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2" name="Google Shape;872;p1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6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8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5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1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2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0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9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3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4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7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E3A66"/>
        </a:solidFill>
      </p:bgPr>
    </p:bg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4"/>
          <p:cNvSpPr/>
          <p:nvPr/>
        </p:nvSpPr>
        <p:spPr>
          <a:xfrm>
            <a:off x="0" y="0"/>
            <a:ext cx="12191695" cy="91440"/>
          </a:xfrm>
          <a:prstGeom prst="roundRect">
            <a:avLst>
              <a:gd fmla="val 16667" name="adj"/>
            </a:avLst>
          </a:prstGeom>
          <a:solidFill>
            <a:srgbClr val="E0A3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14"/>
          <p:cNvSpPr txBox="1"/>
          <p:nvPr/>
        </p:nvSpPr>
        <p:spPr>
          <a:xfrm>
            <a:off x="914400" y="1371600"/>
            <a:ext cx="10058400" cy="2286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AI Document Audit &amp;</a:t>
            </a:r>
            <a:br>
              <a:rPr b="1" i="0" lang="en-US" sz="4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4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Knowledge Assistant System</a:t>
            </a:r>
            <a:endParaRPr/>
          </a:p>
        </p:txBody>
      </p:sp>
      <p:sp>
        <p:nvSpPr>
          <p:cNvPr id="87" name="Google Shape;87;p14"/>
          <p:cNvSpPr txBox="1"/>
          <p:nvPr/>
        </p:nvSpPr>
        <p:spPr>
          <a:xfrm>
            <a:off x="914400" y="3474720"/>
            <a:ext cx="100584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00" u="none" cap="none" strike="noStrike">
                <a:solidFill>
                  <a:srgbClr val="BBCCDD"/>
                </a:solidFill>
                <a:latin typeface="Calibri"/>
                <a:ea typeface="Calibri"/>
                <a:cs typeface="Calibri"/>
                <a:sym typeface="Calibri"/>
              </a:rPr>
              <a:t>Technical Proposal &amp; Solution Architecture</a:t>
            </a:r>
            <a:endParaRPr/>
          </a:p>
        </p:txBody>
      </p:sp>
      <p:sp>
        <p:nvSpPr>
          <p:cNvPr id="88" name="Google Shape;88;p14"/>
          <p:cNvSpPr/>
          <p:nvPr/>
        </p:nvSpPr>
        <p:spPr>
          <a:xfrm>
            <a:off x="5029200" y="4206240"/>
            <a:ext cx="2103120" cy="38100"/>
          </a:xfrm>
          <a:prstGeom prst="roundRect">
            <a:avLst>
              <a:gd fmla="val 16667" name="adj"/>
            </a:avLst>
          </a:prstGeom>
          <a:solidFill>
            <a:srgbClr val="E0A3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14"/>
          <p:cNvSpPr txBox="1"/>
          <p:nvPr/>
        </p:nvSpPr>
        <p:spPr>
          <a:xfrm>
            <a:off x="914400" y="4754880"/>
            <a:ext cx="10058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E0A300"/>
                </a:solidFill>
                <a:latin typeface="Calibri"/>
                <a:ea typeface="Calibri"/>
                <a:cs typeface="Calibri"/>
                <a:sym typeface="Calibri"/>
              </a:rPr>
              <a:t>Group 6 — FPT Software</a:t>
            </a:r>
            <a:endParaRPr/>
          </a:p>
        </p:txBody>
      </p:sp>
      <p:sp>
        <p:nvSpPr>
          <p:cNvPr id="90" name="Google Shape;90;p14"/>
          <p:cNvSpPr txBox="1"/>
          <p:nvPr/>
        </p:nvSpPr>
        <p:spPr>
          <a:xfrm>
            <a:off x="914400" y="5303520"/>
            <a:ext cx="10058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99AABB"/>
                </a:solidFill>
                <a:latin typeface="Calibri"/>
                <a:ea typeface="Calibri"/>
                <a:cs typeface="Calibri"/>
                <a:sym typeface="Calibri"/>
              </a:rPr>
              <a:t>August 2026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5"/>
          <p:cNvSpPr/>
          <p:nvPr/>
        </p:nvSpPr>
        <p:spPr>
          <a:xfrm>
            <a:off x="0" y="0"/>
            <a:ext cx="12191695" cy="1051560"/>
          </a:xfrm>
          <a:prstGeom prst="roundRect">
            <a:avLst>
              <a:gd fmla="val 16667" name="adj"/>
            </a:avLst>
          </a:prstGeom>
          <a:solidFill>
            <a:srgbClr val="0E3A6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15"/>
          <p:cNvSpPr txBox="1"/>
          <p:nvPr/>
        </p:nvSpPr>
        <p:spPr>
          <a:xfrm>
            <a:off x="548640" y="137160"/>
            <a:ext cx="91440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Agenda</a:t>
            </a:r>
            <a:endParaRPr/>
          </a:p>
        </p:txBody>
      </p:sp>
      <p:sp>
        <p:nvSpPr>
          <p:cNvPr id="97" name="Google Shape;97;p15"/>
          <p:cNvSpPr/>
          <p:nvPr/>
        </p:nvSpPr>
        <p:spPr>
          <a:xfrm>
            <a:off x="0" y="1051560"/>
            <a:ext cx="12191695" cy="50800"/>
          </a:xfrm>
          <a:prstGeom prst="roundRect">
            <a:avLst>
              <a:gd fmla="val 16667" name="adj"/>
            </a:avLst>
          </a:prstGeom>
          <a:solidFill>
            <a:srgbClr val="E0A3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15"/>
          <p:cNvSpPr/>
          <p:nvPr/>
        </p:nvSpPr>
        <p:spPr>
          <a:xfrm>
            <a:off x="731520" y="1417320"/>
            <a:ext cx="10515600" cy="658368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DDDD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15"/>
          <p:cNvSpPr/>
          <p:nvPr/>
        </p:nvSpPr>
        <p:spPr>
          <a:xfrm>
            <a:off x="914400" y="1517904"/>
            <a:ext cx="457200" cy="457200"/>
          </a:xfrm>
          <a:prstGeom prst="roundRect">
            <a:avLst>
              <a:gd fmla="val 16667" name="adj"/>
            </a:avLst>
          </a:prstGeom>
          <a:solidFill>
            <a:srgbClr val="11559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15"/>
          <p:cNvSpPr txBox="1"/>
          <p:nvPr/>
        </p:nvSpPr>
        <p:spPr>
          <a:xfrm>
            <a:off x="914400" y="1517904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101" name="Google Shape;101;p15"/>
          <p:cNvSpPr txBox="1"/>
          <p:nvPr/>
        </p:nvSpPr>
        <p:spPr>
          <a:xfrm>
            <a:off x="1554480" y="1554480"/>
            <a:ext cx="73152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0E3A66"/>
                </a:solidFill>
                <a:latin typeface="Calibri"/>
                <a:ea typeface="Calibri"/>
                <a:cs typeface="Calibri"/>
                <a:sym typeface="Calibri"/>
              </a:rPr>
              <a:t>Problem Statement &amp; Customer Challenges</a:t>
            </a:r>
            <a:endParaRPr/>
          </a:p>
        </p:txBody>
      </p:sp>
      <p:sp>
        <p:nvSpPr>
          <p:cNvPr id="102" name="Google Shape;102;p15"/>
          <p:cNvSpPr txBox="1"/>
          <p:nvPr/>
        </p:nvSpPr>
        <p:spPr>
          <a:xfrm>
            <a:off x="9601200" y="1554480"/>
            <a:ext cx="13716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0F766E"/>
                </a:solidFill>
                <a:latin typeface="Calibri"/>
                <a:ea typeface="Calibri"/>
                <a:cs typeface="Calibri"/>
                <a:sym typeface="Calibri"/>
              </a:rPr>
              <a:t>3 min</a:t>
            </a:r>
            <a:endParaRPr/>
          </a:p>
        </p:txBody>
      </p:sp>
      <p:sp>
        <p:nvSpPr>
          <p:cNvPr id="103" name="Google Shape;103;p15"/>
          <p:cNvSpPr/>
          <p:nvPr/>
        </p:nvSpPr>
        <p:spPr>
          <a:xfrm>
            <a:off x="731520" y="2221992"/>
            <a:ext cx="10515600" cy="658368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DDDD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15"/>
          <p:cNvSpPr/>
          <p:nvPr/>
        </p:nvSpPr>
        <p:spPr>
          <a:xfrm>
            <a:off x="914400" y="2322576"/>
            <a:ext cx="457200" cy="457200"/>
          </a:xfrm>
          <a:prstGeom prst="roundRect">
            <a:avLst>
              <a:gd fmla="val 16667" name="adj"/>
            </a:avLst>
          </a:prstGeom>
          <a:solidFill>
            <a:srgbClr val="11559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15"/>
          <p:cNvSpPr txBox="1"/>
          <p:nvPr/>
        </p:nvSpPr>
        <p:spPr>
          <a:xfrm>
            <a:off x="914400" y="2322576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/>
          </a:p>
        </p:txBody>
      </p:sp>
      <p:sp>
        <p:nvSpPr>
          <p:cNvPr id="106" name="Google Shape;106;p15"/>
          <p:cNvSpPr txBox="1"/>
          <p:nvPr/>
        </p:nvSpPr>
        <p:spPr>
          <a:xfrm>
            <a:off x="1554480" y="2359152"/>
            <a:ext cx="73152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0E3A66"/>
                </a:solidFill>
                <a:latin typeface="Calibri"/>
                <a:ea typeface="Calibri"/>
                <a:cs typeface="Calibri"/>
                <a:sym typeface="Calibri"/>
              </a:rPr>
              <a:t>Requirements: Functional, Non-Functional, Constraints &amp; Assumptions</a:t>
            </a:r>
            <a:endParaRPr/>
          </a:p>
        </p:txBody>
      </p:sp>
      <p:sp>
        <p:nvSpPr>
          <p:cNvPr id="107" name="Google Shape;107;p15"/>
          <p:cNvSpPr txBox="1"/>
          <p:nvPr/>
        </p:nvSpPr>
        <p:spPr>
          <a:xfrm>
            <a:off x="9601200" y="2359152"/>
            <a:ext cx="13716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0F766E"/>
                </a:solidFill>
                <a:latin typeface="Calibri"/>
                <a:ea typeface="Calibri"/>
                <a:cs typeface="Calibri"/>
                <a:sym typeface="Calibri"/>
              </a:rPr>
              <a:t>2 min</a:t>
            </a:r>
            <a:endParaRPr/>
          </a:p>
        </p:txBody>
      </p:sp>
      <p:sp>
        <p:nvSpPr>
          <p:cNvPr id="108" name="Google Shape;108;p15"/>
          <p:cNvSpPr/>
          <p:nvPr/>
        </p:nvSpPr>
        <p:spPr>
          <a:xfrm>
            <a:off x="731520" y="3026664"/>
            <a:ext cx="10515600" cy="658368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DDDD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15"/>
          <p:cNvSpPr/>
          <p:nvPr/>
        </p:nvSpPr>
        <p:spPr>
          <a:xfrm>
            <a:off x="914400" y="3127248"/>
            <a:ext cx="457200" cy="457200"/>
          </a:xfrm>
          <a:prstGeom prst="roundRect">
            <a:avLst>
              <a:gd fmla="val 16667" name="adj"/>
            </a:avLst>
          </a:prstGeom>
          <a:solidFill>
            <a:srgbClr val="11559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15"/>
          <p:cNvSpPr txBox="1"/>
          <p:nvPr/>
        </p:nvSpPr>
        <p:spPr>
          <a:xfrm>
            <a:off x="914400" y="3127248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/>
          </a:p>
        </p:txBody>
      </p:sp>
      <p:sp>
        <p:nvSpPr>
          <p:cNvPr id="111" name="Google Shape;111;p15"/>
          <p:cNvSpPr txBox="1"/>
          <p:nvPr/>
        </p:nvSpPr>
        <p:spPr>
          <a:xfrm>
            <a:off x="1554480" y="3163824"/>
            <a:ext cx="73152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0E3A66"/>
                </a:solidFill>
                <a:latin typeface="Calibri"/>
                <a:ea typeface="Calibri"/>
                <a:cs typeface="Calibri"/>
                <a:sym typeface="Calibri"/>
              </a:rPr>
              <a:t>Solution Architecture — 4+1 View Model</a:t>
            </a:r>
            <a:endParaRPr/>
          </a:p>
        </p:txBody>
      </p:sp>
      <p:sp>
        <p:nvSpPr>
          <p:cNvPr id="112" name="Google Shape;112;p15"/>
          <p:cNvSpPr txBox="1"/>
          <p:nvPr/>
        </p:nvSpPr>
        <p:spPr>
          <a:xfrm>
            <a:off x="9601200" y="3163824"/>
            <a:ext cx="13716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0F766E"/>
                </a:solidFill>
                <a:latin typeface="Calibri"/>
                <a:ea typeface="Calibri"/>
                <a:cs typeface="Calibri"/>
                <a:sym typeface="Calibri"/>
              </a:rPr>
              <a:t>5 min</a:t>
            </a:r>
            <a:endParaRPr/>
          </a:p>
        </p:txBody>
      </p:sp>
      <p:sp>
        <p:nvSpPr>
          <p:cNvPr id="113" name="Google Shape;113;p15"/>
          <p:cNvSpPr/>
          <p:nvPr/>
        </p:nvSpPr>
        <p:spPr>
          <a:xfrm>
            <a:off x="731520" y="3831336"/>
            <a:ext cx="10515600" cy="658368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DDDD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15"/>
          <p:cNvSpPr/>
          <p:nvPr/>
        </p:nvSpPr>
        <p:spPr>
          <a:xfrm>
            <a:off x="914400" y="3931920"/>
            <a:ext cx="457200" cy="457200"/>
          </a:xfrm>
          <a:prstGeom prst="roundRect">
            <a:avLst>
              <a:gd fmla="val 16667" name="adj"/>
            </a:avLst>
          </a:prstGeom>
          <a:solidFill>
            <a:srgbClr val="11559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15"/>
          <p:cNvSpPr txBox="1"/>
          <p:nvPr/>
        </p:nvSpPr>
        <p:spPr>
          <a:xfrm>
            <a:off x="914400" y="393192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/>
          </a:p>
        </p:txBody>
      </p:sp>
      <p:sp>
        <p:nvSpPr>
          <p:cNvPr id="116" name="Google Shape;116;p15"/>
          <p:cNvSpPr txBox="1"/>
          <p:nvPr/>
        </p:nvSpPr>
        <p:spPr>
          <a:xfrm>
            <a:off x="1554480" y="3968496"/>
            <a:ext cx="73152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0E3A66"/>
                </a:solidFill>
                <a:latin typeface="Calibri"/>
                <a:ea typeface="Calibri"/>
                <a:cs typeface="Calibri"/>
                <a:sym typeface="Calibri"/>
              </a:rPr>
              <a:t>Solution Benefits</a:t>
            </a:r>
            <a:endParaRPr/>
          </a:p>
        </p:txBody>
      </p:sp>
      <p:sp>
        <p:nvSpPr>
          <p:cNvPr id="117" name="Google Shape;117;p15"/>
          <p:cNvSpPr txBox="1"/>
          <p:nvPr/>
        </p:nvSpPr>
        <p:spPr>
          <a:xfrm>
            <a:off x="9601200" y="3968496"/>
            <a:ext cx="13716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0F766E"/>
                </a:solidFill>
                <a:latin typeface="Calibri"/>
                <a:ea typeface="Calibri"/>
                <a:cs typeface="Calibri"/>
                <a:sym typeface="Calibri"/>
              </a:rPr>
              <a:t>2 min</a:t>
            </a:r>
            <a:endParaRPr/>
          </a:p>
        </p:txBody>
      </p:sp>
      <p:sp>
        <p:nvSpPr>
          <p:cNvPr id="118" name="Google Shape;118;p15"/>
          <p:cNvSpPr/>
          <p:nvPr/>
        </p:nvSpPr>
        <p:spPr>
          <a:xfrm>
            <a:off x="731520" y="4636008"/>
            <a:ext cx="10515600" cy="658368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DDDD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15"/>
          <p:cNvSpPr/>
          <p:nvPr/>
        </p:nvSpPr>
        <p:spPr>
          <a:xfrm>
            <a:off x="914400" y="4736592"/>
            <a:ext cx="457200" cy="457200"/>
          </a:xfrm>
          <a:prstGeom prst="roundRect">
            <a:avLst>
              <a:gd fmla="val 16667" name="adj"/>
            </a:avLst>
          </a:prstGeom>
          <a:solidFill>
            <a:srgbClr val="11559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15"/>
          <p:cNvSpPr txBox="1"/>
          <p:nvPr/>
        </p:nvSpPr>
        <p:spPr>
          <a:xfrm>
            <a:off x="914400" y="4736592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/>
          </a:p>
        </p:txBody>
      </p:sp>
      <p:sp>
        <p:nvSpPr>
          <p:cNvPr id="121" name="Google Shape;121;p15"/>
          <p:cNvSpPr txBox="1"/>
          <p:nvPr/>
        </p:nvSpPr>
        <p:spPr>
          <a:xfrm>
            <a:off x="1554480" y="4773168"/>
            <a:ext cx="7315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0E3A66"/>
                </a:solidFill>
                <a:latin typeface="Calibri"/>
                <a:ea typeface="Calibri"/>
                <a:cs typeface="Calibri"/>
                <a:sym typeface="Calibri"/>
              </a:rPr>
              <a:t>Estimation: Development Effort &amp; Infrastructure Cost</a:t>
            </a:r>
            <a:endParaRPr/>
          </a:p>
        </p:txBody>
      </p:sp>
      <p:sp>
        <p:nvSpPr>
          <p:cNvPr id="122" name="Google Shape;122;p15"/>
          <p:cNvSpPr txBox="1"/>
          <p:nvPr/>
        </p:nvSpPr>
        <p:spPr>
          <a:xfrm>
            <a:off x="9601200" y="4773168"/>
            <a:ext cx="13716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0F766E"/>
                </a:solidFill>
                <a:latin typeface="Calibri"/>
                <a:ea typeface="Calibri"/>
                <a:cs typeface="Calibri"/>
                <a:sym typeface="Calibri"/>
              </a:rPr>
              <a:t>2 min</a:t>
            </a:r>
            <a:endParaRPr/>
          </a:p>
        </p:txBody>
      </p:sp>
      <p:sp>
        <p:nvSpPr>
          <p:cNvPr id="123" name="Google Shape;123;p15"/>
          <p:cNvSpPr/>
          <p:nvPr/>
        </p:nvSpPr>
        <p:spPr>
          <a:xfrm>
            <a:off x="731520" y="5440680"/>
            <a:ext cx="10515600" cy="658368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DDDD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15"/>
          <p:cNvSpPr/>
          <p:nvPr/>
        </p:nvSpPr>
        <p:spPr>
          <a:xfrm>
            <a:off x="914400" y="5541264"/>
            <a:ext cx="457200" cy="457200"/>
          </a:xfrm>
          <a:prstGeom prst="roundRect">
            <a:avLst>
              <a:gd fmla="val 16667" name="adj"/>
            </a:avLst>
          </a:prstGeom>
          <a:solidFill>
            <a:srgbClr val="11559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15"/>
          <p:cNvSpPr txBox="1"/>
          <p:nvPr/>
        </p:nvSpPr>
        <p:spPr>
          <a:xfrm>
            <a:off x="914400" y="5541264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/>
          </a:p>
        </p:txBody>
      </p:sp>
      <p:sp>
        <p:nvSpPr>
          <p:cNvPr id="126" name="Google Shape;126;p15"/>
          <p:cNvSpPr txBox="1"/>
          <p:nvPr/>
        </p:nvSpPr>
        <p:spPr>
          <a:xfrm>
            <a:off x="1554480" y="5577840"/>
            <a:ext cx="73152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0E3A66"/>
                </a:solidFill>
                <a:latin typeface="Calibri"/>
                <a:ea typeface="Calibri"/>
                <a:cs typeface="Calibri"/>
                <a:sym typeface="Calibri"/>
              </a:rPr>
              <a:t>Q&amp;A</a:t>
            </a:r>
            <a:endParaRPr/>
          </a:p>
        </p:txBody>
      </p:sp>
      <p:sp>
        <p:nvSpPr>
          <p:cNvPr id="127" name="Google Shape;127;p15"/>
          <p:cNvSpPr txBox="1"/>
          <p:nvPr/>
        </p:nvSpPr>
        <p:spPr>
          <a:xfrm>
            <a:off x="9601200" y="5577840"/>
            <a:ext cx="13716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0F766E"/>
                </a:solidFill>
                <a:latin typeface="Calibri"/>
                <a:ea typeface="Calibri"/>
                <a:cs typeface="Calibri"/>
                <a:sym typeface="Calibri"/>
              </a:rPr>
              <a:t>15 min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16"/>
          <p:cNvSpPr/>
          <p:nvPr/>
        </p:nvSpPr>
        <p:spPr>
          <a:xfrm>
            <a:off x="0" y="0"/>
            <a:ext cx="12191695" cy="1051560"/>
          </a:xfrm>
          <a:prstGeom prst="roundRect">
            <a:avLst>
              <a:gd fmla="val 16667" name="adj"/>
            </a:avLst>
          </a:prstGeom>
          <a:solidFill>
            <a:srgbClr val="0E3A6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16"/>
          <p:cNvSpPr txBox="1"/>
          <p:nvPr/>
        </p:nvSpPr>
        <p:spPr>
          <a:xfrm>
            <a:off x="548640" y="137160"/>
            <a:ext cx="91440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Problem Statement</a:t>
            </a:r>
            <a:endParaRPr/>
          </a:p>
        </p:txBody>
      </p:sp>
      <p:sp>
        <p:nvSpPr>
          <p:cNvPr id="134" name="Google Shape;134;p16"/>
          <p:cNvSpPr txBox="1"/>
          <p:nvPr/>
        </p:nvSpPr>
        <p:spPr>
          <a:xfrm>
            <a:off x="548640" y="640080"/>
            <a:ext cx="10972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BBCCDD"/>
                </a:solidFill>
                <a:latin typeface="Calibri"/>
                <a:ea typeface="Calibri"/>
                <a:cs typeface="Calibri"/>
                <a:sym typeface="Calibri"/>
              </a:rPr>
              <a:t>What challenges does the customer face today?</a:t>
            </a:r>
            <a:endParaRPr sz="1800"/>
          </a:p>
        </p:txBody>
      </p:sp>
      <p:sp>
        <p:nvSpPr>
          <p:cNvPr id="135" name="Google Shape;135;p16"/>
          <p:cNvSpPr/>
          <p:nvPr/>
        </p:nvSpPr>
        <p:spPr>
          <a:xfrm>
            <a:off x="0" y="1051560"/>
            <a:ext cx="12191695" cy="50800"/>
          </a:xfrm>
          <a:prstGeom prst="roundRect">
            <a:avLst>
              <a:gd fmla="val 16667" name="adj"/>
            </a:avLst>
          </a:prstGeom>
          <a:solidFill>
            <a:srgbClr val="E0A3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36" name="Google Shape;136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11266" y="1254760"/>
            <a:ext cx="6961085" cy="545084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17"/>
          <p:cNvSpPr/>
          <p:nvPr/>
        </p:nvSpPr>
        <p:spPr>
          <a:xfrm>
            <a:off x="0" y="0"/>
            <a:ext cx="12191700" cy="1051500"/>
          </a:xfrm>
          <a:prstGeom prst="roundRect">
            <a:avLst>
              <a:gd fmla="val 16667" name="adj"/>
            </a:avLst>
          </a:prstGeom>
          <a:solidFill>
            <a:srgbClr val="0E3A6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17"/>
          <p:cNvSpPr txBox="1"/>
          <p:nvPr/>
        </p:nvSpPr>
        <p:spPr>
          <a:xfrm>
            <a:off x="548640" y="137160"/>
            <a:ext cx="91440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Problem Statement</a:t>
            </a:r>
            <a:endParaRPr/>
          </a:p>
        </p:txBody>
      </p:sp>
      <p:sp>
        <p:nvSpPr>
          <p:cNvPr id="143" name="Google Shape;143;p17"/>
          <p:cNvSpPr txBox="1"/>
          <p:nvPr/>
        </p:nvSpPr>
        <p:spPr>
          <a:xfrm>
            <a:off x="548640" y="640080"/>
            <a:ext cx="10972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BBCCDD"/>
                </a:solidFill>
                <a:latin typeface="Calibri"/>
                <a:ea typeface="Calibri"/>
                <a:cs typeface="Calibri"/>
                <a:sym typeface="Calibri"/>
              </a:rPr>
              <a:t>What challenges does the customer face today?</a:t>
            </a:r>
            <a:endParaRPr sz="1800"/>
          </a:p>
        </p:txBody>
      </p:sp>
      <p:sp>
        <p:nvSpPr>
          <p:cNvPr id="144" name="Google Shape;144;p17"/>
          <p:cNvSpPr/>
          <p:nvPr/>
        </p:nvSpPr>
        <p:spPr>
          <a:xfrm>
            <a:off x="0" y="1051560"/>
            <a:ext cx="12191700" cy="50700"/>
          </a:xfrm>
          <a:prstGeom prst="roundRect">
            <a:avLst>
              <a:gd fmla="val 16667" name="adj"/>
            </a:avLst>
          </a:prstGeom>
          <a:solidFill>
            <a:srgbClr val="E0A3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17"/>
          <p:cNvSpPr/>
          <p:nvPr/>
        </p:nvSpPr>
        <p:spPr>
          <a:xfrm>
            <a:off x="457200" y="1417320"/>
            <a:ext cx="3612000" cy="21945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EEEE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17"/>
          <p:cNvSpPr/>
          <p:nvPr/>
        </p:nvSpPr>
        <p:spPr>
          <a:xfrm>
            <a:off x="594360" y="1554480"/>
            <a:ext cx="411600" cy="411600"/>
          </a:xfrm>
          <a:prstGeom prst="roundRect">
            <a:avLst>
              <a:gd fmla="val 16667" name="adj"/>
            </a:avLst>
          </a:prstGeom>
          <a:solidFill>
            <a:srgbClr val="C0392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17"/>
          <p:cNvSpPr txBox="1"/>
          <p:nvPr/>
        </p:nvSpPr>
        <p:spPr>
          <a:xfrm>
            <a:off x="594360" y="1554480"/>
            <a:ext cx="4116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148" name="Google Shape;148;p17"/>
          <p:cNvSpPr txBox="1"/>
          <p:nvPr/>
        </p:nvSpPr>
        <p:spPr>
          <a:xfrm>
            <a:off x="1143000" y="1600200"/>
            <a:ext cx="2743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C0392B"/>
                </a:solidFill>
                <a:latin typeface="Calibri"/>
                <a:ea typeface="Calibri"/>
                <a:cs typeface="Calibri"/>
                <a:sym typeface="Calibri"/>
              </a:rPr>
              <a:t>Limited Scope</a:t>
            </a:r>
            <a:endParaRPr sz="1800"/>
          </a:p>
        </p:txBody>
      </p:sp>
      <p:sp>
        <p:nvSpPr>
          <p:cNvPr id="149" name="Google Shape;149;p17"/>
          <p:cNvSpPr txBox="1"/>
          <p:nvPr/>
        </p:nvSpPr>
        <p:spPr>
          <a:xfrm>
            <a:off x="640080" y="2148840"/>
            <a:ext cx="3200400" cy="1077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Current system only handles document submission and review — no knowledge assistant, no discovery, no summarization.</a:t>
            </a:r>
            <a:endParaRPr sz="1600"/>
          </a:p>
        </p:txBody>
      </p:sp>
      <p:sp>
        <p:nvSpPr>
          <p:cNvPr id="150" name="Google Shape;150;p17"/>
          <p:cNvSpPr/>
          <p:nvPr/>
        </p:nvSpPr>
        <p:spPr>
          <a:xfrm>
            <a:off x="4251960" y="1417320"/>
            <a:ext cx="3612000" cy="21945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EEEE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17"/>
          <p:cNvSpPr/>
          <p:nvPr/>
        </p:nvSpPr>
        <p:spPr>
          <a:xfrm>
            <a:off x="4389120" y="1554480"/>
            <a:ext cx="411600" cy="411600"/>
          </a:xfrm>
          <a:prstGeom prst="roundRect">
            <a:avLst>
              <a:gd fmla="val 16667" name="adj"/>
            </a:avLst>
          </a:prstGeom>
          <a:solidFill>
            <a:srgbClr val="D46B0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17"/>
          <p:cNvSpPr txBox="1"/>
          <p:nvPr/>
        </p:nvSpPr>
        <p:spPr>
          <a:xfrm>
            <a:off x="4389120" y="1554480"/>
            <a:ext cx="4116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/>
          </a:p>
        </p:txBody>
      </p:sp>
      <p:sp>
        <p:nvSpPr>
          <p:cNvPr id="153" name="Google Shape;153;p17"/>
          <p:cNvSpPr txBox="1"/>
          <p:nvPr/>
        </p:nvSpPr>
        <p:spPr>
          <a:xfrm>
            <a:off x="4937760" y="1600200"/>
            <a:ext cx="2743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D46B08"/>
                </a:solidFill>
                <a:latin typeface="Calibri"/>
                <a:ea typeface="Calibri"/>
                <a:cs typeface="Calibri"/>
                <a:sym typeface="Calibri"/>
              </a:rPr>
              <a:t>No Multi-Source Ingestion</a:t>
            </a:r>
            <a:endParaRPr sz="1800"/>
          </a:p>
        </p:txBody>
      </p:sp>
      <p:sp>
        <p:nvSpPr>
          <p:cNvPr id="154" name="Google Shape;154;p17"/>
          <p:cNvSpPr txBox="1"/>
          <p:nvPr/>
        </p:nvSpPr>
        <p:spPr>
          <a:xfrm>
            <a:off x="4434840" y="2148840"/>
            <a:ext cx="3200400" cy="1077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Enterprise sources (SharePoint, Confluence, file servers, databases) are siloed — not unified for search or audit.</a:t>
            </a:r>
            <a:endParaRPr sz="1600"/>
          </a:p>
        </p:txBody>
      </p:sp>
      <p:sp>
        <p:nvSpPr>
          <p:cNvPr id="155" name="Google Shape;155;p17"/>
          <p:cNvSpPr/>
          <p:nvPr/>
        </p:nvSpPr>
        <p:spPr>
          <a:xfrm>
            <a:off x="8046720" y="1417320"/>
            <a:ext cx="3612000" cy="21945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EEEE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17"/>
          <p:cNvSpPr/>
          <p:nvPr/>
        </p:nvSpPr>
        <p:spPr>
          <a:xfrm>
            <a:off x="8183880" y="1554480"/>
            <a:ext cx="411600" cy="411600"/>
          </a:xfrm>
          <a:prstGeom prst="roundRect">
            <a:avLst>
              <a:gd fmla="val 16667" name="adj"/>
            </a:avLst>
          </a:prstGeom>
          <a:solidFill>
            <a:srgbClr val="92400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17"/>
          <p:cNvSpPr txBox="1"/>
          <p:nvPr/>
        </p:nvSpPr>
        <p:spPr>
          <a:xfrm>
            <a:off x="8183880" y="1554480"/>
            <a:ext cx="4116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/>
          </a:p>
        </p:txBody>
      </p:sp>
      <p:sp>
        <p:nvSpPr>
          <p:cNvPr id="158" name="Google Shape;158;p17"/>
          <p:cNvSpPr txBox="1"/>
          <p:nvPr/>
        </p:nvSpPr>
        <p:spPr>
          <a:xfrm>
            <a:off x="8732520" y="1600200"/>
            <a:ext cx="2743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92400E"/>
                </a:solidFill>
                <a:latin typeface="Calibri"/>
                <a:ea typeface="Calibri"/>
                <a:cs typeface="Calibri"/>
                <a:sym typeface="Calibri"/>
              </a:rPr>
              <a:t>Weak Automation</a:t>
            </a:r>
            <a:endParaRPr sz="1800"/>
          </a:p>
        </p:txBody>
      </p:sp>
      <p:sp>
        <p:nvSpPr>
          <p:cNvPr id="159" name="Google Shape;159;p17"/>
          <p:cNvSpPr txBox="1"/>
          <p:nvPr/>
        </p:nvSpPr>
        <p:spPr>
          <a:xfrm>
            <a:off x="8229600" y="2148840"/>
            <a:ext cx="3200400" cy="1077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Completeness checks and resubmission loops require heavy manual intervention; no automated validation pipeline.</a:t>
            </a:r>
            <a:endParaRPr sz="1600"/>
          </a:p>
        </p:txBody>
      </p:sp>
      <p:sp>
        <p:nvSpPr>
          <p:cNvPr id="160" name="Google Shape;160;p17"/>
          <p:cNvSpPr/>
          <p:nvPr/>
        </p:nvSpPr>
        <p:spPr>
          <a:xfrm>
            <a:off x="457200" y="3886200"/>
            <a:ext cx="3612000" cy="21945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EEEE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17"/>
          <p:cNvSpPr/>
          <p:nvPr/>
        </p:nvSpPr>
        <p:spPr>
          <a:xfrm>
            <a:off x="594360" y="4023360"/>
            <a:ext cx="411600" cy="411600"/>
          </a:xfrm>
          <a:prstGeom prst="roundRect">
            <a:avLst>
              <a:gd fmla="val 16667" name="adj"/>
            </a:avLst>
          </a:prstGeom>
          <a:solidFill>
            <a:srgbClr val="B91C1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17"/>
          <p:cNvSpPr txBox="1"/>
          <p:nvPr/>
        </p:nvSpPr>
        <p:spPr>
          <a:xfrm>
            <a:off x="594360" y="4023360"/>
            <a:ext cx="4116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/>
          </a:p>
        </p:txBody>
      </p:sp>
      <p:sp>
        <p:nvSpPr>
          <p:cNvPr id="163" name="Google Shape;163;p17"/>
          <p:cNvSpPr txBox="1"/>
          <p:nvPr/>
        </p:nvSpPr>
        <p:spPr>
          <a:xfrm>
            <a:off x="1143000" y="4069080"/>
            <a:ext cx="2743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B91C1C"/>
                </a:solidFill>
                <a:latin typeface="Calibri"/>
                <a:ea typeface="Calibri"/>
                <a:cs typeface="Calibri"/>
                <a:sym typeface="Calibri"/>
              </a:rPr>
              <a:t>Heavy Manual Review</a:t>
            </a:r>
            <a:endParaRPr sz="1800"/>
          </a:p>
        </p:txBody>
      </p:sp>
      <p:sp>
        <p:nvSpPr>
          <p:cNvPr id="164" name="Google Shape;164;p17"/>
          <p:cNvSpPr txBox="1"/>
          <p:nvPr/>
        </p:nvSpPr>
        <p:spPr>
          <a:xfrm>
            <a:off x="640080" y="4617720"/>
            <a:ext cx="3200400" cy="1077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Reviewers must read every handover document in full to produce audit results — extremely time-consuming.</a:t>
            </a:r>
            <a:endParaRPr sz="1600"/>
          </a:p>
        </p:txBody>
      </p:sp>
      <p:sp>
        <p:nvSpPr>
          <p:cNvPr id="165" name="Google Shape;165;p17"/>
          <p:cNvSpPr/>
          <p:nvPr/>
        </p:nvSpPr>
        <p:spPr>
          <a:xfrm>
            <a:off x="4251960" y="3886200"/>
            <a:ext cx="3612000" cy="21945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EEEE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17"/>
          <p:cNvSpPr/>
          <p:nvPr/>
        </p:nvSpPr>
        <p:spPr>
          <a:xfrm>
            <a:off x="4389120" y="4023360"/>
            <a:ext cx="411600" cy="411600"/>
          </a:xfrm>
          <a:prstGeom prst="roundRect">
            <a:avLst>
              <a:gd fmla="val 16667" name="adj"/>
            </a:avLst>
          </a:prstGeom>
          <a:solidFill>
            <a:srgbClr val="9A331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17"/>
          <p:cNvSpPr txBox="1"/>
          <p:nvPr/>
        </p:nvSpPr>
        <p:spPr>
          <a:xfrm>
            <a:off x="4389120" y="4023360"/>
            <a:ext cx="4116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/>
          </a:p>
        </p:txBody>
      </p:sp>
      <p:sp>
        <p:nvSpPr>
          <p:cNvPr id="168" name="Google Shape;168;p17"/>
          <p:cNvSpPr txBox="1"/>
          <p:nvPr/>
        </p:nvSpPr>
        <p:spPr>
          <a:xfrm>
            <a:off x="4937760" y="4069080"/>
            <a:ext cx="2743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9A3312"/>
                </a:solidFill>
                <a:latin typeface="Calibri"/>
                <a:ea typeface="Calibri"/>
                <a:cs typeface="Calibri"/>
                <a:sym typeface="Calibri"/>
              </a:rPr>
              <a:t>Missing Feedback Loop</a:t>
            </a:r>
            <a:endParaRPr sz="1800"/>
          </a:p>
        </p:txBody>
      </p:sp>
      <p:sp>
        <p:nvSpPr>
          <p:cNvPr id="169" name="Google Shape;169;p17"/>
          <p:cNvSpPr txBox="1"/>
          <p:nvPr/>
        </p:nvSpPr>
        <p:spPr>
          <a:xfrm>
            <a:off x="4434840" y="4617720"/>
            <a:ext cx="3200400" cy="8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No mechanism to learn from user corrections or improve AI quality over time.</a:t>
            </a:r>
            <a:endParaRPr sz="1600"/>
          </a:p>
        </p:txBody>
      </p:sp>
      <p:sp>
        <p:nvSpPr>
          <p:cNvPr id="170" name="Google Shape;170;p17"/>
          <p:cNvSpPr/>
          <p:nvPr/>
        </p:nvSpPr>
        <p:spPr>
          <a:xfrm>
            <a:off x="8046720" y="3886200"/>
            <a:ext cx="3612000" cy="21945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EEEE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17"/>
          <p:cNvSpPr/>
          <p:nvPr/>
        </p:nvSpPr>
        <p:spPr>
          <a:xfrm>
            <a:off x="8183880" y="4023360"/>
            <a:ext cx="411600" cy="411600"/>
          </a:xfrm>
          <a:prstGeom prst="roundRect">
            <a:avLst>
              <a:gd fmla="val 16667" name="adj"/>
            </a:avLst>
          </a:prstGeom>
          <a:solidFill>
            <a:srgbClr val="85470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17"/>
          <p:cNvSpPr txBox="1"/>
          <p:nvPr/>
        </p:nvSpPr>
        <p:spPr>
          <a:xfrm>
            <a:off x="8183880" y="4023360"/>
            <a:ext cx="4116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/>
          </a:p>
        </p:txBody>
      </p:sp>
      <p:sp>
        <p:nvSpPr>
          <p:cNvPr id="173" name="Google Shape;173;p17"/>
          <p:cNvSpPr txBox="1"/>
          <p:nvPr/>
        </p:nvSpPr>
        <p:spPr>
          <a:xfrm>
            <a:off x="8732520" y="4069080"/>
            <a:ext cx="2743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85470D"/>
                </a:solidFill>
                <a:latin typeface="Calibri"/>
                <a:ea typeface="Calibri"/>
                <a:cs typeface="Calibri"/>
                <a:sym typeface="Calibri"/>
              </a:rPr>
              <a:t>No Expert Matching</a:t>
            </a:r>
            <a:endParaRPr sz="1800"/>
          </a:p>
        </p:txBody>
      </p:sp>
      <p:sp>
        <p:nvSpPr>
          <p:cNvPr id="174" name="Google Shape;174;p17"/>
          <p:cNvSpPr txBox="1"/>
          <p:nvPr/>
        </p:nvSpPr>
        <p:spPr>
          <a:xfrm>
            <a:off x="8229600" y="4617720"/>
            <a:ext cx="3200400" cy="8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Difficult to quickly connect users to the right subject matter expert for audit issues.</a:t>
            </a:r>
            <a:endParaRPr sz="16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18"/>
          <p:cNvSpPr/>
          <p:nvPr/>
        </p:nvSpPr>
        <p:spPr>
          <a:xfrm>
            <a:off x="0" y="0"/>
            <a:ext cx="12191695" cy="1051560"/>
          </a:xfrm>
          <a:prstGeom prst="roundRect">
            <a:avLst>
              <a:gd fmla="val 16667" name="adj"/>
            </a:avLst>
          </a:prstGeom>
          <a:solidFill>
            <a:srgbClr val="0E3A6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18"/>
          <p:cNvSpPr txBox="1"/>
          <p:nvPr/>
        </p:nvSpPr>
        <p:spPr>
          <a:xfrm>
            <a:off x="548640" y="137160"/>
            <a:ext cx="91440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Functional Requirements</a:t>
            </a:r>
            <a:endParaRPr/>
          </a:p>
        </p:txBody>
      </p:sp>
      <p:sp>
        <p:nvSpPr>
          <p:cNvPr id="181" name="Google Shape;181;p18"/>
          <p:cNvSpPr/>
          <p:nvPr/>
        </p:nvSpPr>
        <p:spPr>
          <a:xfrm>
            <a:off x="0" y="1051560"/>
            <a:ext cx="12191695" cy="50800"/>
          </a:xfrm>
          <a:prstGeom prst="roundRect">
            <a:avLst>
              <a:gd fmla="val 16667" name="adj"/>
            </a:avLst>
          </a:prstGeom>
          <a:solidFill>
            <a:srgbClr val="E0A3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18"/>
          <p:cNvSpPr/>
          <p:nvPr/>
        </p:nvSpPr>
        <p:spPr>
          <a:xfrm>
            <a:off x="365760" y="1371600"/>
            <a:ext cx="3657600" cy="141732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DDDD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18"/>
          <p:cNvSpPr/>
          <p:nvPr/>
        </p:nvSpPr>
        <p:spPr>
          <a:xfrm>
            <a:off x="457200" y="1481328"/>
            <a:ext cx="640080" cy="320040"/>
          </a:xfrm>
          <a:prstGeom prst="roundRect">
            <a:avLst>
              <a:gd fmla="val 16667" name="adj"/>
            </a:avLst>
          </a:prstGeom>
          <a:solidFill>
            <a:srgbClr val="11559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18"/>
          <p:cNvSpPr txBox="1"/>
          <p:nvPr/>
        </p:nvSpPr>
        <p:spPr>
          <a:xfrm>
            <a:off x="457200" y="1481328"/>
            <a:ext cx="6400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FR-1</a:t>
            </a:r>
            <a:endParaRPr/>
          </a:p>
        </p:txBody>
      </p:sp>
      <p:sp>
        <p:nvSpPr>
          <p:cNvPr id="185" name="Google Shape;185;p18"/>
          <p:cNvSpPr txBox="1"/>
          <p:nvPr/>
        </p:nvSpPr>
        <p:spPr>
          <a:xfrm>
            <a:off x="1188720" y="1481328"/>
            <a:ext cx="26517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u="none" cap="none" strike="noStrike">
                <a:solidFill>
                  <a:srgbClr val="0E3A66"/>
                </a:solidFill>
                <a:latin typeface="Calibri"/>
                <a:ea typeface="Calibri"/>
                <a:cs typeface="Calibri"/>
                <a:sym typeface="Calibri"/>
              </a:rPr>
              <a:t>User Authentication &amp; Access Control</a:t>
            </a:r>
            <a:endParaRPr/>
          </a:p>
        </p:txBody>
      </p:sp>
      <p:sp>
        <p:nvSpPr>
          <p:cNvPr id="186" name="Google Shape;186;p18"/>
          <p:cNvSpPr txBox="1"/>
          <p:nvPr/>
        </p:nvSpPr>
        <p:spPr>
          <a:xfrm>
            <a:off x="502920" y="1920240"/>
            <a:ext cx="33834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u="none" cap="none" strike="noStrik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Azure Entra ID, role-based access (Vendor / Customer)</a:t>
            </a:r>
            <a:endParaRPr/>
          </a:p>
        </p:txBody>
      </p:sp>
      <p:sp>
        <p:nvSpPr>
          <p:cNvPr id="187" name="Google Shape;187;p18"/>
          <p:cNvSpPr/>
          <p:nvPr/>
        </p:nvSpPr>
        <p:spPr>
          <a:xfrm>
            <a:off x="4206240" y="1371600"/>
            <a:ext cx="3657600" cy="141732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DDDD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18"/>
          <p:cNvSpPr/>
          <p:nvPr/>
        </p:nvSpPr>
        <p:spPr>
          <a:xfrm>
            <a:off x="4297680" y="1481328"/>
            <a:ext cx="640080" cy="320040"/>
          </a:xfrm>
          <a:prstGeom prst="roundRect">
            <a:avLst>
              <a:gd fmla="val 16667" name="adj"/>
            </a:avLst>
          </a:prstGeom>
          <a:solidFill>
            <a:srgbClr val="11559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18"/>
          <p:cNvSpPr txBox="1"/>
          <p:nvPr/>
        </p:nvSpPr>
        <p:spPr>
          <a:xfrm>
            <a:off x="4297680" y="1481328"/>
            <a:ext cx="6400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FR-2</a:t>
            </a:r>
            <a:endParaRPr/>
          </a:p>
        </p:txBody>
      </p:sp>
      <p:sp>
        <p:nvSpPr>
          <p:cNvPr id="190" name="Google Shape;190;p18"/>
          <p:cNvSpPr txBox="1"/>
          <p:nvPr/>
        </p:nvSpPr>
        <p:spPr>
          <a:xfrm>
            <a:off x="5029200" y="1481328"/>
            <a:ext cx="2651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u="none" cap="none" strike="noStrike">
                <a:solidFill>
                  <a:srgbClr val="0E3A66"/>
                </a:solidFill>
                <a:latin typeface="Calibri"/>
                <a:ea typeface="Calibri"/>
                <a:cs typeface="Calibri"/>
                <a:sym typeface="Calibri"/>
              </a:rPr>
              <a:t>Document Submission</a:t>
            </a:r>
            <a:endParaRPr/>
          </a:p>
        </p:txBody>
      </p:sp>
      <p:sp>
        <p:nvSpPr>
          <p:cNvPr id="191" name="Google Shape;191;p18"/>
          <p:cNvSpPr txBox="1"/>
          <p:nvPr/>
        </p:nvSpPr>
        <p:spPr>
          <a:xfrm>
            <a:off x="4343400" y="1920240"/>
            <a:ext cx="33834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u="none" cap="none" strike="noStrik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Upload handover documents from multiple enterprise sources</a:t>
            </a:r>
            <a:endParaRPr/>
          </a:p>
        </p:txBody>
      </p:sp>
      <p:sp>
        <p:nvSpPr>
          <p:cNvPr id="192" name="Google Shape;192;p18"/>
          <p:cNvSpPr/>
          <p:nvPr/>
        </p:nvSpPr>
        <p:spPr>
          <a:xfrm>
            <a:off x="8046720" y="1371600"/>
            <a:ext cx="3657600" cy="141732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DDDD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18"/>
          <p:cNvSpPr/>
          <p:nvPr/>
        </p:nvSpPr>
        <p:spPr>
          <a:xfrm>
            <a:off x="8138160" y="1481328"/>
            <a:ext cx="640080" cy="320040"/>
          </a:xfrm>
          <a:prstGeom prst="roundRect">
            <a:avLst>
              <a:gd fmla="val 16667" name="adj"/>
            </a:avLst>
          </a:prstGeom>
          <a:solidFill>
            <a:srgbClr val="11559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18"/>
          <p:cNvSpPr txBox="1"/>
          <p:nvPr/>
        </p:nvSpPr>
        <p:spPr>
          <a:xfrm>
            <a:off x="8138160" y="1481328"/>
            <a:ext cx="6400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FR-3</a:t>
            </a:r>
            <a:endParaRPr/>
          </a:p>
        </p:txBody>
      </p:sp>
      <p:sp>
        <p:nvSpPr>
          <p:cNvPr id="195" name="Google Shape;195;p18"/>
          <p:cNvSpPr txBox="1"/>
          <p:nvPr/>
        </p:nvSpPr>
        <p:spPr>
          <a:xfrm>
            <a:off x="8869680" y="1481328"/>
            <a:ext cx="2651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u="none" cap="none" strike="noStrike">
                <a:solidFill>
                  <a:srgbClr val="0E3A66"/>
                </a:solidFill>
                <a:latin typeface="Calibri"/>
                <a:ea typeface="Calibri"/>
                <a:cs typeface="Calibri"/>
                <a:sym typeface="Calibri"/>
              </a:rPr>
              <a:t>Document Processing</a:t>
            </a:r>
            <a:endParaRPr/>
          </a:p>
        </p:txBody>
      </p:sp>
      <p:sp>
        <p:nvSpPr>
          <p:cNvPr id="196" name="Google Shape;196;p18"/>
          <p:cNvSpPr txBox="1"/>
          <p:nvPr/>
        </p:nvSpPr>
        <p:spPr>
          <a:xfrm>
            <a:off x="8183880" y="1920240"/>
            <a:ext cx="33834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u="none" cap="none" strike="noStrik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Extract text &amp; structure via Azure Content Understanding</a:t>
            </a:r>
            <a:endParaRPr/>
          </a:p>
        </p:txBody>
      </p:sp>
      <p:sp>
        <p:nvSpPr>
          <p:cNvPr id="197" name="Google Shape;197;p18"/>
          <p:cNvSpPr/>
          <p:nvPr/>
        </p:nvSpPr>
        <p:spPr>
          <a:xfrm>
            <a:off x="365760" y="3017520"/>
            <a:ext cx="3657600" cy="141732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DDDD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18"/>
          <p:cNvSpPr/>
          <p:nvPr/>
        </p:nvSpPr>
        <p:spPr>
          <a:xfrm>
            <a:off x="457200" y="3127248"/>
            <a:ext cx="640080" cy="320040"/>
          </a:xfrm>
          <a:prstGeom prst="roundRect">
            <a:avLst>
              <a:gd fmla="val 16667" name="adj"/>
            </a:avLst>
          </a:prstGeom>
          <a:solidFill>
            <a:srgbClr val="11559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18"/>
          <p:cNvSpPr txBox="1"/>
          <p:nvPr/>
        </p:nvSpPr>
        <p:spPr>
          <a:xfrm>
            <a:off x="457200" y="3127248"/>
            <a:ext cx="6400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FR-4</a:t>
            </a:r>
            <a:endParaRPr/>
          </a:p>
        </p:txBody>
      </p:sp>
      <p:sp>
        <p:nvSpPr>
          <p:cNvPr id="200" name="Google Shape;200;p18"/>
          <p:cNvSpPr txBox="1"/>
          <p:nvPr/>
        </p:nvSpPr>
        <p:spPr>
          <a:xfrm>
            <a:off x="1188720" y="3127248"/>
            <a:ext cx="2651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u="none" cap="none" strike="noStrike">
                <a:solidFill>
                  <a:srgbClr val="0E3A66"/>
                </a:solidFill>
                <a:latin typeface="Calibri"/>
                <a:ea typeface="Calibri"/>
                <a:cs typeface="Calibri"/>
                <a:sym typeface="Calibri"/>
              </a:rPr>
              <a:t>AI Audit Generation</a:t>
            </a:r>
            <a:endParaRPr/>
          </a:p>
        </p:txBody>
      </p:sp>
      <p:sp>
        <p:nvSpPr>
          <p:cNvPr id="201" name="Google Shape;201;p18"/>
          <p:cNvSpPr txBox="1"/>
          <p:nvPr/>
        </p:nvSpPr>
        <p:spPr>
          <a:xfrm>
            <a:off x="502920" y="3566160"/>
            <a:ext cx="33834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u="none" cap="none" strike="noStrik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AI-based pass/fail assessment with detailed comments</a:t>
            </a:r>
            <a:endParaRPr/>
          </a:p>
        </p:txBody>
      </p:sp>
      <p:sp>
        <p:nvSpPr>
          <p:cNvPr id="202" name="Google Shape;202;p18"/>
          <p:cNvSpPr/>
          <p:nvPr/>
        </p:nvSpPr>
        <p:spPr>
          <a:xfrm>
            <a:off x="4206240" y="3017520"/>
            <a:ext cx="3657600" cy="141732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DDDD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18"/>
          <p:cNvSpPr/>
          <p:nvPr/>
        </p:nvSpPr>
        <p:spPr>
          <a:xfrm>
            <a:off x="4297680" y="3127248"/>
            <a:ext cx="640080" cy="320040"/>
          </a:xfrm>
          <a:prstGeom prst="roundRect">
            <a:avLst>
              <a:gd fmla="val 16667" name="adj"/>
            </a:avLst>
          </a:prstGeom>
          <a:solidFill>
            <a:srgbClr val="11559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18"/>
          <p:cNvSpPr txBox="1"/>
          <p:nvPr/>
        </p:nvSpPr>
        <p:spPr>
          <a:xfrm>
            <a:off x="4297680" y="3127248"/>
            <a:ext cx="6400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FR-5</a:t>
            </a:r>
            <a:endParaRPr/>
          </a:p>
        </p:txBody>
      </p:sp>
      <p:sp>
        <p:nvSpPr>
          <p:cNvPr id="205" name="Google Shape;205;p18"/>
          <p:cNvSpPr txBox="1"/>
          <p:nvPr/>
        </p:nvSpPr>
        <p:spPr>
          <a:xfrm>
            <a:off x="5029200" y="3127248"/>
            <a:ext cx="2651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u="none" cap="none" strike="noStrike">
                <a:solidFill>
                  <a:srgbClr val="0E3A66"/>
                </a:solidFill>
                <a:latin typeface="Calibri"/>
                <a:ea typeface="Calibri"/>
                <a:cs typeface="Calibri"/>
                <a:sym typeface="Calibri"/>
              </a:rPr>
              <a:t>Audit Review</a:t>
            </a:r>
            <a:endParaRPr/>
          </a:p>
        </p:txBody>
      </p:sp>
      <p:sp>
        <p:nvSpPr>
          <p:cNvPr id="206" name="Google Shape;206;p18"/>
          <p:cNvSpPr txBox="1"/>
          <p:nvPr/>
        </p:nvSpPr>
        <p:spPr>
          <a:xfrm>
            <a:off x="4343400" y="3566160"/>
            <a:ext cx="33834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u="none" cap="none" strike="noStrik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View results, make final accept/reject decisions</a:t>
            </a:r>
            <a:endParaRPr/>
          </a:p>
        </p:txBody>
      </p:sp>
      <p:sp>
        <p:nvSpPr>
          <p:cNvPr id="207" name="Google Shape;207;p18"/>
          <p:cNvSpPr/>
          <p:nvPr/>
        </p:nvSpPr>
        <p:spPr>
          <a:xfrm>
            <a:off x="8046720" y="3017520"/>
            <a:ext cx="3657600" cy="141732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DDDD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18"/>
          <p:cNvSpPr/>
          <p:nvPr/>
        </p:nvSpPr>
        <p:spPr>
          <a:xfrm>
            <a:off x="8138160" y="3127248"/>
            <a:ext cx="640080" cy="320040"/>
          </a:xfrm>
          <a:prstGeom prst="roundRect">
            <a:avLst>
              <a:gd fmla="val 16667" name="adj"/>
            </a:avLst>
          </a:prstGeom>
          <a:solidFill>
            <a:srgbClr val="11559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18"/>
          <p:cNvSpPr txBox="1"/>
          <p:nvPr/>
        </p:nvSpPr>
        <p:spPr>
          <a:xfrm>
            <a:off x="8138160" y="3127248"/>
            <a:ext cx="6400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FR-6</a:t>
            </a:r>
            <a:endParaRPr/>
          </a:p>
        </p:txBody>
      </p:sp>
      <p:sp>
        <p:nvSpPr>
          <p:cNvPr id="210" name="Google Shape;210;p18"/>
          <p:cNvSpPr txBox="1"/>
          <p:nvPr/>
        </p:nvSpPr>
        <p:spPr>
          <a:xfrm>
            <a:off x="8869680" y="3127248"/>
            <a:ext cx="2651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u="none" cap="none" strike="noStrike">
                <a:solidFill>
                  <a:srgbClr val="0E3A66"/>
                </a:solidFill>
                <a:latin typeface="Calibri"/>
                <a:ea typeface="Calibri"/>
                <a:cs typeface="Calibri"/>
                <a:sym typeface="Calibri"/>
              </a:rPr>
              <a:t>Audit Template Management</a:t>
            </a:r>
            <a:endParaRPr/>
          </a:p>
        </p:txBody>
      </p:sp>
      <p:sp>
        <p:nvSpPr>
          <p:cNvPr id="211" name="Google Shape;211;p18"/>
          <p:cNvSpPr txBox="1"/>
          <p:nvPr/>
        </p:nvSpPr>
        <p:spPr>
          <a:xfrm>
            <a:off x="8183880" y="3566160"/>
            <a:ext cx="33834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u="none" cap="none" strike="noStrik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Create, update, activate audit templates</a:t>
            </a:r>
            <a:endParaRPr/>
          </a:p>
        </p:txBody>
      </p:sp>
      <p:sp>
        <p:nvSpPr>
          <p:cNvPr id="212" name="Google Shape;212;p18"/>
          <p:cNvSpPr/>
          <p:nvPr/>
        </p:nvSpPr>
        <p:spPr>
          <a:xfrm>
            <a:off x="365760" y="4663440"/>
            <a:ext cx="3657600" cy="141732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DDDD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18"/>
          <p:cNvSpPr/>
          <p:nvPr/>
        </p:nvSpPr>
        <p:spPr>
          <a:xfrm>
            <a:off x="457200" y="4773168"/>
            <a:ext cx="640080" cy="320040"/>
          </a:xfrm>
          <a:prstGeom prst="roundRect">
            <a:avLst>
              <a:gd fmla="val 16667" name="adj"/>
            </a:avLst>
          </a:prstGeom>
          <a:solidFill>
            <a:srgbClr val="11559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18"/>
          <p:cNvSpPr txBox="1"/>
          <p:nvPr/>
        </p:nvSpPr>
        <p:spPr>
          <a:xfrm>
            <a:off x="457200" y="4773168"/>
            <a:ext cx="6400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FR-7</a:t>
            </a:r>
            <a:endParaRPr/>
          </a:p>
        </p:txBody>
      </p:sp>
      <p:sp>
        <p:nvSpPr>
          <p:cNvPr id="215" name="Google Shape;215;p18"/>
          <p:cNvSpPr txBox="1"/>
          <p:nvPr/>
        </p:nvSpPr>
        <p:spPr>
          <a:xfrm>
            <a:off x="1188720" y="4773168"/>
            <a:ext cx="2651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u="none" cap="none" strike="noStrike">
                <a:solidFill>
                  <a:srgbClr val="0E3A66"/>
                </a:solidFill>
                <a:latin typeface="Calibri"/>
                <a:ea typeface="Calibri"/>
                <a:cs typeface="Calibri"/>
                <a:sym typeface="Calibri"/>
              </a:rPr>
              <a:t>Search &amp; Summaries</a:t>
            </a:r>
            <a:endParaRPr/>
          </a:p>
        </p:txBody>
      </p:sp>
      <p:sp>
        <p:nvSpPr>
          <p:cNvPr id="216" name="Google Shape;216;p18"/>
          <p:cNvSpPr txBox="1"/>
          <p:nvPr/>
        </p:nvSpPr>
        <p:spPr>
          <a:xfrm>
            <a:off x="502920" y="5212080"/>
            <a:ext cx="33834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u="none" cap="none" strike="noStrik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Natural language query with source references</a:t>
            </a:r>
            <a:endParaRPr/>
          </a:p>
        </p:txBody>
      </p:sp>
      <p:sp>
        <p:nvSpPr>
          <p:cNvPr id="217" name="Google Shape;217;p18"/>
          <p:cNvSpPr/>
          <p:nvPr/>
        </p:nvSpPr>
        <p:spPr>
          <a:xfrm>
            <a:off x="4206240" y="4663440"/>
            <a:ext cx="3657600" cy="141732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DDDD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18"/>
          <p:cNvSpPr/>
          <p:nvPr/>
        </p:nvSpPr>
        <p:spPr>
          <a:xfrm>
            <a:off x="4297680" y="4773168"/>
            <a:ext cx="640080" cy="320040"/>
          </a:xfrm>
          <a:prstGeom prst="roundRect">
            <a:avLst>
              <a:gd fmla="val 16667" name="adj"/>
            </a:avLst>
          </a:prstGeom>
          <a:solidFill>
            <a:srgbClr val="11559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18"/>
          <p:cNvSpPr txBox="1"/>
          <p:nvPr/>
        </p:nvSpPr>
        <p:spPr>
          <a:xfrm>
            <a:off x="4297680" y="4773168"/>
            <a:ext cx="6400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FR-8</a:t>
            </a:r>
            <a:endParaRPr/>
          </a:p>
        </p:txBody>
      </p:sp>
      <p:sp>
        <p:nvSpPr>
          <p:cNvPr id="220" name="Google Shape;220;p18"/>
          <p:cNvSpPr txBox="1"/>
          <p:nvPr/>
        </p:nvSpPr>
        <p:spPr>
          <a:xfrm>
            <a:off x="5029200" y="4773168"/>
            <a:ext cx="2651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u="none" cap="none" strike="noStrike">
                <a:solidFill>
                  <a:srgbClr val="0E3A66"/>
                </a:solidFill>
                <a:latin typeface="Calibri"/>
                <a:ea typeface="Calibri"/>
                <a:cs typeface="Calibri"/>
                <a:sym typeface="Calibri"/>
              </a:rPr>
              <a:t>Expert Identification</a:t>
            </a:r>
            <a:endParaRPr/>
          </a:p>
        </p:txBody>
      </p:sp>
      <p:sp>
        <p:nvSpPr>
          <p:cNvPr id="221" name="Google Shape;221;p18"/>
          <p:cNvSpPr txBox="1"/>
          <p:nvPr/>
        </p:nvSpPr>
        <p:spPr>
          <a:xfrm>
            <a:off x="4343400" y="5212080"/>
            <a:ext cx="33834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u="none" cap="none" strike="noStrik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Match documents to subject matter experts via HR directory</a:t>
            </a:r>
            <a:endParaRPr/>
          </a:p>
        </p:txBody>
      </p:sp>
      <p:sp>
        <p:nvSpPr>
          <p:cNvPr id="222" name="Google Shape;222;p18"/>
          <p:cNvSpPr/>
          <p:nvPr/>
        </p:nvSpPr>
        <p:spPr>
          <a:xfrm>
            <a:off x="8046720" y="4663440"/>
            <a:ext cx="3657600" cy="141732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DDDD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18"/>
          <p:cNvSpPr/>
          <p:nvPr/>
        </p:nvSpPr>
        <p:spPr>
          <a:xfrm>
            <a:off x="8138160" y="4773168"/>
            <a:ext cx="640080" cy="320040"/>
          </a:xfrm>
          <a:prstGeom prst="roundRect">
            <a:avLst>
              <a:gd fmla="val 16667" name="adj"/>
            </a:avLst>
          </a:prstGeom>
          <a:solidFill>
            <a:srgbClr val="11559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18"/>
          <p:cNvSpPr txBox="1"/>
          <p:nvPr/>
        </p:nvSpPr>
        <p:spPr>
          <a:xfrm>
            <a:off x="8138160" y="4773168"/>
            <a:ext cx="6400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FR-9</a:t>
            </a:r>
            <a:endParaRPr/>
          </a:p>
        </p:txBody>
      </p:sp>
      <p:sp>
        <p:nvSpPr>
          <p:cNvPr id="225" name="Google Shape;225;p18"/>
          <p:cNvSpPr txBox="1"/>
          <p:nvPr/>
        </p:nvSpPr>
        <p:spPr>
          <a:xfrm>
            <a:off x="8869680" y="4773168"/>
            <a:ext cx="2651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u="none" cap="none" strike="noStrike">
                <a:solidFill>
                  <a:srgbClr val="0E3A66"/>
                </a:solidFill>
                <a:latin typeface="Calibri"/>
                <a:ea typeface="Calibri"/>
                <a:cs typeface="Calibri"/>
                <a:sym typeface="Calibri"/>
              </a:rPr>
              <a:t>Learning from Interactions</a:t>
            </a:r>
            <a:endParaRPr/>
          </a:p>
        </p:txBody>
      </p:sp>
      <p:sp>
        <p:nvSpPr>
          <p:cNvPr id="226" name="Google Shape;226;p18"/>
          <p:cNvSpPr txBox="1"/>
          <p:nvPr/>
        </p:nvSpPr>
        <p:spPr>
          <a:xfrm>
            <a:off x="8183880" y="5212080"/>
            <a:ext cx="33834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u="none" cap="none" strike="noStrik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Capture feedback to improve search relevance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19"/>
          <p:cNvSpPr/>
          <p:nvPr/>
        </p:nvSpPr>
        <p:spPr>
          <a:xfrm>
            <a:off x="0" y="0"/>
            <a:ext cx="12191695" cy="1051560"/>
          </a:xfrm>
          <a:prstGeom prst="roundRect">
            <a:avLst>
              <a:gd fmla="val 16667" name="adj"/>
            </a:avLst>
          </a:prstGeom>
          <a:solidFill>
            <a:srgbClr val="0E3A6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19"/>
          <p:cNvSpPr txBox="1"/>
          <p:nvPr/>
        </p:nvSpPr>
        <p:spPr>
          <a:xfrm>
            <a:off x="548640" y="137160"/>
            <a:ext cx="91440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Non-Functional Requirements</a:t>
            </a:r>
            <a:endParaRPr/>
          </a:p>
        </p:txBody>
      </p:sp>
      <p:sp>
        <p:nvSpPr>
          <p:cNvPr id="233" name="Google Shape;233;p19"/>
          <p:cNvSpPr/>
          <p:nvPr/>
        </p:nvSpPr>
        <p:spPr>
          <a:xfrm>
            <a:off x="0" y="1051560"/>
            <a:ext cx="12191695" cy="50800"/>
          </a:xfrm>
          <a:prstGeom prst="roundRect">
            <a:avLst>
              <a:gd fmla="val 16667" name="adj"/>
            </a:avLst>
          </a:prstGeom>
          <a:solidFill>
            <a:srgbClr val="E0A3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19"/>
          <p:cNvSpPr/>
          <p:nvPr/>
        </p:nvSpPr>
        <p:spPr>
          <a:xfrm>
            <a:off x="365760" y="1371600"/>
            <a:ext cx="2743200" cy="50292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DDDD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19"/>
          <p:cNvSpPr/>
          <p:nvPr/>
        </p:nvSpPr>
        <p:spPr>
          <a:xfrm>
            <a:off x="365760" y="1371600"/>
            <a:ext cx="2743200" cy="640080"/>
          </a:xfrm>
          <a:prstGeom prst="roundRect">
            <a:avLst>
              <a:gd fmla="val 16667" name="adj"/>
            </a:avLst>
          </a:prstGeom>
          <a:solidFill>
            <a:srgbClr val="11559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19"/>
          <p:cNvSpPr txBox="1"/>
          <p:nvPr/>
        </p:nvSpPr>
        <p:spPr>
          <a:xfrm>
            <a:off x="502920" y="1417320"/>
            <a:ext cx="24690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NFR-1</a:t>
            </a:r>
            <a:br>
              <a:rPr b="1" i="0" lang="en-US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Performance</a:t>
            </a:r>
            <a:endParaRPr sz="1800"/>
          </a:p>
        </p:txBody>
      </p:sp>
      <p:sp>
        <p:nvSpPr>
          <p:cNvPr id="237" name="Google Shape;237;p19"/>
          <p:cNvSpPr txBox="1"/>
          <p:nvPr/>
        </p:nvSpPr>
        <p:spPr>
          <a:xfrm>
            <a:off x="502920" y="2148840"/>
            <a:ext cx="24690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u="none" cap="none" strike="noStrike">
                <a:solidFill>
                  <a:srgbClr val="0F766E"/>
                </a:solidFill>
                <a:latin typeface="Calibri"/>
                <a:ea typeface="Calibri"/>
                <a:cs typeface="Calibri"/>
                <a:sym typeface="Calibri"/>
              </a:rPr>
              <a:t>Target</a:t>
            </a:r>
            <a:endParaRPr/>
          </a:p>
        </p:txBody>
      </p:sp>
      <p:sp>
        <p:nvSpPr>
          <p:cNvPr id="238" name="Google Shape;238;p19"/>
          <p:cNvSpPr txBox="1"/>
          <p:nvPr/>
        </p:nvSpPr>
        <p:spPr>
          <a:xfrm>
            <a:off x="502920" y="2377440"/>
            <a:ext cx="24690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First token &lt; 2s (p95)</a:t>
            </a:r>
            <a:br>
              <a:rPr b="0" i="0" lang="en-US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95% audits &lt; 10 min</a:t>
            </a:r>
            <a:br>
              <a:rPr b="0" i="0" lang="en-US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End-to-end &lt; 15 min (p99)</a:t>
            </a:r>
            <a:endParaRPr/>
          </a:p>
        </p:txBody>
      </p:sp>
      <p:sp>
        <p:nvSpPr>
          <p:cNvPr id="239" name="Google Shape;239;p19"/>
          <p:cNvSpPr txBox="1"/>
          <p:nvPr/>
        </p:nvSpPr>
        <p:spPr>
          <a:xfrm>
            <a:off x="502920" y="4023360"/>
            <a:ext cx="24690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u="none" cap="none" strike="noStrike">
                <a:solidFill>
                  <a:srgbClr val="115594"/>
                </a:solidFill>
                <a:latin typeface="Calibri"/>
                <a:ea typeface="Calibri"/>
                <a:cs typeface="Calibri"/>
                <a:sym typeface="Calibri"/>
              </a:rPr>
              <a:t>Solution Approach</a:t>
            </a:r>
            <a:endParaRPr/>
          </a:p>
        </p:txBody>
      </p:sp>
      <p:sp>
        <p:nvSpPr>
          <p:cNvPr id="240" name="Google Shape;240;p19"/>
          <p:cNvSpPr txBox="1"/>
          <p:nvPr/>
        </p:nvSpPr>
        <p:spPr>
          <a:xfrm>
            <a:off x="502920" y="4297680"/>
            <a:ext cx="24690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Streaming </a:t>
            </a:r>
            <a:r>
              <a:rPr lang="en-US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+ caching</a:t>
            </a:r>
            <a:br>
              <a:rPr b="0" i="0" lang="en-US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Two-tier retrieval + precomputation</a:t>
            </a:r>
            <a:endParaRPr/>
          </a:p>
        </p:txBody>
      </p:sp>
      <p:sp>
        <p:nvSpPr>
          <p:cNvPr id="241" name="Google Shape;241;p19"/>
          <p:cNvSpPr/>
          <p:nvPr/>
        </p:nvSpPr>
        <p:spPr>
          <a:xfrm>
            <a:off x="3246120" y="1371600"/>
            <a:ext cx="2743200" cy="50292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DDDD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p19"/>
          <p:cNvSpPr/>
          <p:nvPr/>
        </p:nvSpPr>
        <p:spPr>
          <a:xfrm>
            <a:off x="3246120" y="1371600"/>
            <a:ext cx="2743200" cy="640080"/>
          </a:xfrm>
          <a:prstGeom prst="roundRect">
            <a:avLst>
              <a:gd fmla="val 16667" name="adj"/>
            </a:avLst>
          </a:prstGeom>
          <a:solidFill>
            <a:srgbClr val="0F766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p19"/>
          <p:cNvSpPr txBox="1"/>
          <p:nvPr/>
        </p:nvSpPr>
        <p:spPr>
          <a:xfrm>
            <a:off x="3383280" y="1417320"/>
            <a:ext cx="24690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NFR-2</a:t>
            </a:r>
            <a:br>
              <a:rPr b="1" i="0" lang="en-US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Scalability</a:t>
            </a:r>
            <a:endParaRPr sz="1800"/>
          </a:p>
        </p:txBody>
      </p:sp>
      <p:sp>
        <p:nvSpPr>
          <p:cNvPr id="244" name="Google Shape;244;p19"/>
          <p:cNvSpPr txBox="1"/>
          <p:nvPr/>
        </p:nvSpPr>
        <p:spPr>
          <a:xfrm>
            <a:off x="3383280" y="2148840"/>
            <a:ext cx="24690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u="none" cap="none" strike="noStrike">
                <a:solidFill>
                  <a:srgbClr val="0F766E"/>
                </a:solidFill>
                <a:latin typeface="Calibri"/>
                <a:ea typeface="Calibri"/>
                <a:cs typeface="Calibri"/>
                <a:sym typeface="Calibri"/>
              </a:rPr>
              <a:t>Target</a:t>
            </a:r>
            <a:endParaRPr/>
          </a:p>
        </p:txBody>
      </p:sp>
      <p:sp>
        <p:nvSpPr>
          <p:cNvPr id="245" name="Google Shape;245;p19"/>
          <p:cNvSpPr txBox="1"/>
          <p:nvPr/>
        </p:nvSpPr>
        <p:spPr>
          <a:xfrm>
            <a:off x="3383280" y="2377440"/>
            <a:ext cx="2469000" cy="95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500 document submissions/hour</a:t>
            </a:r>
            <a:br>
              <a:rPr b="0" i="0" lang="en-US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50 concurrent queries</a:t>
            </a:r>
            <a:br>
              <a:rPr b="0" i="0" lang="en-US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p95 latency &lt; 3s under burst</a:t>
            </a:r>
            <a:endParaRPr/>
          </a:p>
        </p:txBody>
      </p:sp>
      <p:sp>
        <p:nvSpPr>
          <p:cNvPr id="246" name="Google Shape;246;p19"/>
          <p:cNvSpPr txBox="1"/>
          <p:nvPr/>
        </p:nvSpPr>
        <p:spPr>
          <a:xfrm>
            <a:off x="3383280" y="4023360"/>
            <a:ext cx="24690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u="none" cap="none" strike="noStrike">
                <a:solidFill>
                  <a:srgbClr val="115594"/>
                </a:solidFill>
                <a:latin typeface="Calibri"/>
                <a:ea typeface="Calibri"/>
                <a:cs typeface="Calibri"/>
                <a:sym typeface="Calibri"/>
              </a:rPr>
              <a:t>Solution Approach</a:t>
            </a:r>
            <a:endParaRPr/>
          </a:p>
        </p:txBody>
      </p:sp>
      <p:sp>
        <p:nvSpPr>
          <p:cNvPr id="247" name="Google Shape;247;p19"/>
          <p:cNvSpPr txBox="1"/>
          <p:nvPr/>
        </p:nvSpPr>
        <p:spPr>
          <a:xfrm>
            <a:off x="3383280" y="4297680"/>
            <a:ext cx="24690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Queue-depth autoscaling</a:t>
            </a:r>
            <a:br>
              <a:rPr b="0" i="0" lang="en-US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Staged pipelines</a:t>
            </a:r>
            <a:endParaRPr/>
          </a:p>
        </p:txBody>
      </p:sp>
      <p:sp>
        <p:nvSpPr>
          <p:cNvPr id="248" name="Google Shape;248;p19"/>
          <p:cNvSpPr/>
          <p:nvPr/>
        </p:nvSpPr>
        <p:spPr>
          <a:xfrm>
            <a:off x="6126480" y="1371600"/>
            <a:ext cx="2743200" cy="50292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DDDD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19"/>
          <p:cNvSpPr/>
          <p:nvPr/>
        </p:nvSpPr>
        <p:spPr>
          <a:xfrm>
            <a:off x="6126480" y="1371600"/>
            <a:ext cx="2743200" cy="640080"/>
          </a:xfrm>
          <a:prstGeom prst="roundRect">
            <a:avLst>
              <a:gd fmla="val 16667" name="adj"/>
            </a:avLst>
          </a:prstGeom>
          <a:solidFill>
            <a:srgbClr val="7C3AE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19"/>
          <p:cNvSpPr txBox="1"/>
          <p:nvPr/>
        </p:nvSpPr>
        <p:spPr>
          <a:xfrm>
            <a:off x="6263640" y="1417320"/>
            <a:ext cx="24690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NFR-3</a:t>
            </a:r>
            <a:br>
              <a:rPr b="1" i="0" lang="en-US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Availability</a:t>
            </a:r>
            <a:endParaRPr sz="1800"/>
          </a:p>
        </p:txBody>
      </p:sp>
      <p:sp>
        <p:nvSpPr>
          <p:cNvPr id="251" name="Google Shape;251;p19"/>
          <p:cNvSpPr txBox="1"/>
          <p:nvPr/>
        </p:nvSpPr>
        <p:spPr>
          <a:xfrm>
            <a:off x="6263640" y="2148840"/>
            <a:ext cx="24690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u="none" cap="none" strike="noStrike">
                <a:solidFill>
                  <a:srgbClr val="0F766E"/>
                </a:solidFill>
                <a:latin typeface="Calibri"/>
                <a:ea typeface="Calibri"/>
                <a:cs typeface="Calibri"/>
                <a:sym typeface="Calibri"/>
              </a:rPr>
              <a:t>Target</a:t>
            </a:r>
            <a:endParaRPr/>
          </a:p>
        </p:txBody>
      </p:sp>
      <p:sp>
        <p:nvSpPr>
          <p:cNvPr id="252" name="Google Shape;252;p19"/>
          <p:cNvSpPr txBox="1"/>
          <p:nvPr/>
        </p:nvSpPr>
        <p:spPr>
          <a:xfrm>
            <a:off x="6263640" y="2377440"/>
            <a:ext cx="24690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99.9% monthly uptime</a:t>
            </a:r>
            <a:br>
              <a:rPr b="0" i="0" lang="en-US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RTO &lt; 30 min, RPO &lt; 15 min</a:t>
            </a:r>
            <a:br>
              <a:rPr b="0" i="0" lang="en-US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Zero silent data loss</a:t>
            </a:r>
            <a:endParaRPr/>
          </a:p>
        </p:txBody>
      </p:sp>
      <p:sp>
        <p:nvSpPr>
          <p:cNvPr id="253" name="Google Shape;253;p19"/>
          <p:cNvSpPr txBox="1"/>
          <p:nvPr/>
        </p:nvSpPr>
        <p:spPr>
          <a:xfrm>
            <a:off x="6263640" y="4023360"/>
            <a:ext cx="24690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u="none" cap="none" strike="noStrike">
                <a:solidFill>
                  <a:srgbClr val="115594"/>
                </a:solidFill>
                <a:latin typeface="Calibri"/>
                <a:ea typeface="Calibri"/>
                <a:cs typeface="Calibri"/>
                <a:sym typeface="Calibri"/>
              </a:rPr>
              <a:t>Solution Approach</a:t>
            </a:r>
            <a:endParaRPr/>
          </a:p>
        </p:txBody>
      </p:sp>
      <p:sp>
        <p:nvSpPr>
          <p:cNvPr id="254" name="Google Shape;254;p19"/>
          <p:cNvSpPr txBox="1"/>
          <p:nvPr/>
        </p:nvSpPr>
        <p:spPr>
          <a:xfrm>
            <a:off x="6263640" y="4297680"/>
            <a:ext cx="24690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Managed, redundant services</a:t>
            </a:r>
            <a:br>
              <a:rPr b="0" i="0" lang="en-US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Idempotent</a:t>
            </a:r>
            <a:r>
              <a:rPr lang="en-US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, retryable tasks</a:t>
            </a:r>
            <a:endParaRPr/>
          </a:p>
        </p:txBody>
      </p:sp>
      <p:sp>
        <p:nvSpPr>
          <p:cNvPr id="255" name="Google Shape;255;p19"/>
          <p:cNvSpPr/>
          <p:nvPr/>
        </p:nvSpPr>
        <p:spPr>
          <a:xfrm>
            <a:off x="9006840" y="1371600"/>
            <a:ext cx="2743200" cy="50292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DDDD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19"/>
          <p:cNvSpPr/>
          <p:nvPr/>
        </p:nvSpPr>
        <p:spPr>
          <a:xfrm>
            <a:off x="9006840" y="1371600"/>
            <a:ext cx="2743200" cy="640080"/>
          </a:xfrm>
          <a:prstGeom prst="roundRect">
            <a:avLst>
              <a:gd fmla="val 16667" name="adj"/>
            </a:avLst>
          </a:prstGeom>
          <a:solidFill>
            <a:srgbClr val="C0392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p19"/>
          <p:cNvSpPr txBox="1"/>
          <p:nvPr/>
        </p:nvSpPr>
        <p:spPr>
          <a:xfrm>
            <a:off x="9144000" y="1417320"/>
            <a:ext cx="24690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NFR-4</a:t>
            </a:r>
            <a:br>
              <a:rPr b="1" i="0" lang="en-US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Security</a:t>
            </a:r>
            <a:endParaRPr sz="1800"/>
          </a:p>
        </p:txBody>
      </p:sp>
      <p:sp>
        <p:nvSpPr>
          <p:cNvPr id="258" name="Google Shape;258;p19"/>
          <p:cNvSpPr txBox="1"/>
          <p:nvPr/>
        </p:nvSpPr>
        <p:spPr>
          <a:xfrm>
            <a:off x="9144000" y="2148840"/>
            <a:ext cx="24690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u="none" cap="none" strike="noStrike">
                <a:solidFill>
                  <a:srgbClr val="0F766E"/>
                </a:solidFill>
                <a:latin typeface="Calibri"/>
                <a:ea typeface="Calibri"/>
                <a:cs typeface="Calibri"/>
                <a:sym typeface="Calibri"/>
              </a:rPr>
              <a:t>Target</a:t>
            </a:r>
            <a:endParaRPr/>
          </a:p>
        </p:txBody>
      </p:sp>
      <p:sp>
        <p:nvSpPr>
          <p:cNvPr id="259" name="Google Shape;259;p19"/>
          <p:cNvSpPr txBox="1"/>
          <p:nvPr/>
        </p:nvSpPr>
        <p:spPr>
          <a:xfrm>
            <a:off x="9144000" y="2377440"/>
            <a:ext cx="2469000" cy="1169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Encrypted data in transit</a:t>
            </a:r>
            <a:br>
              <a:rPr b="0" i="0" lang="en-US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Sensitive fields encrypted at rest</a:t>
            </a:r>
            <a:br>
              <a:rPr b="0" i="0" lang="en-US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Secret never stored in code</a:t>
            </a:r>
            <a:br>
              <a:rPr b="0" i="0" lang="en-US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No public service exposure</a:t>
            </a:r>
            <a:endParaRPr/>
          </a:p>
        </p:txBody>
      </p:sp>
      <p:sp>
        <p:nvSpPr>
          <p:cNvPr id="260" name="Google Shape;260;p19"/>
          <p:cNvSpPr txBox="1"/>
          <p:nvPr/>
        </p:nvSpPr>
        <p:spPr>
          <a:xfrm>
            <a:off x="9144000" y="4023360"/>
            <a:ext cx="24690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u="none" cap="none" strike="noStrike">
                <a:solidFill>
                  <a:srgbClr val="115594"/>
                </a:solidFill>
                <a:latin typeface="Calibri"/>
                <a:ea typeface="Calibri"/>
                <a:cs typeface="Calibri"/>
                <a:sym typeface="Calibri"/>
              </a:rPr>
              <a:t>Solution Approach</a:t>
            </a:r>
            <a:endParaRPr/>
          </a:p>
        </p:txBody>
      </p:sp>
      <p:sp>
        <p:nvSpPr>
          <p:cNvPr id="261" name="Google Shape;261;p19"/>
          <p:cNvSpPr txBox="1"/>
          <p:nvPr/>
        </p:nvSpPr>
        <p:spPr>
          <a:xfrm>
            <a:off x="9144000" y="4297680"/>
            <a:ext cx="24690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Identity + secrets hygiene</a:t>
            </a:r>
            <a:br>
              <a:rPr b="0" i="0" lang="en-US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Private networking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20"/>
          <p:cNvSpPr/>
          <p:nvPr/>
        </p:nvSpPr>
        <p:spPr>
          <a:xfrm>
            <a:off x="0" y="0"/>
            <a:ext cx="12191695" cy="1051560"/>
          </a:xfrm>
          <a:prstGeom prst="roundRect">
            <a:avLst>
              <a:gd fmla="val 16667" name="adj"/>
            </a:avLst>
          </a:prstGeom>
          <a:solidFill>
            <a:srgbClr val="0E3A6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" name="Google Shape;267;p20"/>
          <p:cNvSpPr txBox="1"/>
          <p:nvPr/>
        </p:nvSpPr>
        <p:spPr>
          <a:xfrm>
            <a:off x="548640" y="137160"/>
            <a:ext cx="91440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Constraints &amp; Assumptions</a:t>
            </a:r>
            <a:endParaRPr/>
          </a:p>
        </p:txBody>
      </p:sp>
      <p:sp>
        <p:nvSpPr>
          <p:cNvPr id="268" name="Google Shape;268;p20"/>
          <p:cNvSpPr/>
          <p:nvPr/>
        </p:nvSpPr>
        <p:spPr>
          <a:xfrm>
            <a:off x="0" y="1051560"/>
            <a:ext cx="12191695" cy="50800"/>
          </a:xfrm>
          <a:prstGeom prst="roundRect">
            <a:avLst>
              <a:gd fmla="val 16667" name="adj"/>
            </a:avLst>
          </a:prstGeom>
          <a:solidFill>
            <a:srgbClr val="E0A3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" name="Google Shape;269;p20"/>
          <p:cNvSpPr/>
          <p:nvPr/>
        </p:nvSpPr>
        <p:spPr>
          <a:xfrm>
            <a:off x="365760" y="1371600"/>
            <a:ext cx="5486400" cy="50292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DDDD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" name="Google Shape;270;p20"/>
          <p:cNvSpPr/>
          <p:nvPr/>
        </p:nvSpPr>
        <p:spPr>
          <a:xfrm>
            <a:off x="365760" y="1371600"/>
            <a:ext cx="5486400" cy="457200"/>
          </a:xfrm>
          <a:prstGeom prst="roundRect">
            <a:avLst>
              <a:gd fmla="val 16667" name="adj"/>
            </a:avLst>
          </a:prstGeom>
          <a:solidFill>
            <a:srgbClr val="C0392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" name="Google Shape;271;p20"/>
          <p:cNvSpPr txBox="1"/>
          <p:nvPr/>
        </p:nvSpPr>
        <p:spPr>
          <a:xfrm>
            <a:off x="548640" y="1389888"/>
            <a:ext cx="51207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Constraints</a:t>
            </a:r>
            <a:endParaRPr sz="1800"/>
          </a:p>
        </p:txBody>
      </p:sp>
      <p:sp>
        <p:nvSpPr>
          <p:cNvPr id="272" name="Google Shape;272;p20"/>
          <p:cNvSpPr txBox="1"/>
          <p:nvPr/>
        </p:nvSpPr>
        <p:spPr>
          <a:xfrm>
            <a:off x="548640" y="2011680"/>
            <a:ext cx="5120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  Azure Entra ID is the mandatory identity provider</a:t>
            </a:r>
            <a:endParaRPr/>
          </a:p>
        </p:txBody>
      </p:sp>
      <p:sp>
        <p:nvSpPr>
          <p:cNvPr id="273" name="Google Shape;273;p20"/>
          <p:cNvSpPr txBox="1"/>
          <p:nvPr/>
        </p:nvSpPr>
        <p:spPr>
          <a:xfrm>
            <a:off x="548640" y="2560320"/>
            <a:ext cx="51207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  Supported sources: SharePoint, Confluence, file servers, internal databases</a:t>
            </a:r>
            <a:endParaRPr/>
          </a:p>
        </p:txBody>
      </p:sp>
      <p:sp>
        <p:nvSpPr>
          <p:cNvPr id="274" name="Google Shape;274;p20"/>
          <p:cNvSpPr txBox="1"/>
          <p:nvPr/>
        </p:nvSpPr>
        <p:spPr>
          <a:xfrm>
            <a:off x="548640" y="3108960"/>
            <a:ext cx="5120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  Backend: Python— Frontend: JavaScript</a:t>
            </a:r>
            <a:endParaRPr/>
          </a:p>
        </p:txBody>
      </p:sp>
      <p:sp>
        <p:nvSpPr>
          <p:cNvPr id="275" name="Google Shape;275;p20"/>
          <p:cNvSpPr txBox="1"/>
          <p:nvPr/>
        </p:nvSpPr>
        <p:spPr>
          <a:xfrm>
            <a:off x="548640" y="3657599"/>
            <a:ext cx="5120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  Browsers: Chrome 130+ and Edge 130+</a:t>
            </a:r>
            <a:endParaRPr/>
          </a:p>
        </p:txBody>
      </p:sp>
      <p:sp>
        <p:nvSpPr>
          <p:cNvPr id="276" name="Google Shape;276;p20"/>
          <p:cNvSpPr txBox="1"/>
          <p:nvPr/>
        </p:nvSpPr>
        <p:spPr>
          <a:xfrm>
            <a:off x="548640" y="4206240"/>
            <a:ext cx="5120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  Go-live within 3 calendar months; phase variance ≤ 10%</a:t>
            </a:r>
            <a:endParaRPr/>
          </a:p>
        </p:txBody>
      </p:sp>
      <p:sp>
        <p:nvSpPr>
          <p:cNvPr id="277" name="Google Shape;277;p20"/>
          <p:cNvSpPr txBox="1"/>
          <p:nvPr/>
        </p:nvSpPr>
        <p:spPr>
          <a:xfrm>
            <a:off x="548640" y="4754880"/>
            <a:ext cx="5120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  Cloud cost cap: USD 5,000/month with alerts at 80/90/100%</a:t>
            </a:r>
            <a:endParaRPr/>
          </a:p>
        </p:txBody>
      </p:sp>
      <p:sp>
        <p:nvSpPr>
          <p:cNvPr id="278" name="Google Shape;278;p20"/>
          <p:cNvSpPr txBox="1"/>
          <p:nvPr/>
        </p:nvSpPr>
        <p:spPr>
          <a:xfrm>
            <a:off x="548640" y="5303519"/>
            <a:ext cx="5120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  No direct modification of source documents during processing</a:t>
            </a:r>
            <a:endParaRPr/>
          </a:p>
        </p:txBody>
      </p:sp>
      <p:sp>
        <p:nvSpPr>
          <p:cNvPr id="279" name="Google Shape;279;p20"/>
          <p:cNvSpPr txBox="1"/>
          <p:nvPr/>
        </p:nvSpPr>
        <p:spPr>
          <a:xfrm>
            <a:off x="548640" y="5852160"/>
            <a:ext cx="5120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  Approved file formats &amp; configured size limits only</a:t>
            </a:r>
            <a:endParaRPr/>
          </a:p>
        </p:txBody>
      </p:sp>
      <p:sp>
        <p:nvSpPr>
          <p:cNvPr id="280" name="Google Shape;280;p20"/>
          <p:cNvSpPr/>
          <p:nvPr/>
        </p:nvSpPr>
        <p:spPr>
          <a:xfrm>
            <a:off x="6217920" y="1371600"/>
            <a:ext cx="5486400" cy="50292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DDDD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1" name="Google Shape;281;p20"/>
          <p:cNvSpPr/>
          <p:nvPr/>
        </p:nvSpPr>
        <p:spPr>
          <a:xfrm>
            <a:off x="6217920" y="1371600"/>
            <a:ext cx="5486400" cy="457200"/>
          </a:xfrm>
          <a:prstGeom prst="roundRect">
            <a:avLst>
              <a:gd fmla="val 16667" name="adj"/>
            </a:avLst>
          </a:prstGeom>
          <a:solidFill>
            <a:srgbClr val="11559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" name="Google Shape;282;p20"/>
          <p:cNvSpPr txBox="1"/>
          <p:nvPr/>
        </p:nvSpPr>
        <p:spPr>
          <a:xfrm>
            <a:off x="6400800" y="1389888"/>
            <a:ext cx="51207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Assumptions</a:t>
            </a:r>
            <a:endParaRPr sz="1800"/>
          </a:p>
        </p:txBody>
      </p:sp>
      <p:sp>
        <p:nvSpPr>
          <p:cNvPr id="283" name="Google Shape;283;p20"/>
          <p:cNvSpPr txBox="1"/>
          <p:nvPr/>
        </p:nvSpPr>
        <p:spPr>
          <a:xfrm>
            <a:off x="6400800" y="2011680"/>
            <a:ext cx="51207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  Users have valid Azure Entra ID accounts with correct organizational roles</a:t>
            </a:r>
            <a:endParaRPr/>
          </a:p>
        </p:txBody>
      </p:sp>
      <p:sp>
        <p:nvSpPr>
          <p:cNvPr id="284" name="Google Shape;284;p20"/>
          <p:cNvSpPr txBox="1"/>
          <p:nvPr/>
        </p:nvSpPr>
        <p:spPr>
          <a:xfrm>
            <a:off x="6400800" y="2670048"/>
            <a:ext cx="51207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  Enterprise content sources are available &amp; configured with correct permissions</a:t>
            </a:r>
            <a:endParaRPr/>
          </a:p>
        </p:txBody>
      </p:sp>
      <p:sp>
        <p:nvSpPr>
          <p:cNvPr id="285" name="Google Shape;285;p20"/>
          <p:cNvSpPr txBox="1"/>
          <p:nvPr/>
        </p:nvSpPr>
        <p:spPr>
          <a:xfrm>
            <a:off x="6400800" y="3328416"/>
            <a:ext cx="5120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  Documents are in approved formats suitable for text extraction</a:t>
            </a:r>
            <a:endParaRPr/>
          </a:p>
        </p:txBody>
      </p:sp>
      <p:sp>
        <p:nvSpPr>
          <p:cNvPr id="286" name="Google Shape;286;p20"/>
          <p:cNvSpPr txBox="1"/>
          <p:nvPr/>
        </p:nvSpPr>
        <p:spPr>
          <a:xfrm>
            <a:off x="6400800" y="3986784"/>
            <a:ext cx="5120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  Azure AI services available with sufficient capacity</a:t>
            </a:r>
            <a:endParaRPr/>
          </a:p>
        </p:txBody>
      </p:sp>
      <p:sp>
        <p:nvSpPr>
          <p:cNvPr id="287" name="Google Shape;287;p20"/>
          <p:cNvSpPr txBox="1"/>
          <p:nvPr/>
        </p:nvSpPr>
        <p:spPr>
          <a:xfrm>
            <a:off x="6400800" y="4645152"/>
            <a:ext cx="51207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  Customer provides authoritative audit templates &amp; expert directory data</a:t>
            </a:r>
            <a:endParaRPr/>
          </a:p>
        </p:txBody>
      </p:sp>
      <p:sp>
        <p:nvSpPr>
          <p:cNvPr id="288" name="Google Shape;288;p20"/>
          <p:cNvSpPr txBox="1"/>
          <p:nvPr/>
        </p:nvSpPr>
        <p:spPr>
          <a:xfrm>
            <a:off x="6400800" y="5303519"/>
            <a:ext cx="5120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  Users will review AI outputs before final accept/reject decisions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p21"/>
          <p:cNvSpPr/>
          <p:nvPr/>
        </p:nvSpPr>
        <p:spPr>
          <a:xfrm>
            <a:off x="0" y="0"/>
            <a:ext cx="12191695" cy="1051560"/>
          </a:xfrm>
          <a:prstGeom prst="roundRect">
            <a:avLst>
              <a:gd fmla="val 16667" name="adj"/>
            </a:avLst>
          </a:prstGeom>
          <a:solidFill>
            <a:srgbClr val="0E3A6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4" name="Google Shape;294;p21"/>
          <p:cNvSpPr txBox="1"/>
          <p:nvPr/>
        </p:nvSpPr>
        <p:spPr>
          <a:xfrm>
            <a:off x="548640" y="137160"/>
            <a:ext cx="91440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Solution Architecture — 4+1 View Model</a:t>
            </a:r>
            <a:endParaRPr/>
          </a:p>
        </p:txBody>
      </p:sp>
      <p:sp>
        <p:nvSpPr>
          <p:cNvPr id="295" name="Google Shape;295;p21"/>
          <p:cNvSpPr txBox="1"/>
          <p:nvPr/>
        </p:nvSpPr>
        <p:spPr>
          <a:xfrm>
            <a:off x="548640" y="640080"/>
            <a:ext cx="10972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BBCCDD"/>
                </a:solidFill>
                <a:latin typeface="Calibri"/>
                <a:ea typeface="Calibri"/>
                <a:cs typeface="Calibri"/>
                <a:sym typeface="Calibri"/>
              </a:rPr>
              <a:t>Comprehensive architecture using the 4+1 architectural view model</a:t>
            </a:r>
            <a:endParaRPr sz="1800"/>
          </a:p>
        </p:txBody>
      </p:sp>
      <p:sp>
        <p:nvSpPr>
          <p:cNvPr id="296" name="Google Shape;296;p21"/>
          <p:cNvSpPr/>
          <p:nvPr/>
        </p:nvSpPr>
        <p:spPr>
          <a:xfrm>
            <a:off x="0" y="1051560"/>
            <a:ext cx="12191695" cy="50800"/>
          </a:xfrm>
          <a:prstGeom prst="roundRect">
            <a:avLst>
              <a:gd fmla="val 16667" name="adj"/>
            </a:avLst>
          </a:prstGeom>
          <a:solidFill>
            <a:srgbClr val="E0A3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7" name="Google Shape;297;p21"/>
          <p:cNvSpPr/>
          <p:nvPr/>
        </p:nvSpPr>
        <p:spPr>
          <a:xfrm>
            <a:off x="274320" y="1463040"/>
            <a:ext cx="2194560" cy="475488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31750">
            <a:solidFill>
              <a:srgbClr val="E0A3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8" name="Google Shape;298;p21"/>
          <p:cNvSpPr/>
          <p:nvPr/>
        </p:nvSpPr>
        <p:spPr>
          <a:xfrm>
            <a:off x="274320" y="1463040"/>
            <a:ext cx="2194500" cy="594300"/>
          </a:xfrm>
          <a:prstGeom prst="roundRect">
            <a:avLst>
              <a:gd fmla="val 16667" name="adj"/>
            </a:avLst>
          </a:prstGeom>
          <a:solidFill>
            <a:srgbClr val="E0A3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9" name="Google Shape;299;p21"/>
          <p:cNvSpPr txBox="1"/>
          <p:nvPr/>
        </p:nvSpPr>
        <p:spPr>
          <a:xfrm>
            <a:off x="365760" y="1508760"/>
            <a:ext cx="2011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+1 Use Case View</a:t>
            </a:r>
            <a:endParaRPr sz="1800"/>
          </a:p>
        </p:txBody>
      </p:sp>
      <p:sp>
        <p:nvSpPr>
          <p:cNvPr id="300" name="Google Shape;300;p21"/>
          <p:cNvSpPr txBox="1"/>
          <p:nvPr/>
        </p:nvSpPr>
        <p:spPr>
          <a:xfrm>
            <a:off x="411480" y="2286000"/>
            <a:ext cx="19203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Use Case Diagram</a:t>
            </a:r>
            <a:endParaRPr sz="1600"/>
          </a:p>
        </p:txBody>
      </p:sp>
      <p:sp>
        <p:nvSpPr>
          <p:cNvPr id="301" name="Google Shape;301;p21"/>
          <p:cNvSpPr/>
          <p:nvPr/>
        </p:nvSpPr>
        <p:spPr>
          <a:xfrm>
            <a:off x="411480" y="5120640"/>
            <a:ext cx="1920240" cy="822960"/>
          </a:xfrm>
          <a:prstGeom prst="roundRect">
            <a:avLst>
              <a:gd fmla="val 16667" name="adj"/>
            </a:avLst>
          </a:prstGeom>
          <a:solidFill>
            <a:srgbClr val="E8F0F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2" name="Google Shape;302;p21"/>
          <p:cNvSpPr txBox="1"/>
          <p:nvPr/>
        </p:nvSpPr>
        <p:spPr>
          <a:xfrm>
            <a:off x="457200" y="5166360"/>
            <a:ext cx="18288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115594"/>
                </a:solidFill>
                <a:latin typeface="Calibri"/>
                <a:ea typeface="Calibri"/>
                <a:cs typeface="Calibri"/>
                <a:sym typeface="Calibri"/>
              </a:rPr>
              <a:t>Captures WHAT</a:t>
            </a:r>
            <a:br>
              <a:rPr b="1" i="0" lang="en-US" sz="1600" u="none" cap="none" strike="noStrike">
                <a:solidFill>
                  <a:srgbClr val="115594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1600" u="none" cap="none" strike="noStrike">
                <a:solidFill>
                  <a:srgbClr val="115594"/>
                </a:solidFill>
                <a:latin typeface="Calibri"/>
                <a:ea typeface="Calibri"/>
                <a:cs typeface="Calibri"/>
                <a:sym typeface="Calibri"/>
              </a:rPr>
              <a:t>the system does</a:t>
            </a:r>
            <a:endParaRPr sz="1600"/>
          </a:p>
        </p:txBody>
      </p:sp>
      <p:sp>
        <p:nvSpPr>
          <p:cNvPr id="303" name="Google Shape;303;p21"/>
          <p:cNvSpPr/>
          <p:nvPr/>
        </p:nvSpPr>
        <p:spPr>
          <a:xfrm>
            <a:off x="2606040" y="1463040"/>
            <a:ext cx="2194560" cy="475488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31750">
            <a:solidFill>
              <a:srgbClr val="11559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4" name="Google Shape;304;p21"/>
          <p:cNvSpPr/>
          <p:nvPr/>
        </p:nvSpPr>
        <p:spPr>
          <a:xfrm>
            <a:off x="2606040" y="1463040"/>
            <a:ext cx="2194560" cy="594360"/>
          </a:xfrm>
          <a:prstGeom prst="roundRect">
            <a:avLst>
              <a:gd fmla="val 16667" name="adj"/>
            </a:avLst>
          </a:prstGeom>
          <a:solidFill>
            <a:srgbClr val="11559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5" name="Google Shape;305;p21"/>
          <p:cNvSpPr txBox="1"/>
          <p:nvPr/>
        </p:nvSpPr>
        <p:spPr>
          <a:xfrm>
            <a:off x="2697480" y="1508760"/>
            <a:ext cx="2011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Logical View</a:t>
            </a:r>
            <a:endParaRPr sz="1800"/>
          </a:p>
        </p:txBody>
      </p:sp>
      <p:sp>
        <p:nvSpPr>
          <p:cNvPr id="306" name="Google Shape;306;p21"/>
          <p:cNvSpPr txBox="1"/>
          <p:nvPr/>
        </p:nvSpPr>
        <p:spPr>
          <a:xfrm>
            <a:off x="2606050" y="2286000"/>
            <a:ext cx="23316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System Context Diagram</a:t>
            </a:r>
            <a:endParaRPr sz="1600"/>
          </a:p>
        </p:txBody>
      </p:sp>
      <p:sp>
        <p:nvSpPr>
          <p:cNvPr id="307" name="Google Shape;307;p21"/>
          <p:cNvSpPr/>
          <p:nvPr/>
        </p:nvSpPr>
        <p:spPr>
          <a:xfrm>
            <a:off x="2743200" y="5120640"/>
            <a:ext cx="1920240" cy="822960"/>
          </a:xfrm>
          <a:prstGeom prst="roundRect">
            <a:avLst>
              <a:gd fmla="val 16667" name="adj"/>
            </a:avLst>
          </a:prstGeom>
          <a:solidFill>
            <a:srgbClr val="E8F0F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8" name="Google Shape;308;p21"/>
          <p:cNvSpPr txBox="1"/>
          <p:nvPr/>
        </p:nvSpPr>
        <p:spPr>
          <a:xfrm>
            <a:off x="2788920" y="5166360"/>
            <a:ext cx="1828800" cy="8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115594"/>
                </a:solidFill>
                <a:latin typeface="Calibri"/>
                <a:ea typeface="Calibri"/>
                <a:cs typeface="Calibri"/>
                <a:sym typeface="Calibri"/>
              </a:rPr>
              <a:t>Captures HOW</a:t>
            </a:r>
            <a:br>
              <a:rPr b="1" i="0" lang="en-US" sz="1600" u="none" cap="none" strike="noStrike">
                <a:solidFill>
                  <a:srgbClr val="115594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1600" u="none" cap="none" strike="noStrike">
                <a:solidFill>
                  <a:srgbClr val="115594"/>
                </a:solidFill>
                <a:latin typeface="Calibri"/>
                <a:ea typeface="Calibri"/>
                <a:cs typeface="Calibri"/>
                <a:sym typeface="Calibri"/>
              </a:rPr>
              <a:t>the system is structured</a:t>
            </a:r>
            <a:endParaRPr sz="1600"/>
          </a:p>
        </p:txBody>
      </p:sp>
      <p:sp>
        <p:nvSpPr>
          <p:cNvPr id="309" name="Google Shape;309;p21"/>
          <p:cNvSpPr/>
          <p:nvPr/>
        </p:nvSpPr>
        <p:spPr>
          <a:xfrm>
            <a:off x="4937760" y="1463040"/>
            <a:ext cx="2194560" cy="475488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31750">
            <a:solidFill>
              <a:srgbClr val="0F766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0" name="Google Shape;310;p21"/>
          <p:cNvSpPr/>
          <p:nvPr/>
        </p:nvSpPr>
        <p:spPr>
          <a:xfrm>
            <a:off x="4937760" y="1463040"/>
            <a:ext cx="2194560" cy="594360"/>
          </a:xfrm>
          <a:prstGeom prst="roundRect">
            <a:avLst>
              <a:gd fmla="val 16667" name="adj"/>
            </a:avLst>
          </a:prstGeom>
          <a:solidFill>
            <a:srgbClr val="0F766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1" name="Google Shape;311;p21"/>
          <p:cNvSpPr txBox="1"/>
          <p:nvPr/>
        </p:nvSpPr>
        <p:spPr>
          <a:xfrm>
            <a:off x="5029200" y="1508760"/>
            <a:ext cx="2011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Process View</a:t>
            </a:r>
            <a:endParaRPr sz="1800"/>
          </a:p>
        </p:txBody>
      </p:sp>
      <p:sp>
        <p:nvSpPr>
          <p:cNvPr id="312" name="Google Shape;312;p21"/>
          <p:cNvSpPr txBox="1"/>
          <p:nvPr/>
        </p:nvSpPr>
        <p:spPr>
          <a:xfrm>
            <a:off x="5074920" y="2286000"/>
            <a:ext cx="1920300" cy="8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Activity Diagrams</a:t>
            </a:r>
            <a:br>
              <a:rPr b="0" i="0" lang="en-US" sz="16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6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3 key workflows</a:t>
            </a:r>
            <a:endParaRPr b="0" i="0" sz="1600" u="none" cap="none" strike="noStrike">
              <a:solidFill>
                <a:srgbClr val="1A1A1A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16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Swim-lane notation</a:t>
            </a:r>
            <a:endParaRPr sz="1600">
              <a:solidFill>
                <a:srgbClr val="1A1A1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3" name="Google Shape;313;p21"/>
          <p:cNvSpPr/>
          <p:nvPr/>
        </p:nvSpPr>
        <p:spPr>
          <a:xfrm>
            <a:off x="5074920" y="5120640"/>
            <a:ext cx="1920240" cy="822960"/>
          </a:xfrm>
          <a:prstGeom prst="roundRect">
            <a:avLst>
              <a:gd fmla="val 16667" name="adj"/>
            </a:avLst>
          </a:prstGeom>
          <a:solidFill>
            <a:srgbClr val="E8F0F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4" name="Google Shape;314;p21"/>
          <p:cNvSpPr txBox="1"/>
          <p:nvPr/>
        </p:nvSpPr>
        <p:spPr>
          <a:xfrm>
            <a:off x="5120640" y="5166360"/>
            <a:ext cx="1828800" cy="8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115594"/>
                </a:solidFill>
                <a:latin typeface="Calibri"/>
                <a:ea typeface="Calibri"/>
                <a:cs typeface="Calibri"/>
                <a:sym typeface="Calibri"/>
              </a:rPr>
              <a:t>Captures HOW</a:t>
            </a:r>
            <a:br>
              <a:rPr b="1" i="0" lang="en-US" sz="1600" u="none" cap="none" strike="noStrike">
                <a:solidFill>
                  <a:srgbClr val="115594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1600" u="none" cap="none" strike="noStrike">
                <a:solidFill>
                  <a:srgbClr val="115594"/>
                </a:solidFill>
                <a:latin typeface="Calibri"/>
                <a:ea typeface="Calibri"/>
                <a:cs typeface="Calibri"/>
                <a:sym typeface="Calibri"/>
              </a:rPr>
              <a:t>the system behaves</a:t>
            </a:r>
            <a:endParaRPr sz="1600"/>
          </a:p>
        </p:txBody>
      </p:sp>
      <p:sp>
        <p:nvSpPr>
          <p:cNvPr id="315" name="Google Shape;315;p21"/>
          <p:cNvSpPr/>
          <p:nvPr/>
        </p:nvSpPr>
        <p:spPr>
          <a:xfrm>
            <a:off x="7269479" y="1463040"/>
            <a:ext cx="2194560" cy="475488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31750">
            <a:solidFill>
              <a:srgbClr val="7C3A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6" name="Google Shape;316;p21"/>
          <p:cNvSpPr/>
          <p:nvPr/>
        </p:nvSpPr>
        <p:spPr>
          <a:xfrm>
            <a:off x="7269479" y="1463040"/>
            <a:ext cx="2194560" cy="594360"/>
          </a:xfrm>
          <a:prstGeom prst="roundRect">
            <a:avLst>
              <a:gd fmla="val 16667" name="adj"/>
            </a:avLst>
          </a:prstGeom>
          <a:solidFill>
            <a:srgbClr val="7C3AE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7" name="Google Shape;317;p21"/>
          <p:cNvSpPr txBox="1"/>
          <p:nvPr/>
        </p:nvSpPr>
        <p:spPr>
          <a:xfrm>
            <a:off x="7360919" y="1508760"/>
            <a:ext cx="2011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Development View</a:t>
            </a:r>
            <a:endParaRPr sz="1800"/>
          </a:p>
        </p:txBody>
      </p:sp>
      <p:sp>
        <p:nvSpPr>
          <p:cNvPr id="318" name="Google Shape;318;p21"/>
          <p:cNvSpPr txBox="1"/>
          <p:nvPr/>
        </p:nvSpPr>
        <p:spPr>
          <a:xfrm>
            <a:off x="7406639" y="2286000"/>
            <a:ext cx="19203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16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Container Diagram</a:t>
            </a:r>
            <a:br>
              <a:rPr lang="en-US" sz="16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6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4 functional zones</a:t>
            </a:r>
            <a:endParaRPr sz="1600"/>
          </a:p>
        </p:txBody>
      </p:sp>
      <p:sp>
        <p:nvSpPr>
          <p:cNvPr id="319" name="Google Shape;319;p21"/>
          <p:cNvSpPr/>
          <p:nvPr/>
        </p:nvSpPr>
        <p:spPr>
          <a:xfrm>
            <a:off x="7406639" y="5120640"/>
            <a:ext cx="1920240" cy="822960"/>
          </a:xfrm>
          <a:prstGeom prst="roundRect">
            <a:avLst>
              <a:gd fmla="val 16667" name="adj"/>
            </a:avLst>
          </a:prstGeom>
          <a:solidFill>
            <a:srgbClr val="E8F0F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0" name="Google Shape;320;p21"/>
          <p:cNvSpPr txBox="1"/>
          <p:nvPr/>
        </p:nvSpPr>
        <p:spPr>
          <a:xfrm>
            <a:off x="7452359" y="5166360"/>
            <a:ext cx="18288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115594"/>
                </a:solidFill>
                <a:latin typeface="Calibri"/>
                <a:ea typeface="Calibri"/>
                <a:cs typeface="Calibri"/>
                <a:sym typeface="Calibri"/>
              </a:rPr>
              <a:t>Captures HOW</a:t>
            </a:r>
            <a:br>
              <a:rPr b="1" i="0" lang="en-US" sz="1600" u="none" cap="none" strike="noStrike">
                <a:solidFill>
                  <a:srgbClr val="115594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1600" u="none" cap="none" strike="noStrike">
                <a:solidFill>
                  <a:srgbClr val="115594"/>
                </a:solidFill>
                <a:latin typeface="Calibri"/>
                <a:ea typeface="Calibri"/>
                <a:cs typeface="Calibri"/>
                <a:sym typeface="Calibri"/>
              </a:rPr>
              <a:t>the system is built</a:t>
            </a:r>
            <a:endParaRPr sz="1600"/>
          </a:p>
        </p:txBody>
      </p:sp>
      <p:sp>
        <p:nvSpPr>
          <p:cNvPr id="321" name="Google Shape;321;p21"/>
          <p:cNvSpPr/>
          <p:nvPr/>
        </p:nvSpPr>
        <p:spPr>
          <a:xfrm>
            <a:off x="9601200" y="1463040"/>
            <a:ext cx="2194560" cy="475488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31750">
            <a:solidFill>
              <a:srgbClr val="92400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2" name="Google Shape;322;p21"/>
          <p:cNvSpPr/>
          <p:nvPr/>
        </p:nvSpPr>
        <p:spPr>
          <a:xfrm>
            <a:off x="9601200" y="1463040"/>
            <a:ext cx="2194560" cy="594360"/>
          </a:xfrm>
          <a:prstGeom prst="roundRect">
            <a:avLst>
              <a:gd fmla="val 16667" name="adj"/>
            </a:avLst>
          </a:prstGeom>
          <a:solidFill>
            <a:srgbClr val="92400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3" name="Google Shape;323;p21"/>
          <p:cNvSpPr txBox="1"/>
          <p:nvPr/>
        </p:nvSpPr>
        <p:spPr>
          <a:xfrm>
            <a:off x="9692640" y="1508760"/>
            <a:ext cx="2011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Physical View</a:t>
            </a:r>
            <a:endParaRPr sz="1800"/>
          </a:p>
        </p:txBody>
      </p:sp>
      <p:sp>
        <p:nvSpPr>
          <p:cNvPr id="324" name="Google Shape;324;p21"/>
          <p:cNvSpPr txBox="1"/>
          <p:nvPr/>
        </p:nvSpPr>
        <p:spPr>
          <a:xfrm>
            <a:off x="9738349" y="2286000"/>
            <a:ext cx="21945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Deployment Diagram</a:t>
            </a:r>
            <a:endParaRPr sz="1600"/>
          </a:p>
        </p:txBody>
      </p:sp>
      <p:sp>
        <p:nvSpPr>
          <p:cNvPr id="325" name="Google Shape;325;p21"/>
          <p:cNvSpPr/>
          <p:nvPr/>
        </p:nvSpPr>
        <p:spPr>
          <a:xfrm>
            <a:off x="9738360" y="5120640"/>
            <a:ext cx="1920240" cy="822960"/>
          </a:xfrm>
          <a:prstGeom prst="roundRect">
            <a:avLst>
              <a:gd fmla="val 16667" name="adj"/>
            </a:avLst>
          </a:prstGeom>
          <a:solidFill>
            <a:srgbClr val="E8F0F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6" name="Google Shape;326;p21"/>
          <p:cNvSpPr txBox="1"/>
          <p:nvPr/>
        </p:nvSpPr>
        <p:spPr>
          <a:xfrm>
            <a:off x="9784080" y="5166360"/>
            <a:ext cx="18288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115594"/>
                </a:solidFill>
                <a:latin typeface="Calibri"/>
                <a:ea typeface="Calibri"/>
                <a:cs typeface="Calibri"/>
                <a:sym typeface="Calibri"/>
              </a:rPr>
              <a:t>Captures WHERE</a:t>
            </a:r>
            <a:br>
              <a:rPr b="1" i="0" lang="en-US" sz="1600" u="none" cap="none" strike="noStrike">
                <a:solidFill>
                  <a:srgbClr val="115594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1600" u="none" cap="none" strike="noStrike">
                <a:solidFill>
                  <a:srgbClr val="115594"/>
                </a:solidFill>
                <a:latin typeface="Calibri"/>
                <a:ea typeface="Calibri"/>
                <a:cs typeface="Calibri"/>
                <a:sym typeface="Calibri"/>
              </a:rPr>
              <a:t>the system runs</a:t>
            </a:r>
            <a:endParaRPr sz="16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0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p22"/>
          <p:cNvSpPr/>
          <p:nvPr/>
        </p:nvSpPr>
        <p:spPr>
          <a:xfrm>
            <a:off x="0" y="0"/>
            <a:ext cx="12191695" cy="1051560"/>
          </a:xfrm>
          <a:prstGeom prst="roundRect">
            <a:avLst>
              <a:gd fmla="val 16667" name="adj"/>
            </a:avLst>
          </a:prstGeom>
          <a:solidFill>
            <a:srgbClr val="0E3A6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2" name="Google Shape;332;p22"/>
          <p:cNvSpPr txBox="1"/>
          <p:nvPr/>
        </p:nvSpPr>
        <p:spPr>
          <a:xfrm>
            <a:off x="548640" y="137160"/>
            <a:ext cx="91440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Use Case Diagram</a:t>
            </a:r>
            <a:endParaRPr/>
          </a:p>
        </p:txBody>
      </p:sp>
      <p:sp>
        <p:nvSpPr>
          <p:cNvPr id="333" name="Google Shape;333;p22"/>
          <p:cNvSpPr txBox="1"/>
          <p:nvPr/>
        </p:nvSpPr>
        <p:spPr>
          <a:xfrm>
            <a:off x="548640" y="640080"/>
            <a:ext cx="109728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4" name="Google Shape;334;p22"/>
          <p:cNvSpPr/>
          <p:nvPr/>
        </p:nvSpPr>
        <p:spPr>
          <a:xfrm>
            <a:off x="0" y="1051560"/>
            <a:ext cx="12191695" cy="50800"/>
          </a:xfrm>
          <a:prstGeom prst="roundRect">
            <a:avLst>
              <a:gd fmla="val 16667" name="adj"/>
            </a:avLst>
          </a:prstGeom>
          <a:solidFill>
            <a:srgbClr val="E0A3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35" name="Google Shape;335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46714" y="1254760"/>
            <a:ext cx="7444940" cy="545084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40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p23"/>
          <p:cNvSpPr/>
          <p:nvPr/>
        </p:nvSpPr>
        <p:spPr>
          <a:xfrm>
            <a:off x="0" y="0"/>
            <a:ext cx="12207240" cy="1055418"/>
          </a:xfrm>
          <a:custGeom>
            <a:rect b="b" l="l" r="r" t="t"/>
            <a:pathLst>
              <a:path extrusionOk="0" h="1581150" w="18288000">
                <a:moveTo>
                  <a:pt x="0" y="0"/>
                </a:moveTo>
                <a:lnTo>
                  <a:pt x="18288000" y="0"/>
                </a:lnTo>
                <a:lnTo>
                  <a:pt x="18288000" y="1314450"/>
                </a:lnTo>
                <a:cubicBezTo>
                  <a:pt x="18288000" y="1461744"/>
                  <a:pt x="18168594" y="1581150"/>
                  <a:pt x="18021300" y="1581150"/>
                </a:cubicBezTo>
                <a:lnTo>
                  <a:pt x="266700" y="1581150"/>
                </a:lnTo>
                <a:cubicBezTo>
                  <a:pt x="119406" y="1581150"/>
                  <a:pt x="0" y="1461744"/>
                  <a:pt x="0" y="1314450"/>
                </a:cubicBezTo>
                <a:lnTo>
                  <a:pt x="0" y="0"/>
                </a:lnTo>
                <a:close/>
              </a:path>
            </a:pathLst>
          </a:custGeom>
          <a:solidFill>
            <a:srgbClr val="0E3A66"/>
          </a:solidFill>
          <a:ln>
            <a:noFill/>
          </a:ln>
        </p:spPr>
        <p:txBody>
          <a:bodyPr anchorCtr="0" anchor="ctr" bIns="60950" lIns="60950" spcFirstLastPara="1" rIns="60950" wrap="square" tIns="609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2" name="Google Shape;342;p23"/>
          <p:cNvSpPr/>
          <p:nvPr/>
        </p:nvSpPr>
        <p:spPr>
          <a:xfrm>
            <a:off x="546085" y="152400"/>
            <a:ext cx="7890900" cy="262800"/>
          </a:xfrm>
          <a:prstGeom prst="rect">
            <a:avLst/>
          </a:prstGeom>
          <a:noFill/>
          <a:ln>
            <a:noFill/>
          </a:ln>
        </p:spPr>
        <p:txBody>
          <a:bodyPr anchorCtr="0" anchor="t" bIns="16925" lIns="16925" spcFirstLastPara="1" rIns="16925" wrap="square" tIns="16925">
            <a:noAutofit/>
          </a:bodyPr>
          <a:lstStyle/>
          <a:p>
            <a:pPr indent="0" lvl="0" marL="0" marR="0" rtl="0" algn="l">
              <a:lnSpc>
                <a:spcPct val="95897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Arimo"/>
              <a:buNone/>
            </a:pPr>
            <a:r>
              <a:rPr b="1" i="0" lang="en-US" sz="1700" u="none" cap="none" strike="noStrike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System Context </a:t>
            </a:r>
            <a:r>
              <a:rPr b="1" lang="en-US" sz="170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Diagram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3" name="Google Shape;343;p23"/>
          <p:cNvSpPr/>
          <p:nvPr/>
        </p:nvSpPr>
        <p:spPr>
          <a:xfrm>
            <a:off x="0" y="1054100"/>
            <a:ext cx="12191700" cy="50700"/>
          </a:xfrm>
          <a:prstGeom prst="rect">
            <a:avLst/>
          </a:prstGeom>
          <a:solidFill>
            <a:srgbClr val="E0A300"/>
          </a:solidFill>
          <a:ln>
            <a:noFill/>
          </a:ln>
        </p:spPr>
        <p:txBody>
          <a:bodyPr anchorCtr="0" anchor="ctr" bIns="60950" lIns="60950" spcFirstLastPara="1" rIns="60950" wrap="square" tIns="609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4" name="Google Shape;344;p23"/>
          <p:cNvSpPr/>
          <p:nvPr/>
        </p:nvSpPr>
        <p:spPr>
          <a:xfrm>
            <a:off x="698481" y="1333500"/>
            <a:ext cx="10794600" cy="5270700"/>
          </a:xfrm>
          <a:prstGeom prst="roundRect">
            <a:avLst>
              <a:gd fmla="val 2410" name="adj"/>
            </a:avLst>
          </a:prstGeom>
          <a:solidFill>
            <a:srgbClr val="FAFAFA"/>
          </a:solidFill>
          <a:ln cap="flat" cmpd="sng" w="6350">
            <a:solidFill>
              <a:srgbClr val="DADF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0950" lIns="60950" spcFirstLastPara="1" rIns="60950" wrap="square" tIns="609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345" name="Google Shape;345;p23" title="[tobe]system_context_diagram.png"/>
          <p:cNvPicPr preferRelativeResize="0"/>
          <p:nvPr/>
        </p:nvPicPr>
        <p:blipFill rotWithShape="1">
          <a:blip r:embed="rId3">
            <a:alphaModFix/>
          </a:blip>
          <a:srcRect b="21278" l="0" r="0" t="0"/>
          <a:stretch/>
        </p:blipFill>
        <p:spPr>
          <a:xfrm>
            <a:off x="1606074" y="1339850"/>
            <a:ext cx="8979523" cy="5270601"/>
          </a:xfrm>
          <a:prstGeom prst="rect">
            <a:avLst/>
          </a:prstGeom>
          <a:solidFill>
            <a:srgbClr val="FAFAFA"/>
          </a:solidFill>
          <a:ln cap="flat" cmpd="sng" w="6350">
            <a:solidFill>
              <a:srgbClr val="DADFE5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346" name="Google Shape;346;p23"/>
          <p:cNvSpPr/>
          <p:nvPr/>
        </p:nvSpPr>
        <p:spPr>
          <a:xfrm>
            <a:off x="0" y="0"/>
            <a:ext cx="12207240" cy="1055418"/>
          </a:xfrm>
          <a:custGeom>
            <a:rect b="b" l="l" r="r" t="t"/>
            <a:pathLst>
              <a:path extrusionOk="0" h="1581150" w="18288000">
                <a:moveTo>
                  <a:pt x="0" y="0"/>
                </a:moveTo>
                <a:lnTo>
                  <a:pt x="18288000" y="0"/>
                </a:lnTo>
                <a:lnTo>
                  <a:pt x="18288000" y="1314450"/>
                </a:lnTo>
                <a:cubicBezTo>
                  <a:pt x="18288000" y="1461744"/>
                  <a:pt x="18168594" y="1581150"/>
                  <a:pt x="18021300" y="1581150"/>
                </a:cubicBezTo>
                <a:lnTo>
                  <a:pt x="266700" y="1581150"/>
                </a:lnTo>
                <a:cubicBezTo>
                  <a:pt x="119406" y="1581150"/>
                  <a:pt x="0" y="1461744"/>
                  <a:pt x="0" y="1314450"/>
                </a:cubicBezTo>
                <a:lnTo>
                  <a:pt x="0" y="0"/>
                </a:lnTo>
                <a:close/>
              </a:path>
            </a:pathLst>
          </a:custGeom>
          <a:solidFill>
            <a:srgbClr val="0E3A66"/>
          </a:solidFill>
          <a:ln>
            <a:noFill/>
          </a:ln>
        </p:spPr>
        <p:txBody>
          <a:bodyPr anchorCtr="0" anchor="ctr" bIns="60950" lIns="60950" spcFirstLastPara="1" rIns="60950" wrap="square" tIns="609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7" name="Google Shape;347;p23"/>
          <p:cNvSpPr/>
          <p:nvPr/>
        </p:nvSpPr>
        <p:spPr>
          <a:xfrm>
            <a:off x="546085" y="152400"/>
            <a:ext cx="7890900" cy="262800"/>
          </a:xfrm>
          <a:prstGeom prst="rect">
            <a:avLst/>
          </a:prstGeom>
          <a:noFill/>
          <a:ln>
            <a:noFill/>
          </a:ln>
        </p:spPr>
        <p:txBody>
          <a:bodyPr anchorCtr="0" anchor="t" bIns="16925" lIns="16925" spcFirstLastPara="1" rIns="16925" wrap="square" tIns="16925">
            <a:noAutofit/>
          </a:bodyPr>
          <a:lstStyle/>
          <a:p>
            <a:pPr indent="0" lvl="0" marL="0" marR="0" rtl="0" algn="l">
              <a:lnSpc>
                <a:spcPct val="95897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Arimo"/>
              <a:buNone/>
            </a:pPr>
            <a:r>
              <a:rPr b="1" i="0" lang="en-US" sz="1700" u="none" cap="none" strike="noStrike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System Context </a:t>
            </a:r>
            <a:r>
              <a:rPr b="1" lang="en-US" sz="170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Diagram</a:t>
            </a:r>
            <a:endParaRPr b="0" i="0" sz="17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8" name="Google Shape;348;p23"/>
          <p:cNvSpPr/>
          <p:nvPr/>
        </p:nvSpPr>
        <p:spPr>
          <a:xfrm>
            <a:off x="546075" y="660400"/>
            <a:ext cx="10510800" cy="262800"/>
          </a:xfrm>
          <a:prstGeom prst="rect">
            <a:avLst/>
          </a:prstGeom>
          <a:noFill/>
          <a:ln>
            <a:noFill/>
          </a:ln>
        </p:spPr>
        <p:txBody>
          <a:bodyPr anchorCtr="0" anchor="t" bIns="16925" lIns="16925" spcFirstLastPara="1" rIns="16925" wrap="square" tIns="169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BCCDD"/>
              </a:buClr>
              <a:buSzPts val="900"/>
              <a:buFont typeface="Arimo"/>
              <a:buNone/>
            </a:pPr>
            <a:r>
              <a:rPr b="0" i="0" lang="en-US" u="none" cap="none" strike="noStrike">
                <a:solidFill>
                  <a:srgbClr val="BBCCDD"/>
                </a:solidFill>
                <a:latin typeface="Arimo"/>
                <a:ea typeface="Arimo"/>
                <a:cs typeface="Arimo"/>
                <a:sym typeface="Arimo"/>
              </a:rPr>
              <a:t>AS-IS integrated with one external system (Azure Entra ID) · the four gold-bordered systems are the entire TO-BE scope increase</a:t>
            </a:r>
            <a:endParaRPr b="0" i="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53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Google Shape;354;p24"/>
          <p:cNvSpPr/>
          <p:nvPr/>
        </p:nvSpPr>
        <p:spPr>
          <a:xfrm>
            <a:off x="0" y="0"/>
            <a:ext cx="12207240" cy="1055418"/>
          </a:xfrm>
          <a:custGeom>
            <a:rect b="b" l="l" r="r" t="t"/>
            <a:pathLst>
              <a:path extrusionOk="0" h="1581150" w="18288000">
                <a:moveTo>
                  <a:pt x="0" y="0"/>
                </a:moveTo>
                <a:lnTo>
                  <a:pt x="18288000" y="0"/>
                </a:lnTo>
                <a:lnTo>
                  <a:pt x="18288000" y="1314450"/>
                </a:lnTo>
                <a:cubicBezTo>
                  <a:pt x="18288000" y="1461744"/>
                  <a:pt x="18168594" y="1581150"/>
                  <a:pt x="18021300" y="1581150"/>
                </a:cubicBezTo>
                <a:lnTo>
                  <a:pt x="266700" y="1581150"/>
                </a:lnTo>
                <a:cubicBezTo>
                  <a:pt x="119406" y="1581150"/>
                  <a:pt x="0" y="1461744"/>
                  <a:pt x="0" y="1314450"/>
                </a:cubicBezTo>
                <a:lnTo>
                  <a:pt x="0" y="0"/>
                </a:lnTo>
                <a:close/>
              </a:path>
            </a:pathLst>
          </a:custGeom>
          <a:solidFill>
            <a:srgbClr val="0E3A66"/>
          </a:solidFill>
          <a:ln>
            <a:noFill/>
          </a:ln>
        </p:spPr>
        <p:txBody>
          <a:bodyPr anchorCtr="0" anchor="ctr" bIns="60950" lIns="60950" spcFirstLastPara="1" rIns="60950" wrap="square" tIns="609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5" name="Google Shape;355;p24"/>
          <p:cNvSpPr/>
          <p:nvPr/>
        </p:nvSpPr>
        <p:spPr>
          <a:xfrm>
            <a:off x="546075" y="152400"/>
            <a:ext cx="3519000" cy="273000"/>
          </a:xfrm>
          <a:prstGeom prst="rect">
            <a:avLst/>
          </a:prstGeom>
          <a:noFill/>
          <a:ln>
            <a:noFill/>
          </a:ln>
        </p:spPr>
        <p:txBody>
          <a:bodyPr anchorCtr="0" anchor="t" bIns="16925" lIns="16925" spcFirstLastPara="1" rIns="16925" wrap="square" tIns="169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Arimo"/>
              <a:buNone/>
            </a:pPr>
            <a:r>
              <a:rPr b="1" i="0" lang="en-US" sz="1700" u="none" cap="none" strike="noStrike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Container Diagram — Full View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6" name="Google Shape;356;p24"/>
          <p:cNvSpPr/>
          <p:nvPr/>
        </p:nvSpPr>
        <p:spPr>
          <a:xfrm>
            <a:off x="546065" y="660400"/>
            <a:ext cx="6339000" cy="273000"/>
          </a:xfrm>
          <a:prstGeom prst="rect">
            <a:avLst/>
          </a:prstGeom>
          <a:noFill/>
          <a:ln>
            <a:noFill/>
          </a:ln>
        </p:spPr>
        <p:txBody>
          <a:bodyPr anchorCtr="0" anchor="t" bIns="16925" lIns="16925" spcFirstLastPara="1" rIns="16925" wrap="square" tIns="169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BCCDD"/>
              </a:buClr>
              <a:buSzPts val="900"/>
              <a:buFont typeface="Arimo"/>
              <a:buNone/>
            </a:pPr>
            <a:r>
              <a:rPr b="0" i="0" lang="en-US" u="none" cap="none" strike="noStrike">
                <a:solidFill>
                  <a:srgbClr val="BBCCDD"/>
                </a:solidFill>
                <a:latin typeface="Arimo"/>
                <a:ea typeface="Arimo"/>
                <a:cs typeface="Arimo"/>
                <a:sym typeface="Arimo"/>
              </a:rPr>
              <a:t>Reference for walking through the end-to-end request flow</a:t>
            </a:r>
            <a:endParaRPr b="0"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7" name="Google Shape;357;p24"/>
          <p:cNvSpPr/>
          <p:nvPr/>
        </p:nvSpPr>
        <p:spPr>
          <a:xfrm>
            <a:off x="0" y="1054100"/>
            <a:ext cx="12191700" cy="50700"/>
          </a:xfrm>
          <a:prstGeom prst="rect">
            <a:avLst/>
          </a:prstGeom>
          <a:solidFill>
            <a:srgbClr val="E0A300"/>
          </a:solidFill>
          <a:ln>
            <a:noFill/>
          </a:ln>
        </p:spPr>
        <p:txBody>
          <a:bodyPr anchorCtr="0" anchor="ctr" bIns="60950" lIns="60950" spcFirstLastPara="1" rIns="60950" wrap="square" tIns="609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8" name="Google Shape;358;p24"/>
          <p:cNvSpPr/>
          <p:nvPr/>
        </p:nvSpPr>
        <p:spPr>
          <a:xfrm>
            <a:off x="698481" y="1333500"/>
            <a:ext cx="10794600" cy="5270700"/>
          </a:xfrm>
          <a:prstGeom prst="roundRect">
            <a:avLst>
              <a:gd fmla="val 2410" name="adj"/>
            </a:avLst>
          </a:prstGeom>
          <a:solidFill>
            <a:srgbClr val="FAFAFA"/>
          </a:solidFill>
          <a:ln cap="flat" cmpd="sng" w="6350">
            <a:solidFill>
              <a:srgbClr val="DADF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0950" lIns="60950" spcFirstLastPara="1" rIns="60950" wrap="square" tIns="609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59" name="Google Shape;359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280234" y="1466850"/>
            <a:ext cx="7631155" cy="500361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64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Google Shape;365;p25"/>
          <p:cNvSpPr/>
          <p:nvPr/>
        </p:nvSpPr>
        <p:spPr>
          <a:xfrm>
            <a:off x="0" y="0"/>
            <a:ext cx="12207240" cy="1055418"/>
          </a:xfrm>
          <a:custGeom>
            <a:rect b="b" l="l" r="r" t="t"/>
            <a:pathLst>
              <a:path extrusionOk="0" h="1581150" w="18288000">
                <a:moveTo>
                  <a:pt x="0" y="0"/>
                </a:moveTo>
                <a:lnTo>
                  <a:pt x="18288000" y="0"/>
                </a:lnTo>
                <a:lnTo>
                  <a:pt x="18288000" y="1314450"/>
                </a:lnTo>
                <a:cubicBezTo>
                  <a:pt x="18288000" y="1461744"/>
                  <a:pt x="18168594" y="1581150"/>
                  <a:pt x="18021300" y="1581150"/>
                </a:cubicBezTo>
                <a:lnTo>
                  <a:pt x="266700" y="1581150"/>
                </a:lnTo>
                <a:cubicBezTo>
                  <a:pt x="119406" y="1581150"/>
                  <a:pt x="0" y="1461744"/>
                  <a:pt x="0" y="1314450"/>
                </a:cubicBezTo>
                <a:lnTo>
                  <a:pt x="0" y="0"/>
                </a:lnTo>
                <a:close/>
              </a:path>
            </a:pathLst>
          </a:custGeom>
          <a:solidFill>
            <a:srgbClr val="0E3A66"/>
          </a:solidFill>
          <a:ln>
            <a:noFill/>
          </a:ln>
        </p:spPr>
        <p:txBody>
          <a:bodyPr anchorCtr="0" anchor="ctr" bIns="60950" lIns="60950" spcFirstLastPara="1" rIns="60950" wrap="square" tIns="609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6" name="Google Shape;366;p25"/>
          <p:cNvSpPr/>
          <p:nvPr/>
        </p:nvSpPr>
        <p:spPr>
          <a:xfrm>
            <a:off x="546085" y="152400"/>
            <a:ext cx="4459800" cy="273000"/>
          </a:xfrm>
          <a:prstGeom prst="rect">
            <a:avLst/>
          </a:prstGeom>
          <a:noFill/>
          <a:ln>
            <a:noFill/>
          </a:ln>
        </p:spPr>
        <p:txBody>
          <a:bodyPr anchorCtr="0" anchor="t" bIns="16925" lIns="16925" spcFirstLastPara="1" rIns="16925" wrap="square" tIns="169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Arimo"/>
              <a:buNone/>
            </a:pPr>
            <a:r>
              <a:rPr b="1" i="0" lang="en-US" sz="1700" u="none" cap="none" strike="noStrike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Container Diagram — Functional Zones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7" name="Google Shape;367;p25"/>
          <p:cNvSpPr/>
          <p:nvPr/>
        </p:nvSpPr>
        <p:spPr>
          <a:xfrm>
            <a:off x="546069" y="660400"/>
            <a:ext cx="7336200" cy="158700"/>
          </a:xfrm>
          <a:prstGeom prst="rect">
            <a:avLst/>
          </a:prstGeom>
          <a:noFill/>
          <a:ln>
            <a:noFill/>
          </a:ln>
        </p:spPr>
        <p:txBody>
          <a:bodyPr anchorCtr="0" anchor="t" bIns="16925" lIns="16925" spcFirstLastPara="1" rIns="16925" wrap="square" tIns="169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BCCDD"/>
              </a:buClr>
              <a:buSzPts val="900"/>
              <a:buFont typeface="Arimo"/>
              <a:buNone/>
            </a:pPr>
            <a:r>
              <a:rPr b="0" i="0" lang="en-US" u="none" cap="none" strike="noStrike">
                <a:solidFill>
                  <a:srgbClr val="BBCCDD"/>
                </a:solidFill>
                <a:latin typeface="Arimo"/>
                <a:ea typeface="Arimo"/>
                <a:cs typeface="Arimo"/>
                <a:sym typeface="Arimo"/>
              </a:rPr>
              <a:t>Follow a request across four zones · solid color = AS-IS · gold border = new in TO-BE</a:t>
            </a:r>
            <a:endParaRPr b="0"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8" name="Google Shape;368;p25"/>
          <p:cNvSpPr/>
          <p:nvPr/>
        </p:nvSpPr>
        <p:spPr>
          <a:xfrm>
            <a:off x="0" y="1054100"/>
            <a:ext cx="12191700" cy="50700"/>
          </a:xfrm>
          <a:prstGeom prst="rect">
            <a:avLst/>
          </a:prstGeom>
          <a:solidFill>
            <a:srgbClr val="E0A300"/>
          </a:solidFill>
          <a:ln>
            <a:noFill/>
          </a:ln>
        </p:spPr>
        <p:txBody>
          <a:bodyPr anchorCtr="0" anchor="ctr" bIns="60950" lIns="60950" spcFirstLastPara="1" rIns="60950" wrap="square" tIns="609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9" name="Google Shape;369;p25"/>
          <p:cNvSpPr/>
          <p:nvPr/>
        </p:nvSpPr>
        <p:spPr>
          <a:xfrm>
            <a:off x="273043" y="1371600"/>
            <a:ext cx="2787600" cy="5029200"/>
          </a:xfrm>
          <a:prstGeom prst="roundRect">
            <a:avLst>
              <a:gd fmla="val 4556" name="adj"/>
            </a:avLst>
          </a:prstGeom>
          <a:solidFill>
            <a:srgbClr val="115594"/>
          </a:solidFill>
          <a:ln>
            <a:noFill/>
          </a:ln>
        </p:spPr>
        <p:txBody>
          <a:bodyPr anchorCtr="0" anchor="ctr" bIns="60950" lIns="60950" spcFirstLastPara="1" rIns="60950" wrap="square" tIns="609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0" name="Google Shape;370;p25"/>
          <p:cNvSpPr/>
          <p:nvPr/>
        </p:nvSpPr>
        <p:spPr>
          <a:xfrm>
            <a:off x="368290" y="1397000"/>
            <a:ext cx="2603400" cy="3810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60950" lIns="60950" spcFirstLastPara="1" rIns="60950" wrap="square" tIns="609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1" name="Google Shape;371;p25"/>
          <p:cNvSpPr/>
          <p:nvPr/>
        </p:nvSpPr>
        <p:spPr>
          <a:xfrm>
            <a:off x="329239" y="1397000"/>
            <a:ext cx="2681400" cy="406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6925" lIns="16925" spcFirstLastPara="1" rIns="16925" wrap="square" tIns="169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E3A66"/>
              </a:buClr>
              <a:buSzPts val="900"/>
              <a:buFont typeface="Arimo"/>
              <a:buNone/>
            </a:pPr>
            <a:r>
              <a:rPr b="1" i="0" lang="en-US" u="none" cap="none" strike="noStrike">
                <a:solidFill>
                  <a:srgbClr val="0E3A66"/>
                </a:solidFill>
                <a:latin typeface="Arimo"/>
                <a:ea typeface="Arimo"/>
                <a:cs typeface="Arimo"/>
                <a:sym typeface="Arimo"/>
              </a:rPr>
              <a:t>1 · Experience &amp; Access</a:t>
            </a:r>
            <a:endParaRPr b="0"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2" name="Google Shape;372;p25"/>
          <p:cNvSpPr/>
          <p:nvPr/>
        </p:nvSpPr>
        <p:spPr>
          <a:xfrm>
            <a:off x="412739" y="2012950"/>
            <a:ext cx="2514600" cy="1187400"/>
          </a:xfrm>
          <a:prstGeom prst="roundRect">
            <a:avLst>
              <a:gd fmla="val 8556" name="adj"/>
            </a:avLst>
          </a:prstGeom>
          <a:solidFill>
            <a:srgbClr val="115594"/>
          </a:solidFill>
          <a:ln cap="flat" cmpd="sng" w="19050">
            <a:solidFill>
              <a:srgbClr val="0C3D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0950" lIns="60950" spcFirstLastPara="1" rIns="60950" wrap="square" tIns="609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3" name="Google Shape;373;p25"/>
          <p:cNvSpPr/>
          <p:nvPr/>
        </p:nvSpPr>
        <p:spPr>
          <a:xfrm>
            <a:off x="558785" y="2133600"/>
            <a:ext cx="2444700" cy="158700"/>
          </a:xfrm>
          <a:prstGeom prst="rect">
            <a:avLst/>
          </a:prstGeom>
          <a:noFill/>
          <a:ln>
            <a:noFill/>
          </a:ln>
        </p:spPr>
        <p:txBody>
          <a:bodyPr anchorCtr="0" anchor="t" bIns="16925" lIns="16925" spcFirstLastPara="1" rIns="16925" wrap="square" tIns="169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mo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Frontend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4" name="Google Shape;374;p25"/>
          <p:cNvSpPr/>
          <p:nvPr/>
        </p:nvSpPr>
        <p:spPr>
          <a:xfrm>
            <a:off x="558785" y="2317750"/>
            <a:ext cx="2444700" cy="123900"/>
          </a:xfrm>
          <a:prstGeom prst="rect">
            <a:avLst/>
          </a:prstGeom>
          <a:noFill/>
          <a:ln>
            <a:noFill/>
          </a:ln>
        </p:spPr>
        <p:txBody>
          <a:bodyPr anchorCtr="0" anchor="t" bIns="16925" lIns="16925" spcFirstLastPara="1" rIns="16925" wrap="square" tIns="169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600"/>
              <a:buFont typeface="Arimo"/>
              <a:buNone/>
            </a:pPr>
            <a:r>
              <a:rPr b="0" i="0" lang="en-US" sz="1200" u="none" cap="none" strike="noStrike">
                <a:solidFill>
                  <a:srgbClr val="CCCCCC"/>
                </a:solidFill>
                <a:latin typeface="Arimo"/>
                <a:ea typeface="Arimo"/>
                <a:cs typeface="Arimo"/>
                <a:sym typeface="Arimo"/>
              </a:rPr>
              <a:t>[JavaScript, React]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5" name="Google Shape;375;p25"/>
          <p:cNvSpPr/>
          <p:nvPr/>
        </p:nvSpPr>
        <p:spPr>
          <a:xfrm>
            <a:off x="558785" y="2479675"/>
            <a:ext cx="2444700" cy="132600"/>
          </a:xfrm>
          <a:prstGeom prst="rect">
            <a:avLst/>
          </a:prstGeom>
          <a:noFill/>
          <a:ln>
            <a:noFill/>
          </a:ln>
        </p:spPr>
        <p:txBody>
          <a:bodyPr anchorCtr="0" anchor="t" bIns="16925" lIns="16925" spcFirstLastPara="1" rIns="16925" wrap="square" tIns="16925">
            <a:noAutofit/>
          </a:bodyPr>
          <a:lstStyle/>
          <a:p>
            <a:pPr indent="0" lvl="0" marL="0" marR="0" rtl="0" algn="l">
              <a:lnSpc>
                <a:spcPct val="116379"/>
              </a:lnSpc>
              <a:spcBef>
                <a:spcPts val="0"/>
              </a:spcBef>
              <a:spcAft>
                <a:spcPts val="0"/>
              </a:spcAft>
              <a:buClr>
                <a:srgbClr val="DCE6F1"/>
              </a:buClr>
              <a:buSzPts val="600"/>
              <a:buFont typeface="Arimo"/>
              <a:buNone/>
            </a:pPr>
            <a:r>
              <a:rPr b="0" i="0" lang="en-US" sz="1200" u="none" cap="none" strike="noStrike">
                <a:solidFill>
                  <a:srgbClr val="DCE6F1"/>
                </a:solidFill>
                <a:latin typeface="Arimo"/>
                <a:ea typeface="Arimo"/>
                <a:cs typeface="Arimo"/>
                <a:sym typeface="Arimo"/>
              </a:rPr>
              <a:t>Conversational + audit UI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6" name="Google Shape;376;p25"/>
          <p:cNvSpPr/>
          <p:nvPr/>
        </p:nvSpPr>
        <p:spPr>
          <a:xfrm>
            <a:off x="412739" y="3429000"/>
            <a:ext cx="2514600" cy="1187400"/>
          </a:xfrm>
          <a:prstGeom prst="roundRect">
            <a:avLst>
              <a:gd fmla="val 8556" name="adj"/>
            </a:avLst>
          </a:prstGeom>
          <a:solidFill>
            <a:srgbClr val="115594"/>
          </a:solidFill>
          <a:ln cap="flat" cmpd="sng" w="19050">
            <a:solidFill>
              <a:srgbClr val="0C3D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0950" lIns="60950" spcFirstLastPara="1" rIns="60950" wrap="square" tIns="609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7" name="Google Shape;377;p25"/>
          <p:cNvSpPr/>
          <p:nvPr/>
        </p:nvSpPr>
        <p:spPr>
          <a:xfrm>
            <a:off x="558785" y="3549650"/>
            <a:ext cx="2444700" cy="158700"/>
          </a:xfrm>
          <a:prstGeom prst="rect">
            <a:avLst/>
          </a:prstGeom>
          <a:noFill/>
          <a:ln>
            <a:noFill/>
          </a:ln>
        </p:spPr>
        <p:txBody>
          <a:bodyPr anchorCtr="0" anchor="t" bIns="16925" lIns="16925" spcFirstLastPara="1" rIns="16925" wrap="square" tIns="169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mo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Backend Service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8" name="Google Shape;378;p25"/>
          <p:cNvSpPr/>
          <p:nvPr/>
        </p:nvSpPr>
        <p:spPr>
          <a:xfrm>
            <a:off x="558785" y="3733800"/>
            <a:ext cx="2444700" cy="123900"/>
          </a:xfrm>
          <a:prstGeom prst="rect">
            <a:avLst/>
          </a:prstGeom>
          <a:noFill/>
          <a:ln>
            <a:noFill/>
          </a:ln>
        </p:spPr>
        <p:txBody>
          <a:bodyPr anchorCtr="0" anchor="t" bIns="16925" lIns="16925" spcFirstLastPara="1" rIns="16925" wrap="square" tIns="169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600"/>
              <a:buFont typeface="Arimo"/>
              <a:buNone/>
            </a:pPr>
            <a:r>
              <a:rPr b="0" i="0" lang="en-US" sz="1200" u="none" cap="none" strike="noStrike">
                <a:solidFill>
                  <a:srgbClr val="CCCCCC"/>
                </a:solidFill>
                <a:latin typeface="Arimo"/>
                <a:ea typeface="Arimo"/>
                <a:cs typeface="Arimo"/>
                <a:sym typeface="Arimo"/>
              </a:rPr>
              <a:t>[Python, FastAPI]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9" name="Google Shape;379;p25"/>
          <p:cNvSpPr/>
          <p:nvPr/>
        </p:nvSpPr>
        <p:spPr>
          <a:xfrm>
            <a:off x="558785" y="3895725"/>
            <a:ext cx="2444700" cy="132600"/>
          </a:xfrm>
          <a:prstGeom prst="rect">
            <a:avLst/>
          </a:prstGeom>
          <a:noFill/>
          <a:ln>
            <a:noFill/>
          </a:ln>
        </p:spPr>
        <p:txBody>
          <a:bodyPr anchorCtr="0" anchor="t" bIns="16925" lIns="16925" spcFirstLastPara="1" rIns="16925" wrap="square" tIns="16925">
            <a:noAutofit/>
          </a:bodyPr>
          <a:lstStyle/>
          <a:p>
            <a:pPr indent="0" lvl="0" marL="0" marR="0" rtl="0" algn="l">
              <a:lnSpc>
                <a:spcPct val="116379"/>
              </a:lnSpc>
              <a:spcBef>
                <a:spcPts val="0"/>
              </a:spcBef>
              <a:spcAft>
                <a:spcPts val="0"/>
              </a:spcAft>
              <a:buClr>
                <a:srgbClr val="DCE6F1"/>
              </a:buClr>
              <a:buSzPts val="600"/>
              <a:buFont typeface="Arimo"/>
              <a:buNone/>
            </a:pPr>
            <a:r>
              <a:rPr b="0" i="0" lang="en-US" sz="1200" u="none" cap="none" strike="noStrike">
                <a:solidFill>
                  <a:srgbClr val="DCE6F1"/>
                </a:solidFill>
                <a:latin typeface="Arimo"/>
                <a:ea typeface="Arimo"/>
                <a:cs typeface="Arimo"/>
                <a:sym typeface="Arimo"/>
              </a:rPr>
              <a:t>Orchestrates requests, checks role per action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80" name="Google Shape;380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53843" y="1535825"/>
            <a:ext cx="8826236" cy="470073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85" name="Shape 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" name="Google Shape;386;p26"/>
          <p:cNvSpPr/>
          <p:nvPr/>
        </p:nvSpPr>
        <p:spPr>
          <a:xfrm>
            <a:off x="0" y="0"/>
            <a:ext cx="12207240" cy="1055418"/>
          </a:xfrm>
          <a:custGeom>
            <a:rect b="b" l="l" r="r" t="t"/>
            <a:pathLst>
              <a:path extrusionOk="0" h="1581150" w="18288000">
                <a:moveTo>
                  <a:pt x="0" y="0"/>
                </a:moveTo>
                <a:lnTo>
                  <a:pt x="18288000" y="0"/>
                </a:lnTo>
                <a:lnTo>
                  <a:pt x="18288000" y="1314450"/>
                </a:lnTo>
                <a:cubicBezTo>
                  <a:pt x="18288000" y="1461744"/>
                  <a:pt x="18168594" y="1581150"/>
                  <a:pt x="18021300" y="1581150"/>
                </a:cubicBezTo>
                <a:lnTo>
                  <a:pt x="266700" y="1581150"/>
                </a:lnTo>
                <a:cubicBezTo>
                  <a:pt x="119406" y="1581150"/>
                  <a:pt x="0" y="1461744"/>
                  <a:pt x="0" y="1314450"/>
                </a:cubicBezTo>
                <a:lnTo>
                  <a:pt x="0" y="0"/>
                </a:lnTo>
                <a:close/>
              </a:path>
            </a:pathLst>
          </a:custGeom>
          <a:solidFill>
            <a:srgbClr val="0E3A66"/>
          </a:solidFill>
          <a:ln>
            <a:noFill/>
          </a:ln>
        </p:spPr>
        <p:txBody>
          <a:bodyPr anchorCtr="0" anchor="ctr" bIns="60950" lIns="60950" spcFirstLastPara="1" rIns="60950" wrap="square" tIns="609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7" name="Google Shape;387;p26"/>
          <p:cNvSpPr/>
          <p:nvPr/>
        </p:nvSpPr>
        <p:spPr>
          <a:xfrm>
            <a:off x="546085" y="152400"/>
            <a:ext cx="4459800" cy="273000"/>
          </a:xfrm>
          <a:prstGeom prst="rect">
            <a:avLst/>
          </a:prstGeom>
          <a:noFill/>
          <a:ln>
            <a:noFill/>
          </a:ln>
        </p:spPr>
        <p:txBody>
          <a:bodyPr anchorCtr="0" anchor="t" bIns="16925" lIns="16925" spcFirstLastPara="1" rIns="16925" wrap="square" tIns="169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Arimo"/>
              <a:buNone/>
            </a:pPr>
            <a:r>
              <a:rPr b="1" i="0" lang="en-US" sz="1700" u="none" cap="none" strike="noStrike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Container Diagram — Functional Zones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8" name="Google Shape;388;p26"/>
          <p:cNvSpPr/>
          <p:nvPr/>
        </p:nvSpPr>
        <p:spPr>
          <a:xfrm>
            <a:off x="546067" y="660400"/>
            <a:ext cx="8496300" cy="1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16925" lIns="16925" spcFirstLastPara="1" rIns="16925" wrap="square" tIns="169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BCCDD"/>
              </a:buClr>
              <a:buSzPts val="900"/>
              <a:buFont typeface="Arimo"/>
              <a:buNone/>
            </a:pPr>
            <a:r>
              <a:rPr b="0" i="0" lang="en-US" u="none" cap="none" strike="noStrike">
                <a:solidFill>
                  <a:srgbClr val="BBCCDD"/>
                </a:solidFill>
                <a:latin typeface="Arimo"/>
                <a:ea typeface="Arimo"/>
                <a:cs typeface="Arimo"/>
                <a:sym typeface="Arimo"/>
              </a:rPr>
              <a:t>Follow a request across four zones · solid color = AS-IS · gold border = new in TO-BE</a:t>
            </a:r>
            <a:endParaRPr b="0"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9" name="Google Shape;389;p26"/>
          <p:cNvSpPr/>
          <p:nvPr/>
        </p:nvSpPr>
        <p:spPr>
          <a:xfrm>
            <a:off x="0" y="1054100"/>
            <a:ext cx="12191700" cy="50700"/>
          </a:xfrm>
          <a:prstGeom prst="rect">
            <a:avLst/>
          </a:prstGeom>
          <a:solidFill>
            <a:srgbClr val="E0A300"/>
          </a:solidFill>
          <a:ln>
            <a:noFill/>
          </a:ln>
        </p:spPr>
        <p:txBody>
          <a:bodyPr anchorCtr="0" anchor="ctr" bIns="60950" lIns="60950" spcFirstLastPara="1" rIns="60950" wrap="square" tIns="609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0" name="Google Shape;390;p26"/>
          <p:cNvSpPr/>
          <p:nvPr/>
        </p:nvSpPr>
        <p:spPr>
          <a:xfrm>
            <a:off x="281659" y="1453783"/>
            <a:ext cx="2787600" cy="5029200"/>
          </a:xfrm>
          <a:prstGeom prst="roundRect">
            <a:avLst>
              <a:gd fmla="val 4556" name="adj"/>
            </a:avLst>
          </a:prstGeom>
          <a:solidFill>
            <a:srgbClr val="0F766E"/>
          </a:solidFill>
          <a:ln>
            <a:noFill/>
          </a:ln>
        </p:spPr>
        <p:txBody>
          <a:bodyPr anchorCtr="0" anchor="ctr" bIns="60950" lIns="60950" spcFirstLastPara="1" rIns="60950" wrap="square" tIns="609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1" name="Google Shape;391;p26"/>
          <p:cNvSpPr/>
          <p:nvPr/>
        </p:nvSpPr>
        <p:spPr>
          <a:xfrm>
            <a:off x="376907" y="1479183"/>
            <a:ext cx="2603400" cy="3810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60950" lIns="60950" spcFirstLastPara="1" rIns="60950" wrap="square" tIns="609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2" name="Google Shape;392;p26"/>
          <p:cNvSpPr/>
          <p:nvPr/>
        </p:nvSpPr>
        <p:spPr>
          <a:xfrm>
            <a:off x="337855" y="1479183"/>
            <a:ext cx="2681400" cy="406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6925" lIns="16925" spcFirstLastPara="1" rIns="16925" wrap="square" tIns="169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766E"/>
              </a:buClr>
              <a:buSzPts val="900"/>
              <a:buFont typeface="Arimo"/>
              <a:buNone/>
            </a:pPr>
            <a:r>
              <a:rPr b="1" i="0" lang="en-US" u="none" cap="none" strike="noStrike">
                <a:solidFill>
                  <a:srgbClr val="0F766E"/>
                </a:solidFill>
                <a:latin typeface="Arimo"/>
                <a:ea typeface="Arimo"/>
                <a:cs typeface="Arimo"/>
                <a:sym typeface="Arimo"/>
              </a:rPr>
              <a:t>2 · Ingestion &amp; Processing</a:t>
            </a:r>
            <a:endParaRPr b="0"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3" name="Google Shape;393;p26"/>
          <p:cNvSpPr/>
          <p:nvPr/>
        </p:nvSpPr>
        <p:spPr>
          <a:xfrm>
            <a:off x="421355" y="2095133"/>
            <a:ext cx="2514600" cy="1079400"/>
          </a:xfrm>
          <a:prstGeom prst="roundRect">
            <a:avLst>
              <a:gd fmla="val 9412" name="adj"/>
            </a:avLst>
          </a:prstGeom>
          <a:solidFill>
            <a:srgbClr val="0F766E"/>
          </a:solidFill>
          <a:ln cap="flat" cmpd="sng" w="25400">
            <a:solidFill>
              <a:srgbClr val="E0A3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0950" lIns="60950" spcFirstLastPara="1" rIns="60950" wrap="square" tIns="609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4" name="Google Shape;394;p26"/>
          <p:cNvSpPr/>
          <p:nvPr/>
        </p:nvSpPr>
        <p:spPr>
          <a:xfrm>
            <a:off x="2531633" y="2031633"/>
            <a:ext cx="290100" cy="133500"/>
          </a:xfrm>
          <a:prstGeom prst="roundRect">
            <a:avLst>
              <a:gd fmla="val 38095" name="adj"/>
            </a:avLst>
          </a:prstGeom>
          <a:solidFill>
            <a:srgbClr val="E0A300"/>
          </a:solidFill>
          <a:ln>
            <a:noFill/>
          </a:ln>
        </p:spPr>
        <p:txBody>
          <a:bodyPr anchorCtr="0" anchor="ctr" bIns="60950" lIns="60950" spcFirstLastPara="1" rIns="60950" wrap="square" tIns="609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5" name="Google Shape;395;p26"/>
          <p:cNvSpPr/>
          <p:nvPr/>
        </p:nvSpPr>
        <p:spPr>
          <a:xfrm>
            <a:off x="2595131" y="2057033"/>
            <a:ext cx="213900" cy="1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16925" lIns="16925" spcFirstLastPara="1" rIns="16925" wrap="square" tIns="169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"/>
              <a:buFont typeface="Arimo"/>
              <a:buNone/>
            </a:pPr>
            <a:r>
              <a:rPr b="1" i="0" lang="en-US" sz="500" u="none" cap="none" strike="noStrike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NEW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6" name="Google Shape;396;p26"/>
          <p:cNvSpPr/>
          <p:nvPr/>
        </p:nvSpPr>
        <p:spPr>
          <a:xfrm>
            <a:off x="573751" y="2222133"/>
            <a:ext cx="2430600" cy="158700"/>
          </a:xfrm>
          <a:prstGeom prst="rect">
            <a:avLst/>
          </a:prstGeom>
          <a:noFill/>
          <a:ln>
            <a:noFill/>
          </a:ln>
        </p:spPr>
        <p:txBody>
          <a:bodyPr anchorCtr="0" anchor="t" bIns="16925" lIns="16925" spcFirstLastPara="1" rIns="16925" wrap="square" tIns="169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mo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Ingestion &amp; Processing Service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7" name="Google Shape;397;p26"/>
          <p:cNvSpPr/>
          <p:nvPr/>
        </p:nvSpPr>
        <p:spPr>
          <a:xfrm>
            <a:off x="573751" y="2406283"/>
            <a:ext cx="2430600" cy="123900"/>
          </a:xfrm>
          <a:prstGeom prst="rect">
            <a:avLst/>
          </a:prstGeom>
          <a:noFill/>
          <a:ln>
            <a:noFill/>
          </a:ln>
        </p:spPr>
        <p:txBody>
          <a:bodyPr anchorCtr="0" anchor="t" bIns="16925" lIns="16925" spcFirstLastPara="1" rIns="16925" wrap="square" tIns="169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9F2EE"/>
              </a:buClr>
              <a:buSzPts val="600"/>
              <a:buFont typeface="Arimo"/>
              <a:buNone/>
            </a:pPr>
            <a:r>
              <a:rPr b="0" i="0" lang="en-US" sz="1200" u="none" cap="none" strike="noStrike">
                <a:solidFill>
                  <a:srgbClr val="D9F2EE"/>
                </a:solidFill>
                <a:latin typeface="Arimo"/>
                <a:ea typeface="Arimo"/>
                <a:cs typeface="Arimo"/>
                <a:sym typeface="Arimo"/>
              </a:rPr>
              <a:t>[Python, Celery]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8" name="Google Shape;398;p26"/>
          <p:cNvSpPr/>
          <p:nvPr/>
        </p:nvSpPr>
        <p:spPr>
          <a:xfrm>
            <a:off x="573751" y="2568209"/>
            <a:ext cx="2430600" cy="132600"/>
          </a:xfrm>
          <a:prstGeom prst="rect">
            <a:avLst/>
          </a:prstGeom>
          <a:noFill/>
          <a:ln>
            <a:noFill/>
          </a:ln>
        </p:spPr>
        <p:txBody>
          <a:bodyPr anchorCtr="0" anchor="t" bIns="16925" lIns="16925" spcFirstLastPara="1" rIns="16925" wrap="square" tIns="16925">
            <a:noAutofit/>
          </a:bodyPr>
          <a:lstStyle/>
          <a:p>
            <a:pPr indent="0" lvl="0" marL="0" marR="0" rtl="0" algn="l">
              <a:lnSpc>
                <a:spcPct val="116379"/>
              </a:lnSpc>
              <a:spcBef>
                <a:spcPts val="0"/>
              </a:spcBef>
              <a:spcAft>
                <a:spcPts val="0"/>
              </a:spcAft>
              <a:buClr>
                <a:srgbClr val="D9F2EE"/>
              </a:buClr>
              <a:buSzPts val="600"/>
              <a:buFont typeface="Arimo"/>
              <a:buNone/>
            </a:pPr>
            <a:r>
              <a:rPr b="0" i="0" lang="en-US" sz="1200" u="none" cap="none" strike="noStrike">
                <a:solidFill>
                  <a:srgbClr val="D9F2EE"/>
                </a:solidFill>
                <a:latin typeface="Arimo"/>
                <a:ea typeface="Arimo"/>
                <a:cs typeface="Arimo"/>
                <a:sym typeface="Arimo"/>
              </a:rPr>
              <a:t>Extract → chunk → embed → index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9" name="Google Shape;399;p26"/>
          <p:cNvSpPr/>
          <p:nvPr/>
        </p:nvSpPr>
        <p:spPr>
          <a:xfrm>
            <a:off x="421355" y="3327033"/>
            <a:ext cx="2514600" cy="762000"/>
          </a:xfrm>
          <a:prstGeom prst="roundRect">
            <a:avLst>
              <a:gd fmla="val 13333" name="adj"/>
            </a:avLst>
          </a:prstGeom>
          <a:solidFill>
            <a:srgbClr val="0F766E"/>
          </a:solidFill>
          <a:ln cap="flat" cmpd="sng" w="25400">
            <a:solidFill>
              <a:srgbClr val="E0A3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0950" lIns="60950" spcFirstLastPara="1" rIns="60950" wrap="square" tIns="609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0" name="Google Shape;400;p26"/>
          <p:cNvSpPr/>
          <p:nvPr/>
        </p:nvSpPr>
        <p:spPr>
          <a:xfrm>
            <a:off x="2531633" y="3263533"/>
            <a:ext cx="290100" cy="133500"/>
          </a:xfrm>
          <a:prstGeom prst="roundRect">
            <a:avLst>
              <a:gd fmla="val 38095" name="adj"/>
            </a:avLst>
          </a:prstGeom>
          <a:solidFill>
            <a:srgbClr val="E0A300"/>
          </a:solidFill>
          <a:ln>
            <a:noFill/>
          </a:ln>
        </p:spPr>
        <p:txBody>
          <a:bodyPr anchorCtr="0" anchor="ctr" bIns="60950" lIns="60950" spcFirstLastPara="1" rIns="60950" wrap="square" tIns="609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1" name="Google Shape;401;p26"/>
          <p:cNvSpPr/>
          <p:nvPr/>
        </p:nvSpPr>
        <p:spPr>
          <a:xfrm>
            <a:off x="2595131" y="3288933"/>
            <a:ext cx="213900" cy="1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16925" lIns="16925" spcFirstLastPara="1" rIns="16925" wrap="square" tIns="169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"/>
              <a:buFont typeface="Arimo"/>
              <a:buNone/>
            </a:pPr>
            <a:r>
              <a:rPr b="1" i="0" lang="en-US" sz="500" u="none" cap="none" strike="noStrike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NEW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2" name="Google Shape;402;p26"/>
          <p:cNvSpPr/>
          <p:nvPr/>
        </p:nvSpPr>
        <p:spPr>
          <a:xfrm>
            <a:off x="573751" y="3441333"/>
            <a:ext cx="2430600" cy="158700"/>
          </a:xfrm>
          <a:prstGeom prst="rect">
            <a:avLst/>
          </a:prstGeom>
          <a:noFill/>
          <a:ln>
            <a:noFill/>
          </a:ln>
        </p:spPr>
        <p:txBody>
          <a:bodyPr anchorCtr="0" anchor="t" bIns="16925" lIns="16925" spcFirstLastPara="1" rIns="16925" wrap="square" tIns="169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mo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Message Broker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3" name="Google Shape;403;p26"/>
          <p:cNvSpPr/>
          <p:nvPr/>
        </p:nvSpPr>
        <p:spPr>
          <a:xfrm>
            <a:off x="573751" y="3625483"/>
            <a:ext cx="2430600" cy="123900"/>
          </a:xfrm>
          <a:prstGeom prst="rect">
            <a:avLst/>
          </a:prstGeom>
          <a:noFill/>
          <a:ln>
            <a:noFill/>
          </a:ln>
        </p:spPr>
        <p:txBody>
          <a:bodyPr anchorCtr="0" anchor="t" bIns="16925" lIns="16925" spcFirstLastPara="1" rIns="16925" wrap="square" tIns="169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9F2EE"/>
              </a:buClr>
              <a:buSzPts val="600"/>
              <a:buFont typeface="Arimo"/>
              <a:buNone/>
            </a:pPr>
            <a:r>
              <a:rPr b="0" i="0" lang="en-US" sz="1200" u="none" cap="none" strike="noStrike">
                <a:solidFill>
                  <a:srgbClr val="D9F2EE"/>
                </a:solidFill>
                <a:latin typeface="Arimo"/>
                <a:ea typeface="Arimo"/>
                <a:cs typeface="Arimo"/>
                <a:sym typeface="Arimo"/>
              </a:rPr>
              <a:t>[Redis] — carries ingestion tasks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4" name="Google Shape;404;p26"/>
          <p:cNvSpPr/>
          <p:nvPr/>
        </p:nvSpPr>
        <p:spPr>
          <a:xfrm>
            <a:off x="421355" y="4241433"/>
            <a:ext cx="2514600" cy="952500"/>
          </a:xfrm>
          <a:prstGeom prst="roundRect">
            <a:avLst>
              <a:gd fmla="val 10667" name="adj"/>
            </a:avLst>
          </a:prstGeom>
          <a:solidFill>
            <a:srgbClr val="0F766E"/>
          </a:solidFill>
          <a:ln cap="flat" cmpd="sng" w="19050">
            <a:solidFill>
              <a:srgbClr val="0B57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0950" lIns="60950" spcFirstLastPara="1" rIns="60950" wrap="square" tIns="609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5" name="Google Shape;405;p26"/>
          <p:cNvSpPr/>
          <p:nvPr/>
        </p:nvSpPr>
        <p:spPr>
          <a:xfrm>
            <a:off x="567402" y="4362083"/>
            <a:ext cx="2444700" cy="158700"/>
          </a:xfrm>
          <a:prstGeom prst="rect">
            <a:avLst/>
          </a:prstGeom>
          <a:noFill/>
          <a:ln>
            <a:noFill/>
          </a:ln>
        </p:spPr>
        <p:txBody>
          <a:bodyPr anchorCtr="0" anchor="t" bIns="16925" lIns="16925" spcFirstLastPara="1" rIns="16925" wrap="square" tIns="169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mo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Document Storage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6" name="Google Shape;406;p26"/>
          <p:cNvSpPr/>
          <p:nvPr/>
        </p:nvSpPr>
        <p:spPr>
          <a:xfrm>
            <a:off x="567402" y="4546233"/>
            <a:ext cx="2444700" cy="123900"/>
          </a:xfrm>
          <a:prstGeom prst="rect">
            <a:avLst/>
          </a:prstGeom>
          <a:noFill/>
          <a:ln>
            <a:noFill/>
          </a:ln>
        </p:spPr>
        <p:txBody>
          <a:bodyPr anchorCtr="0" anchor="t" bIns="16925" lIns="16925" spcFirstLastPara="1" rIns="16925" wrap="square" tIns="169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9F2EE"/>
              </a:buClr>
              <a:buSzPts val="600"/>
              <a:buFont typeface="Arimo"/>
              <a:buNone/>
            </a:pPr>
            <a:r>
              <a:rPr b="0" i="0" lang="en-US" sz="1200" u="none" cap="none" strike="noStrike">
                <a:solidFill>
                  <a:srgbClr val="D9F2EE"/>
                </a:solidFill>
                <a:latin typeface="Arimo"/>
                <a:ea typeface="Arimo"/>
                <a:cs typeface="Arimo"/>
                <a:sym typeface="Arimo"/>
              </a:rPr>
              <a:t>[Azure Blob Storage]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7" name="Google Shape;407;p26"/>
          <p:cNvSpPr/>
          <p:nvPr/>
        </p:nvSpPr>
        <p:spPr>
          <a:xfrm>
            <a:off x="567402" y="4708159"/>
            <a:ext cx="2444700" cy="132600"/>
          </a:xfrm>
          <a:prstGeom prst="rect">
            <a:avLst/>
          </a:prstGeom>
          <a:noFill/>
          <a:ln>
            <a:noFill/>
          </a:ln>
        </p:spPr>
        <p:txBody>
          <a:bodyPr anchorCtr="0" anchor="t" bIns="16925" lIns="16925" spcFirstLastPara="1" rIns="16925" wrap="square" tIns="16925">
            <a:noAutofit/>
          </a:bodyPr>
          <a:lstStyle/>
          <a:p>
            <a:pPr indent="0" lvl="0" marL="0" marR="0" rtl="0" algn="l">
              <a:lnSpc>
                <a:spcPct val="116379"/>
              </a:lnSpc>
              <a:spcBef>
                <a:spcPts val="0"/>
              </a:spcBef>
              <a:spcAft>
                <a:spcPts val="0"/>
              </a:spcAft>
              <a:buClr>
                <a:srgbClr val="D9F2EE"/>
              </a:buClr>
              <a:buSzPts val="600"/>
              <a:buFont typeface="Arimo"/>
              <a:buNone/>
            </a:pPr>
            <a:r>
              <a:rPr b="0" i="0" lang="en-US" sz="1200" u="none" cap="none" strike="noStrike">
                <a:solidFill>
                  <a:srgbClr val="D9F2EE"/>
                </a:solidFill>
                <a:latin typeface="Arimo"/>
                <a:ea typeface="Arimo"/>
                <a:cs typeface="Arimo"/>
                <a:sym typeface="Arimo"/>
              </a:rPr>
              <a:t>Uploaded handover docs, crawled source files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8" name="Google Shape;408;p26"/>
          <p:cNvSpPr/>
          <p:nvPr/>
        </p:nvSpPr>
        <p:spPr>
          <a:xfrm>
            <a:off x="3100984" y="1580783"/>
            <a:ext cx="97500" cy="184200"/>
          </a:xfrm>
          <a:prstGeom prst="rect">
            <a:avLst/>
          </a:prstGeom>
          <a:noFill/>
          <a:ln>
            <a:noFill/>
          </a:ln>
        </p:spPr>
        <p:txBody>
          <a:bodyPr anchorCtr="0" anchor="t" bIns="16925" lIns="16925" spcFirstLastPara="1" rIns="16925" wrap="square" tIns="169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0A300"/>
              </a:buClr>
              <a:buSzPts val="1100"/>
              <a:buFont typeface="Arimo"/>
              <a:buNone/>
            </a:pPr>
            <a:r>
              <a:rPr b="1" i="0" lang="en-US" sz="1100" u="none" cap="none" strike="noStrike">
                <a:solidFill>
                  <a:srgbClr val="E0A300"/>
                </a:solidFill>
                <a:latin typeface="Arimo"/>
                <a:ea typeface="Arimo"/>
                <a:cs typeface="Arimo"/>
                <a:sym typeface="Arimo"/>
              </a:rPr>
              <a:t>›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09" name="Google Shape;409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73456" y="1453783"/>
            <a:ext cx="6020558" cy="500366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14" name="Shape 4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5" name="Google Shape;415;p27"/>
          <p:cNvSpPr/>
          <p:nvPr/>
        </p:nvSpPr>
        <p:spPr>
          <a:xfrm>
            <a:off x="0" y="0"/>
            <a:ext cx="12207240" cy="1055418"/>
          </a:xfrm>
          <a:custGeom>
            <a:rect b="b" l="l" r="r" t="t"/>
            <a:pathLst>
              <a:path extrusionOk="0" h="1581150" w="18288000">
                <a:moveTo>
                  <a:pt x="0" y="0"/>
                </a:moveTo>
                <a:lnTo>
                  <a:pt x="18288000" y="0"/>
                </a:lnTo>
                <a:lnTo>
                  <a:pt x="18288000" y="1314450"/>
                </a:lnTo>
                <a:cubicBezTo>
                  <a:pt x="18288000" y="1461744"/>
                  <a:pt x="18168594" y="1581150"/>
                  <a:pt x="18021300" y="1581150"/>
                </a:cubicBezTo>
                <a:lnTo>
                  <a:pt x="266700" y="1581150"/>
                </a:lnTo>
                <a:cubicBezTo>
                  <a:pt x="119406" y="1581150"/>
                  <a:pt x="0" y="1461744"/>
                  <a:pt x="0" y="1314450"/>
                </a:cubicBezTo>
                <a:lnTo>
                  <a:pt x="0" y="0"/>
                </a:lnTo>
                <a:close/>
              </a:path>
            </a:pathLst>
          </a:custGeom>
          <a:solidFill>
            <a:srgbClr val="0E3A66"/>
          </a:solidFill>
          <a:ln>
            <a:noFill/>
          </a:ln>
        </p:spPr>
        <p:txBody>
          <a:bodyPr anchorCtr="0" anchor="ctr" bIns="60950" lIns="60950" spcFirstLastPara="1" rIns="60950" wrap="square" tIns="609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6" name="Google Shape;416;p27"/>
          <p:cNvSpPr/>
          <p:nvPr/>
        </p:nvSpPr>
        <p:spPr>
          <a:xfrm>
            <a:off x="546085" y="152400"/>
            <a:ext cx="4459800" cy="273000"/>
          </a:xfrm>
          <a:prstGeom prst="rect">
            <a:avLst/>
          </a:prstGeom>
          <a:noFill/>
          <a:ln>
            <a:noFill/>
          </a:ln>
        </p:spPr>
        <p:txBody>
          <a:bodyPr anchorCtr="0" anchor="t" bIns="16925" lIns="16925" spcFirstLastPara="1" rIns="16925" wrap="square" tIns="169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Arimo"/>
              <a:buNone/>
            </a:pPr>
            <a:r>
              <a:rPr b="1" i="0" lang="en-US" sz="1700" u="none" cap="none" strike="noStrike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Container Diagram — Functional Zones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7" name="Google Shape;417;p27"/>
          <p:cNvSpPr/>
          <p:nvPr/>
        </p:nvSpPr>
        <p:spPr>
          <a:xfrm>
            <a:off x="546069" y="660400"/>
            <a:ext cx="7682100" cy="273000"/>
          </a:xfrm>
          <a:prstGeom prst="rect">
            <a:avLst/>
          </a:prstGeom>
          <a:noFill/>
          <a:ln>
            <a:noFill/>
          </a:ln>
        </p:spPr>
        <p:txBody>
          <a:bodyPr anchorCtr="0" anchor="t" bIns="16925" lIns="16925" spcFirstLastPara="1" rIns="16925" wrap="square" tIns="169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BCCDD"/>
              </a:buClr>
              <a:buSzPts val="900"/>
              <a:buFont typeface="Arimo"/>
              <a:buNone/>
            </a:pPr>
            <a:r>
              <a:rPr b="0" i="0" lang="en-US" u="none" cap="none" strike="noStrike">
                <a:solidFill>
                  <a:srgbClr val="BBCCDD"/>
                </a:solidFill>
                <a:latin typeface="Arimo"/>
                <a:ea typeface="Arimo"/>
                <a:cs typeface="Arimo"/>
                <a:sym typeface="Arimo"/>
              </a:rPr>
              <a:t>Follow a request across four zones · solid color = AS-IS · gold border = new in TO-BE</a:t>
            </a:r>
            <a:endParaRPr b="0"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8" name="Google Shape;418;p27"/>
          <p:cNvSpPr/>
          <p:nvPr/>
        </p:nvSpPr>
        <p:spPr>
          <a:xfrm>
            <a:off x="0" y="1054100"/>
            <a:ext cx="12191700" cy="50700"/>
          </a:xfrm>
          <a:prstGeom prst="rect">
            <a:avLst/>
          </a:prstGeom>
          <a:solidFill>
            <a:srgbClr val="E0A300"/>
          </a:solidFill>
          <a:ln>
            <a:noFill/>
          </a:ln>
        </p:spPr>
        <p:txBody>
          <a:bodyPr anchorCtr="0" anchor="ctr" bIns="60950" lIns="60950" spcFirstLastPara="1" rIns="60950" wrap="square" tIns="609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9" name="Google Shape;419;p27"/>
          <p:cNvSpPr/>
          <p:nvPr/>
        </p:nvSpPr>
        <p:spPr>
          <a:xfrm>
            <a:off x="273043" y="1371600"/>
            <a:ext cx="2787600" cy="5029200"/>
          </a:xfrm>
          <a:prstGeom prst="roundRect">
            <a:avLst>
              <a:gd fmla="val 4556" name="adj"/>
            </a:avLst>
          </a:prstGeom>
          <a:solidFill>
            <a:srgbClr val="115594"/>
          </a:solidFill>
          <a:ln>
            <a:noFill/>
          </a:ln>
        </p:spPr>
        <p:txBody>
          <a:bodyPr anchorCtr="0" anchor="ctr" bIns="60950" lIns="60950" spcFirstLastPara="1" rIns="60950" wrap="square" tIns="609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0" name="Google Shape;420;p27"/>
          <p:cNvSpPr/>
          <p:nvPr/>
        </p:nvSpPr>
        <p:spPr>
          <a:xfrm>
            <a:off x="368290" y="1397000"/>
            <a:ext cx="2603400" cy="3810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60950" lIns="60950" spcFirstLastPara="1" rIns="60950" wrap="square" tIns="609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1" name="Google Shape;421;p27"/>
          <p:cNvSpPr/>
          <p:nvPr/>
        </p:nvSpPr>
        <p:spPr>
          <a:xfrm>
            <a:off x="329239" y="1397000"/>
            <a:ext cx="2681400" cy="406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6925" lIns="16925" spcFirstLastPara="1" rIns="16925" wrap="square" tIns="169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E3A66"/>
              </a:buClr>
              <a:buSzPts val="900"/>
              <a:buFont typeface="Arimo"/>
              <a:buNone/>
            </a:pPr>
            <a:r>
              <a:rPr b="1" i="0" lang="en-US" sz="900" u="none" cap="none" strike="noStrike">
                <a:solidFill>
                  <a:srgbClr val="0E3A66"/>
                </a:solidFill>
                <a:latin typeface="Arimo"/>
                <a:ea typeface="Arimo"/>
                <a:cs typeface="Arimo"/>
                <a:sym typeface="Arimo"/>
              </a:rPr>
              <a:t>1 · Experience &amp; Access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2" name="Google Shape;422;p27"/>
          <p:cNvSpPr/>
          <p:nvPr/>
        </p:nvSpPr>
        <p:spPr>
          <a:xfrm>
            <a:off x="412739" y="2012950"/>
            <a:ext cx="2514600" cy="1187400"/>
          </a:xfrm>
          <a:prstGeom prst="roundRect">
            <a:avLst>
              <a:gd fmla="val 8556" name="adj"/>
            </a:avLst>
          </a:prstGeom>
          <a:solidFill>
            <a:srgbClr val="115594"/>
          </a:solidFill>
          <a:ln cap="flat" cmpd="sng" w="19050">
            <a:solidFill>
              <a:srgbClr val="0C3D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0950" lIns="60950" spcFirstLastPara="1" rIns="60950" wrap="square" tIns="609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3" name="Google Shape;423;p27"/>
          <p:cNvSpPr/>
          <p:nvPr/>
        </p:nvSpPr>
        <p:spPr>
          <a:xfrm>
            <a:off x="558785" y="2133600"/>
            <a:ext cx="2444700" cy="158700"/>
          </a:xfrm>
          <a:prstGeom prst="rect">
            <a:avLst/>
          </a:prstGeom>
          <a:noFill/>
          <a:ln>
            <a:noFill/>
          </a:ln>
        </p:spPr>
        <p:txBody>
          <a:bodyPr anchorCtr="0" anchor="t" bIns="16925" lIns="16925" spcFirstLastPara="1" rIns="16925" wrap="square" tIns="169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mo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Frontend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4" name="Google Shape;424;p27"/>
          <p:cNvSpPr/>
          <p:nvPr/>
        </p:nvSpPr>
        <p:spPr>
          <a:xfrm>
            <a:off x="558785" y="2317750"/>
            <a:ext cx="2444700" cy="123900"/>
          </a:xfrm>
          <a:prstGeom prst="rect">
            <a:avLst/>
          </a:prstGeom>
          <a:noFill/>
          <a:ln>
            <a:noFill/>
          </a:ln>
        </p:spPr>
        <p:txBody>
          <a:bodyPr anchorCtr="0" anchor="t" bIns="16925" lIns="16925" spcFirstLastPara="1" rIns="16925" wrap="square" tIns="169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600"/>
              <a:buFont typeface="Arimo"/>
              <a:buNone/>
            </a:pPr>
            <a:r>
              <a:rPr b="0" i="0" lang="en-US" sz="600" u="none" cap="none" strike="noStrike">
                <a:solidFill>
                  <a:srgbClr val="CCCCCC"/>
                </a:solidFill>
                <a:latin typeface="Arimo"/>
                <a:ea typeface="Arimo"/>
                <a:cs typeface="Arimo"/>
                <a:sym typeface="Arimo"/>
              </a:rPr>
              <a:t>[JavaScript, React]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5" name="Google Shape;425;p27"/>
          <p:cNvSpPr/>
          <p:nvPr/>
        </p:nvSpPr>
        <p:spPr>
          <a:xfrm>
            <a:off x="558785" y="2479675"/>
            <a:ext cx="2444700" cy="132600"/>
          </a:xfrm>
          <a:prstGeom prst="rect">
            <a:avLst/>
          </a:prstGeom>
          <a:noFill/>
          <a:ln>
            <a:noFill/>
          </a:ln>
        </p:spPr>
        <p:txBody>
          <a:bodyPr anchorCtr="0" anchor="t" bIns="16925" lIns="16925" spcFirstLastPara="1" rIns="16925" wrap="square" tIns="16925">
            <a:noAutofit/>
          </a:bodyPr>
          <a:lstStyle/>
          <a:p>
            <a:pPr indent="0" lvl="0" marL="0" marR="0" rtl="0" algn="l">
              <a:lnSpc>
                <a:spcPct val="116379"/>
              </a:lnSpc>
              <a:spcBef>
                <a:spcPts val="0"/>
              </a:spcBef>
              <a:spcAft>
                <a:spcPts val="0"/>
              </a:spcAft>
              <a:buClr>
                <a:srgbClr val="DCE6F1"/>
              </a:buClr>
              <a:buSzPts val="600"/>
              <a:buFont typeface="Arimo"/>
              <a:buNone/>
            </a:pPr>
            <a:r>
              <a:rPr b="0" i="0" lang="en-US" sz="600" u="none" cap="none" strike="noStrike">
                <a:solidFill>
                  <a:srgbClr val="DCE6F1"/>
                </a:solidFill>
                <a:latin typeface="Arimo"/>
                <a:ea typeface="Arimo"/>
                <a:cs typeface="Arimo"/>
                <a:sym typeface="Arimo"/>
              </a:rPr>
              <a:t>Conversational + audit UI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6" name="Google Shape;426;p27"/>
          <p:cNvSpPr/>
          <p:nvPr/>
        </p:nvSpPr>
        <p:spPr>
          <a:xfrm>
            <a:off x="412739" y="3429000"/>
            <a:ext cx="2514600" cy="1187400"/>
          </a:xfrm>
          <a:prstGeom prst="roundRect">
            <a:avLst>
              <a:gd fmla="val 8556" name="adj"/>
            </a:avLst>
          </a:prstGeom>
          <a:solidFill>
            <a:srgbClr val="115594"/>
          </a:solidFill>
          <a:ln cap="flat" cmpd="sng" w="19050">
            <a:solidFill>
              <a:srgbClr val="0C3D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0950" lIns="60950" spcFirstLastPara="1" rIns="60950" wrap="square" tIns="609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7" name="Google Shape;427;p27"/>
          <p:cNvSpPr/>
          <p:nvPr/>
        </p:nvSpPr>
        <p:spPr>
          <a:xfrm>
            <a:off x="558785" y="3549650"/>
            <a:ext cx="2444700" cy="158700"/>
          </a:xfrm>
          <a:prstGeom prst="rect">
            <a:avLst/>
          </a:prstGeom>
          <a:noFill/>
          <a:ln>
            <a:noFill/>
          </a:ln>
        </p:spPr>
        <p:txBody>
          <a:bodyPr anchorCtr="0" anchor="t" bIns="16925" lIns="16925" spcFirstLastPara="1" rIns="16925" wrap="square" tIns="169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mo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Backend Service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8" name="Google Shape;428;p27"/>
          <p:cNvSpPr/>
          <p:nvPr/>
        </p:nvSpPr>
        <p:spPr>
          <a:xfrm>
            <a:off x="558785" y="3733800"/>
            <a:ext cx="2444700" cy="123900"/>
          </a:xfrm>
          <a:prstGeom prst="rect">
            <a:avLst/>
          </a:prstGeom>
          <a:noFill/>
          <a:ln>
            <a:noFill/>
          </a:ln>
        </p:spPr>
        <p:txBody>
          <a:bodyPr anchorCtr="0" anchor="t" bIns="16925" lIns="16925" spcFirstLastPara="1" rIns="16925" wrap="square" tIns="169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600"/>
              <a:buFont typeface="Arimo"/>
              <a:buNone/>
            </a:pPr>
            <a:r>
              <a:rPr b="0" i="0" lang="en-US" sz="600" u="none" cap="none" strike="noStrike">
                <a:solidFill>
                  <a:srgbClr val="CCCCCC"/>
                </a:solidFill>
                <a:latin typeface="Arimo"/>
                <a:ea typeface="Arimo"/>
                <a:cs typeface="Arimo"/>
                <a:sym typeface="Arimo"/>
              </a:rPr>
              <a:t>[Python, FastAPI]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9" name="Google Shape;429;p27"/>
          <p:cNvSpPr/>
          <p:nvPr/>
        </p:nvSpPr>
        <p:spPr>
          <a:xfrm>
            <a:off x="558785" y="3895725"/>
            <a:ext cx="2444700" cy="132600"/>
          </a:xfrm>
          <a:prstGeom prst="rect">
            <a:avLst/>
          </a:prstGeom>
          <a:noFill/>
          <a:ln>
            <a:noFill/>
          </a:ln>
        </p:spPr>
        <p:txBody>
          <a:bodyPr anchorCtr="0" anchor="t" bIns="16925" lIns="16925" spcFirstLastPara="1" rIns="16925" wrap="square" tIns="16925">
            <a:noAutofit/>
          </a:bodyPr>
          <a:lstStyle/>
          <a:p>
            <a:pPr indent="0" lvl="0" marL="0" marR="0" rtl="0" algn="l">
              <a:lnSpc>
                <a:spcPct val="116379"/>
              </a:lnSpc>
              <a:spcBef>
                <a:spcPts val="0"/>
              </a:spcBef>
              <a:spcAft>
                <a:spcPts val="0"/>
              </a:spcAft>
              <a:buClr>
                <a:srgbClr val="DCE6F1"/>
              </a:buClr>
              <a:buSzPts val="600"/>
              <a:buFont typeface="Arimo"/>
              <a:buNone/>
            </a:pPr>
            <a:r>
              <a:rPr b="0" i="0" lang="en-US" sz="600" u="none" cap="none" strike="noStrike">
                <a:solidFill>
                  <a:srgbClr val="DCE6F1"/>
                </a:solidFill>
                <a:latin typeface="Arimo"/>
                <a:ea typeface="Arimo"/>
                <a:cs typeface="Arimo"/>
                <a:sym typeface="Arimo"/>
              </a:rPr>
              <a:t>Orchestrates requests, checks role per action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0" name="Google Shape;430;p27"/>
          <p:cNvSpPr/>
          <p:nvPr/>
        </p:nvSpPr>
        <p:spPr>
          <a:xfrm>
            <a:off x="3092368" y="1498600"/>
            <a:ext cx="97500" cy="184200"/>
          </a:xfrm>
          <a:prstGeom prst="rect">
            <a:avLst/>
          </a:prstGeom>
          <a:noFill/>
          <a:ln>
            <a:noFill/>
          </a:ln>
        </p:spPr>
        <p:txBody>
          <a:bodyPr anchorCtr="0" anchor="t" bIns="16925" lIns="16925" spcFirstLastPara="1" rIns="16925" wrap="square" tIns="169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0A300"/>
              </a:buClr>
              <a:buSzPts val="1100"/>
              <a:buFont typeface="Arimo"/>
              <a:buNone/>
            </a:pPr>
            <a:r>
              <a:rPr b="1" i="0" lang="en-US" sz="1100" u="none" cap="none" strike="noStrike">
                <a:solidFill>
                  <a:srgbClr val="E0A300"/>
                </a:solidFill>
                <a:latin typeface="Arimo"/>
                <a:ea typeface="Arimo"/>
                <a:cs typeface="Arimo"/>
                <a:sym typeface="Arimo"/>
              </a:rPr>
              <a:t>›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1" name="Google Shape;431;p27"/>
          <p:cNvSpPr/>
          <p:nvPr/>
        </p:nvSpPr>
        <p:spPr>
          <a:xfrm>
            <a:off x="280043" y="1370000"/>
            <a:ext cx="2787600" cy="5029200"/>
          </a:xfrm>
          <a:prstGeom prst="roundRect">
            <a:avLst>
              <a:gd fmla="val 4556" name="adj"/>
            </a:avLst>
          </a:prstGeom>
          <a:solidFill>
            <a:srgbClr val="7C3AED"/>
          </a:solidFill>
          <a:ln>
            <a:noFill/>
          </a:ln>
        </p:spPr>
        <p:txBody>
          <a:bodyPr anchorCtr="0" anchor="ctr" bIns="60950" lIns="60950" spcFirstLastPara="1" rIns="60950" wrap="square" tIns="609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2" name="Google Shape;432;p27"/>
          <p:cNvSpPr/>
          <p:nvPr/>
        </p:nvSpPr>
        <p:spPr>
          <a:xfrm>
            <a:off x="375290" y="1395400"/>
            <a:ext cx="2603400" cy="3810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60950" lIns="60950" spcFirstLastPara="1" rIns="60950" wrap="square" tIns="609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3" name="Google Shape;433;p27"/>
          <p:cNvSpPr/>
          <p:nvPr/>
        </p:nvSpPr>
        <p:spPr>
          <a:xfrm>
            <a:off x="336238" y="1395400"/>
            <a:ext cx="2681400" cy="406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6925" lIns="16925" spcFirstLastPara="1" rIns="16925" wrap="square" tIns="169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C3AED"/>
              </a:buClr>
              <a:buSzPts val="900"/>
              <a:buFont typeface="Arimo"/>
              <a:buNone/>
            </a:pPr>
            <a:r>
              <a:rPr b="1" i="0" lang="en-US" sz="1300" u="none" cap="none" strike="noStrike">
                <a:solidFill>
                  <a:srgbClr val="7C3AED"/>
                </a:solidFill>
                <a:latin typeface="Arimo"/>
                <a:ea typeface="Arimo"/>
                <a:cs typeface="Arimo"/>
                <a:sym typeface="Arimo"/>
              </a:rPr>
              <a:t>3 · AI Reasoning &amp; Retrieval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4" name="Google Shape;434;p27"/>
          <p:cNvSpPr/>
          <p:nvPr/>
        </p:nvSpPr>
        <p:spPr>
          <a:xfrm>
            <a:off x="419739" y="2011350"/>
            <a:ext cx="2514600" cy="1187400"/>
          </a:xfrm>
          <a:prstGeom prst="roundRect">
            <a:avLst>
              <a:gd fmla="val 8556" name="adj"/>
            </a:avLst>
          </a:prstGeom>
          <a:solidFill>
            <a:srgbClr val="7C3AED"/>
          </a:solidFill>
          <a:ln cap="flat" cmpd="sng" w="25400">
            <a:solidFill>
              <a:srgbClr val="E0A3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0950" lIns="60950" spcFirstLastPara="1" rIns="60950" wrap="square" tIns="609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5" name="Google Shape;435;p27"/>
          <p:cNvSpPr/>
          <p:nvPr/>
        </p:nvSpPr>
        <p:spPr>
          <a:xfrm>
            <a:off x="2530016" y="1947850"/>
            <a:ext cx="290100" cy="133500"/>
          </a:xfrm>
          <a:prstGeom prst="roundRect">
            <a:avLst>
              <a:gd fmla="val 38095" name="adj"/>
            </a:avLst>
          </a:prstGeom>
          <a:solidFill>
            <a:srgbClr val="E0A300"/>
          </a:solidFill>
          <a:ln>
            <a:noFill/>
          </a:ln>
        </p:spPr>
        <p:txBody>
          <a:bodyPr anchorCtr="0" anchor="ctr" bIns="60950" lIns="60950" spcFirstLastPara="1" rIns="60950" wrap="square" tIns="609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6" name="Google Shape;436;p27"/>
          <p:cNvSpPr/>
          <p:nvPr/>
        </p:nvSpPr>
        <p:spPr>
          <a:xfrm>
            <a:off x="2593514" y="1973250"/>
            <a:ext cx="213900" cy="1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16925" lIns="16925" spcFirstLastPara="1" rIns="16925" wrap="square" tIns="169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"/>
              <a:buFont typeface="Arimo"/>
              <a:buNone/>
            </a:pPr>
            <a:r>
              <a:rPr b="1" i="0" lang="en-US" sz="500" u="none" cap="none" strike="noStrike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NEW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7" name="Google Shape;437;p27"/>
          <p:cNvSpPr/>
          <p:nvPr/>
        </p:nvSpPr>
        <p:spPr>
          <a:xfrm>
            <a:off x="572135" y="2138350"/>
            <a:ext cx="2430600" cy="158700"/>
          </a:xfrm>
          <a:prstGeom prst="rect">
            <a:avLst/>
          </a:prstGeom>
          <a:noFill/>
          <a:ln>
            <a:noFill/>
          </a:ln>
        </p:spPr>
        <p:txBody>
          <a:bodyPr anchorCtr="0" anchor="t" bIns="16925" lIns="16925" spcFirstLastPara="1" rIns="16925" wrap="square" tIns="169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mo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AI Service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8" name="Google Shape;438;p27"/>
          <p:cNvSpPr/>
          <p:nvPr/>
        </p:nvSpPr>
        <p:spPr>
          <a:xfrm>
            <a:off x="572135" y="2322500"/>
            <a:ext cx="2430600" cy="123900"/>
          </a:xfrm>
          <a:prstGeom prst="rect">
            <a:avLst/>
          </a:prstGeom>
          <a:noFill/>
          <a:ln>
            <a:noFill/>
          </a:ln>
        </p:spPr>
        <p:txBody>
          <a:bodyPr anchorCtr="0" anchor="t" bIns="16925" lIns="16925" spcFirstLastPara="1" rIns="16925" wrap="square" tIns="169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AE0FB"/>
              </a:buClr>
              <a:buSzPts val="600"/>
              <a:buFont typeface="Arimo"/>
              <a:buNone/>
            </a:pPr>
            <a:r>
              <a:rPr b="0" i="0" lang="en-US" sz="1200" u="none" cap="none" strike="noStrike">
                <a:solidFill>
                  <a:srgbClr val="EAE0FB"/>
                </a:solidFill>
                <a:latin typeface="Arimo"/>
                <a:ea typeface="Arimo"/>
                <a:cs typeface="Arimo"/>
                <a:sym typeface="Arimo"/>
              </a:rPr>
              <a:t>[Python, RAG]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9" name="Google Shape;439;p27"/>
          <p:cNvSpPr/>
          <p:nvPr/>
        </p:nvSpPr>
        <p:spPr>
          <a:xfrm>
            <a:off x="572135" y="2484425"/>
            <a:ext cx="2430600" cy="132600"/>
          </a:xfrm>
          <a:prstGeom prst="rect">
            <a:avLst/>
          </a:prstGeom>
          <a:noFill/>
          <a:ln>
            <a:noFill/>
          </a:ln>
        </p:spPr>
        <p:txBody>
          <a:bodyPr anchorCtr="0" anchor="t" bIns="16925" lIns="16925" spcFirstLastPara="1" rIns="16925" wrap="square" tIns="16925">
            <a:noAutofit/>
          </a:bodyPr>
          <a:lstStyle/>
          <a:p>
            <a:pPr indent="0" lvl="0" marL="0" marR="0" rtl="0" algn="l">
              <a:lnSpc>
                <a:spcPct val="116379"/>
              </a:lnSpc>
              <a:spcBef>
                <a:spcPts val="0"/>
              </a:spcBef>
              <a:spcAft>
                <a:spcPts val="0"/>
              </a:spcAft>
              <a:buClr>
                <a:srgbClr val="EAE0FB"/>
              </a:buClr>
              <a:buSzPts val="600"/>
              <a:buFont typeface="Arimo"/>
              <a:buNone/>
            </a:pPr>
            <a:r>
              <a:rPr b="0" i="0" lang="en-US" sz="1200" u="none" cap="none" strike="noStrike">
                <a:solidFill>
                  <a:srgbClr val="EAE0FB"/>
                </a:solidFill>
                <a:latin typeface="Arimo"/>
                <a:ea typeface="Arimo"/>
                <a:cs typeface="Arimo"/>
                <a:sym typeface="Arimo"/>
              </a:rPr>
              <a:t>Routes intent, runs RAG over the unified index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0" name="Google Shape;440;p27"/>
          <p:cNvSpPr/>
          <p:nvPr/>
        </p:nvSpPr>
        <p:spPr>
          <a:xfrm>
            <a:off x="419739" y="3427400"/>
            <a:ext cx="2514600" cy="1187400"/>
          </a:xfrm>
          <a:prstGeom prst="roundRect">
            <a:avLst>
              <a:gd fmla="val 8556" name="adj"/>
            </a:avLst>
          </a:prstGeom>
          <a:solidFill>
            <a:srgbClr val="7C3AED"/>
          </a:solidFill>
          <a:ln cap="flat" cmpd="sng" w="25400">
            <a:solidFill>
              <a:srgbClr val="E0A3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0950" lIns="60950" spcFirstLastPara="1" rIns="60950" wrap="square" tIns="609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1" name="Google Shape;441;p27"/>
          <p:cNvSpPr/>
          <p:nvPr/>
        </p:nvSpPr>
        <p:spPr>
          <a:xfrm>
            <a:off x="2530016" y="3363900"/>
            <a:ext cx="290100" cy="133500"/>
          </a:xfrm>
          <a:prstGeom prst="roundRect">
            <a:avLst>
              <a:gd fmla="val 38095" name="adj"/>
            </a:avLst>
          </a:prstGeom>
          <a:solidFill>
            <a:srgbClr val="E0A300"/>
          </a:solidFill>
          <a:ln>
            <a:noFill/>
          </a:ln>
        </p:spPr>
        <p:txBody>
          <a:bodyPr anchorCtr="0" anchor="ctr" bIns="60950" lIns="60950" spcFirstLastPara="1" rIns="60950" wrap="square" tIns="609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2" name="Google Shape;442;p27"/>
          <p:cNvSpPr/>
          <p:nvPr/>
        </p:nvSpPr>
        <p:spPr>
          <a:xfrm>
            <a:off x="2593514" y="3389300"/>
            <a:ext cx="213900" cy="1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16925" lIns="16925" spcFirstLastPara="1" rIns="16925" wrap="square" tIns="169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"/>
              <a:buFont typeface="Arimo"/>
              <a:buNone/>
            </a:pPr>
            <a:r>
              <a:rPr b="1" i="0" lang="en-US" sz="500" u="none" cap="none" strike="noStrike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NEW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3" name="Google Shape;443;p27"/>
          <p:cNvSpPr/>
          <p:nvPr/>
        </p:nvSpPr>
        <p:spPr>
          <a:xfrm>
            <a:off x="572135" y="3554400"/>
            <a:ext cx="2430600" cy="158700"/>
          </a:xfrm>
          <a:prstGeom prst="rect">
            <a:avLst/>
          </a:prstGeom>
          <a:noFill/>
          <a:ln>
            <a:noFill/>
          </a:ln>
        </p:spPr>
        <p:txBody>
          <a:bodyPr anchorCtr="0" anchor="t" bIns="16925" lIns="16925" spcFirstLastPara="1" rIns="16925" wrap="square" tIns="169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mo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Expert Directory Service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4" name="Google Shape;444;p27"/>
          <p:cNvSpPr/>
          <p:nvPr/>
        </p:nvSpPr>
        <p:spPr>
          <a:xfrm>
            <a:off x="572135" y="3738550"/>
            <a:ext cx="2430600" cy="123900"/>
          </a:xfrm>
          <a:prstGeom prst="rect">
            <a:avLst/>
          </a:prstGeom>
          <a:noFill/>
          <a:ln>
            <a:noFill/>
          </a:ln>
        </p:spPr>
        <p:txBody>
          <a:bodyPr anchorCtr="0" anchor="t" bIns="16925" lIns="16925" spcFirstLastPara="1" rIns="16925" wrap="square" tIns="169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AE0FB"/>
              </a:buClr>
              <a:buSzPts val="600"/>
              <a:buFont typeface="Arimo"/>
              <a:buNone/>
            </a:pPr>
            <a:r>
              <a:rPr b="0" i="0" lang="en-US" sz="1200" u="none" cap="none" strike="noStrike">
                <a:solidFill>
                  <a:srgbClr val="EAE0FB"/>
                </a:solidFill>
                <a:latin typeface="Arimo"/>
                <a:ea typeface="Arimo"/>
                <a:cs typeface="Arimo"/>
                <a:sym typeface="Arimo"/>
              </a:rPr>
              <a:t>[Python]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5" name="Google Shape;445;p27"/>
          <p:cNvSpPr/>
          <p:nvPr/>
        </p:nvSpPr>
        <p:spPr>
          <a:xfrm>
            <a:off x="572135" y="3900475"/>
            <a:ext cx="2430600" cy="132600"/>
          </a:xfrm>
          <a:prstGeom prst="rect">
            <a:avLst/>
          </a:prstGeom>
          <a:noFill/>
          <a:ln>
            <a:noFill/>
          </a:ln>
        </p:spPr>
        <p:txBody>
          <a:bodyPr anchorCtr="0" anchor="t" bIns="16925" lIns="16925" spcFirstLastPara="1" rIns="16925" wrap="square" tIns="16925">
            <a:noAutofit/>
          </a:bodyPr>
          <a:lstStyle/>
          <a:p>
            <a:pPr indent="0" lvl="0" marL="0" marR="0" rtl="0" algn="l">
              <a:lnSpc>
                <a:spcPct val="116379"/>
              </a:lnSpc>
              <a:spcBef>
                <a:spcPts val="0"/>
              </a:spcBef>
              <a:spcAft>
                <a:spcPts val="0"/>
              </a:spcAft>
              <a:buClr>
                <a:srgbClr val="EAE0FB"/>
              </a:buClr>
              <a:buSzPts val="600"/>
              <a:buFont typeface="Arimo"/>
              <a:buNone/>
            </a:pPr>
            <a:r>
              <a:rPr b="0" i="0" lang="en-US" sz="1200" u="none" cap="none" strike="noStrike">
                <a:solidFill>
                  <a:srgbClr val="EAE0FB"/>
                </a:solidFill>
                <a:latin typeface="Arimo"/>
                <a:ea typeface="Arimo"/>
                <a:cs typeface="Arimo"/>
                <a:sym typeface="Arimo"/>
              </a:rPr>
              <a:t>Extracts keywords, ranks expert candidates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6" name="Google Shape;446;p27"/>
          <p:cNvSpPr/>
          <p:nvPr/>
        </p:nvSpPr>
        <p:spPr>
          <a:xfrm>
            <a:off x="419739" y="4843450"/>
            <a:ext cx="2514600" cy="1187400"/>
          </a:xfrm>
          <a:prstGeom prst="roundRect">
            <a:avLst>
              <a:gd fmla="val 8556" name="adj"/>
            </a:avLst>
          </a:prstGeom>
          <a:solidFill>
            <a:srgbClr val="7C3AED"/>
          </a:solidFill>
          <a:ln cap="flat" cmpd="sng" w="25400">
            <a:solidFill>
              <a:srgbClr val="E0A3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0950" lIns="60950" spcFirstLastPara="1" rIns="60950" wrap="square" tIns="609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7" name="Google Shape;447;p27"/>
          <p:cNvSpPr/>
          <p:nvPr/>
        </p:nvSpPr>
        <p:spPr>
          <a:xfrm>
            <a:off x="2530016" y="4779950"/>
            <a:ext cx="290100" cy="133500"/>
          </a:xfrm>
          <a:prstGeom prst="roundRect">
            <a:avLst>
              <a:gd fmla="val 38095" name="adj"/>
            </a:avLst>
          </a:prstGeom>
          <a:solidFill>
            <a:srgbClr val="E0A300"/>
          </a:solidFill>
          <a:ln>
            <a:noFill/>
          </a:ln>
        </p:spPr>
        <p:txBody>
          <a:bodyPr anchorCtr="0" anchor="ctr" bIns="60950" lIns="60950" spcFirstLastPara="1" rIns="60950" wrap="square" tIns="609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8" name="Google Shape;448;p27"/>
          <p:cNvSpPr/>
          <p:nvPr/>
        </p:nvSpPr>
        <p:spPr>
          <a:xfrm>
            <a:off x="2593514" y="4805350"/>
            <a:ext cx="213900" cy="1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16925" lIns="16925" spcFirstLastPara="1" rIns="16925" wrap="square" tIns="169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"/>
              <a:buFont typeface="Arimo"/>
              <a:buNone/>
            </a:pPr>
            <a:r>
              <a:rPr b="1" i="0" lang="en-US" sz="500" u="none" cap="none" strike="noStrike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NEW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9" name="Google Shape;449;p27"/>
          <p:cNvSpPr/>
          <p:nvPr/>
        </p:nvSpPr>
        <p:spPr>
          <a:xfrm>
            <a:off x="572135" y="4970450"/>
            <a:ext cx="2430600" cy="158700"/>
          </a:xfrm>
          <a:prstGeom prst="rect">
            <a:avLst/>
          </a:prstGeom>
          <a:noFill/>
          <a:ln>
            <a:noFill/>
          </a:ln>
        </p:spPr>
        <p:txBody>
          <a:bodyPr anchorCtr="0" anchor="t" bIns="16925" lIns="16925" spcFirstLastPara="1" rIns="16925" wrap="square" tIns="169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mo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Search Index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0" name="Google Shape;450;p27"/>
          <p:cNvSpPr/>
          <p:nvPr/>
        </p:nvSpPr>
        <p:spPr>
          <a:xfrm>
            <a:off x="572135" y="5154600"/>
            <a:ext cx="2430600" cy="123900"/>
          </a:xfrm>
          <a:prstGeom prst="rect">
            <a:avLst/>
          </a:prstGeom>
          <a:noFill/>
          <a:ln>
            <a:noFill/>
          </a:ln>
        </p:spPr>
        <p:txBody>
          <a:bodyPr anchorCtr="0" anchor="t" bIns="16925" lIns="16925" spcFirstLastPara="1" rIns="16925" wrap="square" tIns="169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AE0FB"/>
              </a:buClr>
              <a:buSzPts val="600"/>
              <a:buFont typeface="Arimo"/>
              <a:buNone/>
            </a:pPr>
            <a:r>
              <a:rPr b="0" i="0" lang="en-US" sz="1200" u="none" cap="none" strike="noStrike">
                <a:solidFill>
                  <a:srgbClr val="EAE0FB"/>
                </a:solidFill>
                <a:latin typeface="Arimo"/>
                <a:ea typeface="Arimo"/>
                <a:cs typeface="Arimo"/>
                <a:sym typeface="Arimo"/>
              </a:rPr>
              <a:t>[Azure AI Search]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1" name="Google Shape;451;p27"/>
          <p:cNvSpPr/>
          <p:nvPr/>
        </p:nvSpPr>
        <p:spPr>
          <a:xfrm>
            <a:off x="572135" y="5316525"/>
            <a:ext cx="2430600" cy="132600"/>
          </a:xfrm>
          <a:prstGeom prst="rect">
            <a:avLst/>
          </a:prstGeom>
          <a:noFill/>
          <a:ln>
            <a:noFill/>
          </a:ln>
        </p:spPr>
        <p:txBody>
          <a:bodyPr anchorCtr="0" anchor="t" bIns="16925" lIns="16925" spcFirstLastPara="1" rIns="16925" wrap="square" tIns="16925">
            <a:noAutofit/>
          </a:bodyPr>
          <a:lstStyle/>
          <a:p>
            <a:pPr indent="0" lvl="0" marL="0" marR="0" rtl="0" algn="l">
              <a:lnSpc>
                <a:spcPct val="116379"/>
              </a:lnSpc>
              <a:spcBef>
                <a:spcPts val="0"/>
              </a:spcBef>
              <a:spcAft>
                <a:spcPts val="0"/>
              </a:spcAft>
              <a:buClr>
                <a:srgbClr val="EAE0FB"/>
              </a:buClr>
              <a:buSzPts val="600"/>
              <a:buFont typeface="Arimo"/>
              <a:buNone/>
            </a:pPr>
            <a:r>
              <a:rPr b="0" i="0" lang="en-US" sz="1200" u="none" cap="none" strike="noStrike">
                <a:solidFill>
                  <a:srgbClr val="EAE0FB"/>
                </a:solidFill>
                <a:latin typeface="Arimo"/>
                <a:ea typeface="Arimo"/>
                <a:cs typeface="Arimo"/>
                <a:sym typeface="Arimo"/>
              </a:rPr>
              <a:t>Unified vector index, tagged by source system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2" name="Google Shape;452;p27"/>
          <p:cNvSpPr/>
          <p:nvPr/>
        </p:nvSpPr>
        <p:spPr>
          <a:xfrm>
            <a:off x="3099367" y="1497000"/>
            <a:ext cx="97500" cy="184200"/>
          </a:xfrm>
          <a:prstGeom prst="rect">
            <a:avLst/>
          </a:prstGeom>
          <a:noFill/>
          <a:ln>
            <a:noFill/>
          </a:ln>
        </p:spPr>
        <p:txBody>
          <a:bodyPr anchorCtr="0" anchor="t" bIns="16925" lIns="16925" spcFirstLastPara="1" rIns="16925" wrap="square" tIns="169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0A300"/>
              </a:buClr>
              <a:buSzPts val="1100"/>
              <a:buFont typeface="Arimo"/>
              <a:buNone/>
            </a:pPr>
            <a:r>
              <a:rPr b="1" i="0" lang="en-US" sz="1100" u="none" cap="none" strike="noStrike">
                <a:solidFill>
                  <a:srgbClr val="E0A300"/>
                </a:solidFill>
                <a:latin typeface="Arimo"/>
                <a:ea typeface="Arimo"/>
                <a:cs typeface="Arimo"/>
                <a:sym typeface="Arimo"/>
              </a:rPr>
              <a:t>›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53" name="Google Shape;453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745499" y="1385100"/>
            <a:ext cx="7392772" cy="500206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58" name="Shape 4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9" name="Google Shape;459;p28"/>
          <p:cNvSpPr/>
          <p:nvPr/>
        </p:nvSpPr>
        <p:spPr>
          <a:xfrm>
            <a:off x="0" y="0"/>
            <a:ext cx="12207240" cy="1055418"/>
          </a:xfrm>
          <a:custGeom>
            <a:rect b="b" l="l" r="r" t="t"/>
            <a:pathLst>
              <a:path extrusionOk="0" h="1581150" w="18288000">
                <a:moveTo>
                  <a:pt x="0" y="0"/>
                </a:moveTo>
                <a:lnTo>
                  <a:pt x="18288000" y="0"/>
                </a:lnTo>
                <a:lnTo>
                  <a:pt x="18288000" y="1314450"/>
                </a:lnTo>
                <a:cubicBezTo>
                  <a:pt x="18288000" y="1461744"/>
                  <a:pt x="18168594" y="1581150"/>
                  <a:pt x="18021300" y="1581150"/>
                </a:cubicBezTo>
                <a:lnTo>
                  <a:pt x="266700" y="1581150"/>
                </a:lnTo>
                <a:cubicBezTo>
                  <a:pt x="119406" y="1581150"/>
                  <a:pt x="0" y="1461744"/>
                  <a:pt x="0" y="1314450"/>
                </a:cubicBezTo>
                <a:lnTo>
                  <a:pt x="0" y="0"/>
                </a:lnTo>
                <a:close/>
              </a:path>
            </a:pathLst>
          </a:custGeom>
          <a:solidFill>
            <a:srgbClr val="0E3A66"/>
          </a:solidFill>
          <a:ln>
            <a:noFill/>
          </a:ln>
        </p:spPr>
        <p:txBody>
          <a:bodyPr anchorCtr="0" anchor="ctr" bIns="60950" lIns="60950" spcFirstLastPara="1" rIns="60950" wrap="square" tIns="609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0" name="Google Shape;460;p28"/>
          <p:cNvSpPr/>
          <p:nvPr/>
        </p:nvSpPr>
        <p:spPr>
          <a:xfrm>
            <a:off x="546085" y="152400"/>
            <a:ext cx="4459800" cy="273000"/>
          </a:xfrm>
          <a:prstGeom prst="rect">
            <a:avLst/>
          </a:prstGeom>
          <a:noFill/>
          <a:ln>
            <a:noFill/>
          </a:ln>
        </p:spPr>
        <p:txBody>
          <a:bodyPr anchorCtr="0" anchor="t" bIns="16925" lIns="16925" spcFirstLastPara="1" rIns="16925" wrap="square" tIns="169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Arimo"/>
              <a:buNone/>
            </a:pPr>
            <a:r>
              <a:rPr b="1" i="0" lang="en-US" sz="1700" u="none" cap="none" strike="noStrike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Container Diagram — Functional Zones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1" name="Google Shape;461;p28"/>
          <p:cNvSpPr/>
          <p:nvPr/>
        </p:nvSpPr>
        <p:spPr>
          <a:xfrm>
            <a:off x="546068" y="660400"/>
            <a:ext cx="8130000" cy="273000"/>
          </a:xfrm>
          <a:prstGeom prst="rect">
            <a:avLst/>
          </a:prstGeom>
          <a:noFill/>
          <a:ln>
            <a:noFill/>
          </a:ln>
        </p:spPr>
        <p:txBody>
          <a:bodyPr anchorCtr="0" anchor="t" bIns="16925" lIns="16925" spcFirstLastPara="1" rIns="16925" wrap="square" tIns="169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BCCDD"/>
              </a:buClr>
              <a:buSzPts val="900"/>
              <a:buFont typeface="Arimo"/>
              <a:buNone/>
            </a:pPr>
            <a:r>
              <a:rPr b="0" i="0" lang="en-US" u="none" cap="none" strike="noStrike">
                <a:solidFill>
                  <a:srgbClr val="BBCCDD"/>
                </a:solidFill>
                <a:latin typeface="Arimo"/>
                <a:ea typeface="Arimo"/>
                <a:cs typeface="Arimo"/>
                <a:sym typeface="Arimo"/>
              </a:rPr>
              <a:t>Follow a request across four zones · solid color = AS-IS · gold border = new in TO-BE</a:t>
            </a:r>
            <a:endParaRPr b="0"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2" name="Google Shape;462;p28"/>
          <p:cNvSpPr/>
          <p:nvPr/>
        </p:nvSpPr>
        <p:spPr>
          <a:xfrm>
            <a:off x="0" y="1054100"/>
            <a:ext cx="12191700" cy="50700"/>
          </a:xfrm>
          <a:prstGeom prst="rect">
            <a:avLst/>
          </a:prstGeom>
          <a:solidFill>
            <a:srgbClr val="E0A300"/>
          </a:solidFill>
          <a:ln>
            <a:noFill/>
          </a:ln>
        </p:spPr>
        <p:txBody>
          <a:bodyPr anchorCtr="0" anchor="ctr" bIns="60950" lIns="60950" spcFirstLastPara="1" rIns="60950" wrap="square" tIns="609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3" name="Google Shape;463;p28"/>
          <p:cNvSpPr/>
          <p:nvPr/>
        </p:nvSpPr>
        <p:spPr>
          <a:xfrm>
            <a:off x="273043" y="1371600"/>
            <a:ext cx="2787600" cy="5029200"/>
          </a:xfrm>
          <a:prstGeom prst="roundRect">
            <a:avLst>
              <a:gd fmla="val 4556" name="adj"/>
            </a:avLst>
          </a:prstGeom>
          <a:solidFill>
            <a:srgbClr val="115594"/>
          </a:solidFill>
          <a:ln>
            <a:noFill/>
          </a:ln>
        </p:spPr>
        <p:txBody>
          <a:bodyPr anchorCtr="0" anchor="ctr" bIns="60950" lIns="60950" spcFirstLastPara="1" rIns="60950" wrap="square" tIns="609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4" name="Google Shape;464;p28"/>
          <p:cNvSpPr/>
          <p:nvPr/>
        </p:nvSpPr>
        <p:spPr>
          <a:xfrm>
            <a:off x="368290" y="1397000"/>
            <a:ext cx="2603400" cy="3810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60950" lIns="60950" spcFirstLastPara="1" rIns="60950" wrap="square" tIns="609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5" name="Google Shape;465;p28"/>
          <p:cNvSpPr/>
          <p:nvPr/>
        </p:nvSpPr>
        <p:spPr>
          <a:xfrm>
            <a:off x="329239" y="1397000"/>
            <a:ext cx="2681400" cy="406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6925" lIns="16925" spcFirstLastPara="1" rIns="16925" wrap="square" tIns="169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E3A66"/>
              </a:buClr>
              <a:buSzPts val="900"/>
              <a:buFont typeface="Arimo"/>
              <a:buNone/>
            </a:pPr>
            <a:r>
              <a:rPr b="1" i="0" lang="en-US" sz="900" u="none" cap="none" strike="noStrike">
                <a:solidFill>
                  <a:srgbClr val="0E3A66"/>
                </a:solidFill>
                <a:latin typeface="Arimo"/>
                <a:ea typeface="Arimo"/>
                <a:cs typeface="Arimo"/>
                <a:sym typeface="Arimo"/>
              </a:rPr>
              <a:t>1 · Experience &amp; Access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6" name="Google Shape;466;p28"/>
          <p:cNvSpPr/>
          <p:nvPr/>
        </p:nvSpPr>
        <p:spPr>
          <a:xfrm>
            <a:off x="412739" y="2012950"/>
            <a:ext cx="2514600" cy="1187400"/>
          </a:xfrm>
          <a:prstGeom prst="roundRect">
            <a:avLst>
              <a:gd fmla="val 8556" name="adj"/>
            </a:avLst>
          </a:prstGeom>
          <a:solidFill>
            <a:srgbClr val="115594"/>
          </a:solidFill>
          <a:ln cap="flat" cmpd="sng" w="19050">
            <a:solidFill>
              <a:srgbClr val="0C3D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0950" lIns="60950" spcFirstLastPara="1" rIns="60950" wrap="square" tIns="609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7" name="Google Shape;467;p28"/>
          <p:cNvSpPr/>
          <p:nvPr/>
        </p:nvSpPr>
        <p:spPr>
          <a:xfrm>
            <a:off x="558785" y="2133600"/>
            <a:ext cx="2444700" cy="158700"/>
          </a:xfrm>
          <a:prstGeom prst="rect">
            <a:avLst/>
          </a:prstGeom>
          <a:noFill/>
          <a:ln>
            <a:noFill/>
          </a:ln>
        </p:spPr>
        <p:txBody>
          <a:bodyPr anchorCtr="0" anchor="t" bIns="16925" lIns="16925" spcFirstLastPara="1" rIns="16925" wrap="square" tIns="169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mo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Frontend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8" name="Google Shape;468;p28"/>
          <p:cNvSpPr/>
          <p:nvPr/>
        </p:nvSpPr>
        <p:spPr>
          <a:xfrm>
            <a:off x="558785" y="2317750"/>
            <a:ext cx="2444700" cy="123900"/>
          </a:xfrm>
          <a:prstGeom prst="rect">
            <a:avLst/>
          </a:prstGeom>
          <a:noFill/>
          <a:ln>
            <a:noFill/>
          </a:ln>
        </p:spPr>
        <p:txBody>
          <a:bodyPr anchorCtr="0" anchor="t" bIns="16925" lIns="16925" spcFirstLastPara="1" rIns="16925" wrap="square" tIns="169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600"/>
              <a:buFont typeface="Arimo"/>
              <a:buNone/>
            </a:pPr>
            <a:r>
              <a:rPr b="0" i="0" lang="en-US" sz="600" u="none" cap="none" strike="noStrike">
                <a:solidFill>
                  <a:srgbClr val="CCCCCC"/>
                </a:solidFill>
                <a:latin typeface="Arimo"/>
                <a:ea typeface="Arimo"/>
                <a:cs typeface="Arimo"/>
                <a:sym typeface="Arimo"/>
              </a:rPr>
              <a:t>[JavaScript, React]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9" name="Google Shape;469;p28"/>
          <p:cNvSpPr/>
          <p:nvPr/>
        </p:nvSpPr>
        <p:spPr>
          <a:xfrm>
            <a:off x="558785" y="2479675"/>
            <a:ext cx="2444700" cy="132600"/>
          </a:xfrm>
          <a:prstGeom prst="rect">
            <a:avLst/>
          </a:prstGeom>
          <a:noFill/>
          <a:ln>
            <a:noFill/>
          </a:ln>
        </p:spPr>
        <p:txBody>
          <a:bodyPr anchorCtr="0" anchor="t" bIns="16925" lIns="16925" spcFirstLastPara="1" rIns="16925" wrap="square" tIns="16925">
            <a:noAutofit/>
          </a:bodyPr>
          <a:lstStyle/>
          <a:p>
            <a:pPr indent="0" lvl="0" marL="0" marR="0" rtl="0" algn="l">
              <a:lnSpc>
                <a:spcPct val="116379"/>
              </a:lnSpc>
              <a:spcBef>
                <a:spcPts val="0"/>
              </a:spcBef>
              <a:spcAft>
                <a:spcPts val="0"/>
              </a:spcAft>
              <a:buClr>
                <a:srgbClr val="DCE6F1"/>
              </a:buClr>
              <a:buSzPts val="600"/>
              <a:buFont typeface="Arimo"/>
              <a:buNone/>
            </a:pPr>
            <a:r>
              <a:rPr b="0" i="0" lang="en-US" sz="600" u="none" cap="none" strike="noStrike">
                <a:solidFill>
                  <a:srgbClr val="DCE6F1"/>
                </a:solidFill>
                <a:latin typeface="Arimo"/>
                <a:ea typeface="Arimo"/>
                <a:cs typeface="Arimo"/>
                <a:sym typeface="Arimo"/>
              </a:rPr>
              <a:t>Conversational + audit UI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0" name="Google Shape;470;p28"/>
          <p:cNvSpPr/>
          <p:nvPr/>
        </p:nvSpPr>
        <p:spPr>
          <a:xfrm>
            <a:off x="412739" y="3429000"/>
            <a:ext cx="2514600" cy="1187400"/>
          </a:xfrm>
          <a:prstGeom prst="roundRect">
            <a:avLst>
              <a:gd fmla="val 8556" name="adj"/>
            </a:avLst>
          </a:prstGeom>
          <a:solidFill>
            <a:srgbClr val="115594"/>
          </a:solidFill>
          <a:ln cap="flat" cmpd="sng" w="19050">
            <a:solidFill>
              <a:srgbClr val="0C3D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0950" lIns="60950" spcFirstLastPara="1" rIns="60950" wrap="square" tIns="609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1" name="Google Shape;471;p28"/>
          <p:cNvSpPr/>
          <p:nvPr/>
        </p:nvSpPr>
        <p:spPr>
          <a:xfrm>
            <a:off x="558785" y="3549650"/>
            <a:ext cx="2444700" cy="158700"/>
          </a:xfrm>
          <a:prstGeom prst="rect">
            <a:avLst/>
          </a:prstGeom>
          <a:noFill/>
          <a:ln>
            <a:noFill/>
          </a:ln>
        </p:spPr>
        <p:txBody>
          <a:bodyPr anchorCtr="0" anchor="t" bIns="16925" lIns="16925" spcFirstLastPara="1" rIns="16925" wrap="square" tIns="169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mo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Backend Service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2" name="Google Shape;472;p28"/>
          <p:cNvSpPr/>
          <p:nvPr/>
        </p:nvSpPr>
        <p:spPr>
          <a:xfrm>
            <a:off x="558785" y="3733800"/>
            <a:ext cx="2444700" cy="123900"/>
          </a:xfrm>
          <a:prstGeom prst="rect">
            <a:avLst/>
          </a:prstGeom>
          <a:noFill/>
          <a:ln>
            <a:noFill/>
          </a:ln>
        </p:spPr>
        <p:txBody>
          <a:bodyPr anchorCtr="0" anchor="t" bIns="16925" lIns="16925" spcFirstLastPara="1" rIns="16925" wrap="square" tIns="169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600"/>
              <a:buFont typeface="Arimo"/>
              <a:buNone/>
            </a:pPr>
            <a:r>
              <a:rPr b="0" i="0" lang="en-US" sz="600" u="none" cap="none" strike="noStrike">
                <a:solidFill>
                  <a:srgbClr val="CCCCCC"/>
                </a:solidFill>
                <a:latin typeface="Arimo"/>
                <a:ea typeface="Arimo"/>
                <a:cs typeface="Arimo"/>
                <a:sym typeface="Arimo"/>
              </a:rPr>
              <a:t>[Python, FastAPI]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3" name="Google Shape;473;p28"/>
          <p:cNvSpPr/>
          <p:nvPr/>
        </p:nvSpPr>
        <p:spPr>
          <a:xfrm>
            <a:off x="558785" y="3895725"/>
            <a:ext cx="2444700" cy="132600"/>
          </a:xfrm>
          <a:prstGeom prst="rect">
            <a:avLst/>
          </a:prstGeom>
          <a:noFill/>
          <a:ln>
            <a:noFill/>
          </a:ln>
        </p:spPr>
        <p:txBody>
          <a:bodyPr anchorCtr="0" anchor="t" bIns="16925" lIns="16925" spcFirstLastPara="1" rIns="16925" wrap="square" tIns="16925">
            <a:noAutofit/>
          </a:bodyPr>
          <a:lstStyle/>
          <a:p>
            <a:pPr indent="0" lvl="0" marL="0" marR="0" rtl="0" algn="l">
              <a:lnSpc>
                <a:spcPct val="116379"/>
              </a:lnSpc>
              <a:spcBef>
                <a:spcPts val="0"/>
              </a:spcBef>
              <a:spcAft>
                <a:spcPts val="0"/>
              </a:spcAft>
              <a:buClr>
                <a:srgbClr val="DCE6F1"/>
              </a:buClr>
              <a:buSzPts val="600"/>
              <a:buFont typeface="Arimo"/>
              <a:buNone/>
            </a:pPr>
            <a:r>
              <a:rPr b="0" i="0" lang="en-US" sz="600" u="none" cap="none" strike="noStrike">
                <a:solidFill>
                  <a:srgbClr val="DCE6F1"/>
                </a:solidFill>
                <a:latin typeface="Arimo"/>
                <a:ea typeface="Arimo"/>
                <a:cs typeface="Arimo"/>
                <a:sym typeface="Arimo"/>
              </a:rPr>
              <a:t>Orchestrates requests, checks role per action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4" name="Google Shape;474;p28"/>
          <p:cNvSpPr/>
          <p:nvPr/>
        </p:nvSpPr>
        <p:spPr>
          <a:xfrm>
            <a:off x="3092368" y="1498600"/>
            <a:ext cx="97500" cy="184200"/>
          </a:xfrm>
          <a:prstGeom prst="rect">
            <a:avLst/>
          </a:prstGeom>
          <a:noFill/>
          <a:ln>
            <a:noFill/>
          </a:ln>
        </p:spPr>
        <p:txBody>
          <a:bodyPr anchorCtr="0" anchor="t" bIns="16925" lIns="16925" spcFirstLastPara="1" rIns="16925" wrap="square" tIns="169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0A300"/>
              </a:buClr>
              <a:buSzPts val="1100"/>
              <a:buFont typeface="Arimo"/>
              <a:buNone/>
            </a:pPr>
            <a:r>
              <a:rPr b="1" i="0" lang="en-US" sz="1100" u="none" cap="none" strike="noStrike">
                <a:solidFill>
                  <a:srgbClr val="E0A300"/>
                </a:solidFill>
                <a:latin typeface="Arimo"/>
                <a:ea typeface="Arimo"/>
                <a:cs typeface="Arimo"/>
                <a:sym typeface="Arimo"/>
              </a:rPr>
              <a:t>›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5" name="Google Shape;475;p28"/>
          <p:cNvSpPr/>
          <p:nvPr/>
        </p:nvSpPr>
        <p:spPr>
          <a:xfrm>
            <a:off x="186345" y="1498600"/>
            <a:ext cx="97500" cy="184200"/>
          </a:xfrm>
          <a:prstGeom prst="rect">
            <a:avLst/>
          </a:prstGeom>
          <a:noFill/>
          <a:ln>
            <a:noFill/>
          </a:ln>
        </p:spPr>
        <p:txBody>
          <a:bodyPr anchorCtr="0" anchor="t" bIns="16925" lIns="16925" spcFirstLastPara="1" rIns="16925" wrap="square" tIns="169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0A300"/>
              </a:buClr>
              <a:buSzPts val="1100"/>
              <a:buFont typeface="Arimo"/>
              <a:buNone/>
            </a:pPr>
            <a:r>
              <a:rPr b="1" i="0" lang="en-US" sz="1100" u="none" cap="none" strike="noStrike">
                <a:solidFill>
                  <a:srgbClr val="E0A300"/>
                </a:solidFill>
                <a:latin typeface="Arimo"/>
                <a:ea typeface="Arimo"/>
                <a:cs typeface="Arimo"/>
                <a:sym typeface="Arimo"/>
              </a:rPr>
              <a:t>›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6" name="Google Shape;476;p28"/>
          <p:cNvSpPr/>
          <p:nvPr/>
        </p:nvSpPr>
        <p:spPr>
          <a:xfrm>
            <a:off x="294292" y="1371600"/>
            <a:ext cx="2787600" cy="5029200"/>
          </a:xfrm>
          <a:prstGeom prst="roundRect">
            <a:avLst>
              <a:gd fmla="val 4556" name="adj"/>
            </a:avLst>
          </a:prstGeom>
          <a:solidFill>
            <a:srgbClr val="96703F"/>
          </a:solidFill>
          <a:ln>
            <a:noFill/>
          </a:ln>
        </p:spPr>
        <p:txBody>
          <a:bodyPr anchorCtr="0" anchor="ctr" bIns="60950" lIns="60950" spcFirstLastPara="1" rIns="60950" wrap="square" tIns="609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7" name="Google Shape;477;p28"/>
          <p:cNvSpPr/>
          <p:nvPr/>
        </p:nvSpPr>
        <p:spPr>
          <a:xfrm>
            <a:off x="389540" y="1397000"/>
            <a:ext cx="2603400" cy="3810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60950" lIns="60950" spcFirstLastPara="1" rIns="60950" wrap="square" tIns="609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8" name="Google Shape;478;p28"/>
          <p:cNvSpPr/>
          <p:nvPr/>
        </p:nvSpPr>
        <p:spPr>
          <a:xfrm>
            <a:off x="350488" y="1397000"/>
            <a:ext cx="2681400" cy="406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6925" lIns="16925" spcFirstLastPara="1" rIns="16925" wrap="square" tIns="169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6703F"/>
              </a:buClr>
              <a:buSzPts val="800"/>
              <a:buFont typeface="Arimo"/>
              <a:buNone/>
            </a:pPr>
            <a:r>
              <a:rPr b="1" i="0" lang="en-US" sz="1200" u="none" cap="none" strike="noStrike">
                <a:solidFill>
                  <a:srgbClr val="96703F"/>
                </a:solidFill>
                <a:latin typeface="Arimo"/>
                <a:ea typeface="Arimo"/>
                <a:cs typeface="Arimo"/>
                <a:sym typeface="Arimo"/>
              </a:rPr>
              <a:t>4 · Business Data &amp; Governance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9" name="Google Shape;479;p28"/>
          <p:cNvSpPr/>
          <p:nvPr/>
        </p:nvSpPr>
        <p:spPr>
          <a:xfrm>
            <a:off x="433988" y="2012950"/>
            <a:ext cx="2514600" cy="952500"/>
          </a:xfrm>
          <a:prstGeom prst="roundRect">
            <a:avLst>
              <a:gd fmla="val 10667" name="adj"/>
            </a:avLst>
          </a:prstGeom>
          <a:solidFill>
            <a:srgbClr val="96703F"/>
          </a:solidFill>
          <a:ln cap="flat" cmpd="sng" w="19050">
            <a:solidFill>
              <a:srgbClr val="6E522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0950" lIns="60950" spcFirstLastPara="1" rIns="60950" wrap="square" tIns="609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0" name="Google Shape;480;p28"/>
          <p:cNvSpPr/>
          <p:nvPr/>
        </p:nvSpPr>
        <p:spPr>
          <a:xfrm>
            <a:off x="580035" y="2133600"/>
            <a:ext cx="2444700" cy="158700"/>
          </a:xfrm>
          <a:prstGeom prst="rect">
            <a:avLst/>
          </a:prstGeom>
          <a:noFill/>
          <a:ln>
            <a:noFill/>
          </a:ln>
        </p:spPr>
        <p:txBody>
          <a:bodyPr anchorCtr="0" anchor="t" bIns="16925" lIns="16925" spcFirstLastPara="1" rIns="16925" wrap="square" tIns="169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mo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Database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1" name="Google Shape;481;p28"/>
          <p:cNvSpPr/>
          <p:nvPr/>
        </p:nvSpPr>
        <p:spPr>
          <a:xfrm>
            <a:off x="580035" y="2317750"/>
            <a:ext cx="2444700" cy="123900"/>
          </a:xfrm>
          <a:prstGeom prst="rect">
            <a:avLst/>
          </a:prstGeom>
          <a:noFill/>
          <a:ln>
            <a:noFill/>
          </a:ln>
        </p:spPr>
        <p:txBody>
          <a:bodyPr anchorCtr="0" anchor="t" bIns="16925" lIns="16925" spcFirstLastPara="1" rIns="16925" wrap="square" tIns="169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1E6D3"/>
              </a:buClr>
              <a:buSzPts val="600"/>
              <a:buFont typeface="Arimo"/>
              <a:buNone/>
            </a:pPr>
            <a:r>
              <a:rPr b="0" i="0" lang="en-US" sz="1200" u="none" cap="none" strike="noStrike">
                <a:solidFill>
                  <a:srgbClr val="F1E6D3"/>
                </a:solidFill>
                <a:latin typeface="Arimo"/>
                <a:ea typeface="Arimo"/>
                <a:cs typeface="Arimo"/>
                <a:sym typeface="Arimo"/>
              </a:rPr>
              <a:t>[PostgreSQL] — user data, audit records, templates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2" name="Google Shape;482;p28"/>
          <p:cNvSpPr/>
          <p:nvPr/>
        </p:nvSpPr>
        <p:spPr>
          <a:xfrm>
            <a:off x="433988" y="3155950"/>
            <a:ext cx="2514600" cy="952500"/>
          </a:xfrm>
          <a:prstGeom prst="roundRect">
            <a:avLst>
              <a:gd fmla="val 10667" name="adj"/>
            </a:avLst>
          </a:prstGeom>
          <a:solidFill>
            <a:srgbClr val="96703F"/>
          </a:solidFill>
          <a:ln cap="flat" cmpd="sng" w="25400">
            <a:solidFill>
              <a:srgbClr val="E0A3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0950" lIns="60950" spcFirstLastPara="1" rIns="60950" wrap="square" tIns="609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3" name="Google Shape;483;p28"/>
          <p:cNvSpPr/>
          <p:nvPr/>
        </p:nvSpPr>
        <p:spPr>
          <a:xfrm>
            <a:off x="2544266" y="3092450"/>
            <a:ext cx="290100" cy="133500"/>
          </a:xfrm>
          <a:prstGeom prst="roundRect">
            <a:avLst>
              <a:gd fmla="val 38095" name="adj"/>
            </a:avLst>
          </a:prstGeom>
          <a:solidFill>
            <a:srgbClr val="E0A300"/>
          </a:solidFill>
          <a:ln>
            <a:noFill/>
          </a:ln>
        </p:spPr>
        <p:txBody>
          <a:bodyPr anchorCtr="0" anchor="ctr" bIns="60950" lIns="60950" spcFirstLastPara="1" rIns="60950" wrap="square" tIns="609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4" name="Google Shape;484;p28"/>
          <p:cNvSpPr/>
          <p:nvPr/>
        </p:nvSpPr>
        <p:spPr>
          <a:xfrm>
            <a:off x="2607764" y="3117850"/>
            <a:ext cx="213900" cy="1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16925" lIns="16925" spcFirstLastPara="1" rIns="16925" wrap="square" tIns="169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"/>
              <a:buFont typeface="Arimo"/>
              <a:buNone/>
            </a:pPr>
            <a:r>
              <a:rPr b="1" i="0" lang="en-US" sz="500" u="none" cap="none" strike="noStrike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NEW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5" name="Google Shape;485;p28"/>
          <p:cNvSpPr/>
          <p:nvPr/>
        </p:nvSpPr>
        <p:spPr>
          <a:xfrm>
            <a:off x="586384" y="3282950"/>
            <a:ext cx="2430600" cy="158700"/>
          </a:xfrm>
          <a:prstGeom prst="rect">
            <a:avLst/>
          </a:prstGeom>
          <a:noFill/>
          <a:ln>
            <a:noFill/>
          </a:ln>
        </p:spPr>
        <p:txBody>
          <a:bodyPr anchorCtr="0" anchor="t" bIns="16925" lIns="16925" spcFirstLastPara="1" rIns="16925" wrap="square" tIns="169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mo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Feedback &amp; Learning Store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6" name="Google Shape;486;p28"/>
          <p:cNvSpPr/>
          <p:nvPr/>
        </p:nvSpPr>
        <p:spPr>
          <a:xfrm>
            <a:off x="586384" y="3467100"/>
            <a:ext cx="2430600" cy="123900"/>
          </a:xfrm>
          <a:prstGeom prst="rect">
            <a:avLst/>
          </a:prstGeom>
          <a:noFill/>
          <a:ln>
            <a:noFill/>
          </a:ln>
        </p:spPr>
        <p:txBody>
          <a:bodyPr anchorCtr="0" anchor="t" bIns="16925" lIns="16925" spcFirstLastPara="1" rIns="16925" wrap="square" tIns="169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1E6D3"/>
              </a:buClr>
              <a:buSzPts val="600"/>
              <a:buFont typeface="Arimo"/>
              <a:buNone/>
            </a:pPr>
            <a:r>
              <a:rPr b="0" i="0" lang="en-US" sz="1200" u="none" cap="none" strike="noStrike">
                <a:solidFill>
                  <a:srgbClr val="F1E6D3"/>
                </a:solidFill>
                <a:latin typeface="Arimo"/>
                <a:ea typeface="Arimo"/>
                <a:cs typeface="Arimo"/>
                <a:sym typeface="Arimo"/>
              </a:rPr>
              <a:t>[PostgreSQL] — queries, feedback, corrections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7" name="Google Shape;487;p28"/>
          <p:cNvSpPr/>
          <p:nvPr/>
        </p:nvSpPr>
        <p:spPr>
          <a:xfrm>
            <a:off x="433988" y="4298950"/>
            <a:ext cx="2514600" cy="952500"/>
          </a:xfrm>
          <a:prstGeom prst="roundRect">
            <a:avLst>
              <a:gd fmla="val 10667" name="adj"/>
            </a:avLst>
          </a:prstGeom>
          <a:solidFill>
            <a:srgbClr val="96703F"/>
          </a:solidFill>
          <a:ln cap="flat" cmpd="sng" w="25400">
            <a:solidFill>
              <a:srgbClr val="E0A3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0950" lIns="60950" spcFirstLastPara="1" rIns="60950" wrap="square" tIns="609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8" name="Google Shape;488;p28"/>
          <p:cNvSpPr/>
          <p:nvPr/>
        </p:nvSpPr>
        <p:spPr>
          <a:xfrm>
            <a:off x="2544266" y="4235450"/>
            <a:ext cx="290100" cy="133500"/>
          </a:xfrm>
          <a:prstGeom prst="roundRect">
            <a:avLst>
              <a:gd fmla="val 38095" name="adj"/>
            </a:avLst>
          </a:prstGeom>
          <a:solidFill>
            <a:srgbClr val="E0A300"/>
          </a:solidFill>
          <a:ln>
            <a:noFill/>
          </a:ln>
        </p:spPr>
        <p:txBody>
          <a:bodyPr anchorCtr="0" anchor="ctr" bIns="60950" lIns="60950" spcFirstLastPara="1" rIns="60950" wrap="square" tIns="609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9" name="Google Shape;489;p28"/>
          <p:cNvSpPr/>
          <p:nvPr/>
        </p:nvSpPr>
        <p:spPr>
          <a:xfrm>
            <a:off x="2607764" y="4260850"/>
            <a:ext cx="213900" cy="1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16925" lIns="16925" spcFirstLastPara="1" rIns="16925" wrap="square" tIns="169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"/>
              <a:buFont typeface="Arimo"/>
              <a:buNone/>
            </a:pPr>
            <a:r>
              <a:rPr b="1" i="0" lang="en-US" sz="500" u="none" cap="none" strike="noStrike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NEW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0" name="Google Shape;490;p28"/>
          <p:cNvSpPr/>
          <p:nvPr/>
        </p:nvSpPr>
        <p:spPr>
          <a:xfrm>
            <a:off x="586384" y="4425950"/>
            <a:ext cx="2430600" cy="158700"/>
          </a:xfrm>
          <a:prstGeom prst="rect">
            <a:avLst/>
          </a:prstGeom>
          <a:noFill/>
          <a:ln>
            <a:noFill/>
          </a:ln>
        </p:spPr>
        <p:txBody>
          <a:bodyPr anchorCtr="0" anchor="t" bIns="16925" lIns="16925" spcFirstLastPara="1" rIns="16925" wrap="square" tIns="169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mo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Governance &amp; Audit Log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1" name="Google Shape;491;p28"/>
          <p:cNvSpPr/>
          <p:nvPr/>
        </p:nvSpPr>
        <p:spPr>
          <a:xfrm>
            <a:off x="586384" y="4610100"/>
            <a:ext cx="2430600" cy="123900"/>
          </a:xfrm>
          <a:prstGeom prst="rect">
            <a:avLst/>
          </a:prstGeom>
          <a:noFill/>
          <a:ln>
            <a:noFill/>
          </a:ln>
        </p:spPr>
        <p:txBody>
          <a:bodyPr anchorCtr="0" anchor="t" bIns="16925" lIns="16925" spcFirstLastPara="1" rIns="16925" wrap="square" tIns="169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1E6D3"/>
              </a:buClr>
              <a:buSzPts val="600"/>
              <a:buFont typeface="Arimo"/>
              <a:buNone/>
            </a:pPr>
            <a:r>
              <a:rPr b="0" i="0" lang="en-US" sz="1200" u="none" cap="none" strike="noStrike">
                <a:solidFill>
                  <a:srgbClr val="F1E6D3"/>
                </a:solidFill>
                <a:latin typeface="Arimo"/>
                <a:ea typeface="Arimo"/>
                <a:cs typeface="Arimo"/>
                <a:sym typeface="Arimo"/>
              </a:rPr>
              <a:t>[PostgreSQL] — logs every Q&amp;A / audit interaction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2" name="Google Shape;492;p28"/>
          <p:cNvSpPr/>
          <p:nvPr/>
        </p:nvSpPr>
        <p:spPr>
          <a:xfrm>
            <a:off x="-609584" y="6553200"/>
            <a:ext cx="13410900" cy="123900"/>
          </a:xfrm>
          <a:prstGeom prst="rect">
            <a:avLst/>
          </a:prstGeom>
          <a:noFill/>
          <a:ln>
            <a:noFill/>
          </a:ln>
        </p:spPr>
        <p:txBody>
          <a:bodyPr anchorCtr="0" anchor="t" bIns="16925" lIns="16925" spcFirstLastPara="1" rIns="16925" wrap="square" tIns="169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600"/>
              <a:buFont typeface="Arimo"/>
              <a:buNone/>
            </a:pPr>
            <a:r>
              <a:rPr b="0" i="0" lang="en-US" sz="600" u="none" cap="none" strike="noStrike">
                <a:solidFill>
                  <a:srgbClr val="6B7280"/>
                </a:solidFill>
                <a:latin typeface="Arimo"/>
                <a:ea typeface="Arimo"/>
                <a:cs typeface="Arimo"/>
                <a:sym typeface="Arimo"/>
              </a:rPr>
              <a:t>Also connects out to Enterprise Content Sources, Azure Content Understanding, Azure OpenAI Service, HR / Org Directory, and Azure Entra ID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93" name="Google Shape;493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29513" y="1371600"/>
            <a:ext cx="5769979" cy="502906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7" name="Shape 4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8" name="Google Shape;498;p29"/>
          <p:cNvSpPr/>
          <p:nvPr/>
        </p:nvSpPr>
        <p:spPr>
          <a:xfrm>
            <a:off x="0" y="0"/>
            <a:ext cx="12191695" cy="1051560"/>
          </a:xfrm>
          <a:prstGeom prst="roundRect">
            <a:avLst>
              <a:gd fmla="val 16667" name="adj"/>
            </a:avLst>
          </a:prstGeom>
          <a:solidFill>
            <a:srgbClr val="0E3A6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9" name="Google Shape;499;p29"/>
          <p:cNvSpPr txBox="1"/>
          <p:nvPr/>
        </p:nvSpPr>
        <p:spPr>
          <a:xfrm>
            <a:off x="548640" y="137160"/>
            <a:ext cx="91440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Key Activity Diagrams</a:t>
            </a:r>
            <a:endParaRPr/>
          </a:p>
        </p:txBody>
      </p:sp>
      <p:sp>
        <p:nvSpPr>
          <p:cNvPr id="500" name="Google Shape;500;p29"/>
          <p:cNvSpPr txBox="1"/>
          <p:nvPr/>
        </p:nvSpPr>
        <p:spPr>
          <a:xfrm>
            <a:off x="548640" y="640080"/>
            <a:ext cx="10972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BBCCDD"/>
                </a:solidFill>
                <a:latin typeface="Calibri"/>
                <a:ea typeface="Calibri"/>
                <a:cs typeface="Calibri"/>
                <a:sym typeface="Calibri"/>
              </a:rPr>
              <a:t>3 critical workflows modeled with swim-lane activity diagrams</a:t>
            </a:r>
            <a:endParaRPr sz="1800"/>
          </a:p>
        </p:txBody>
      </p:sp>
      <p:sp>
        <p:nvSpPr>
          <p:cNvPr id="501" name="Google Shape;501;p29"/>
          <p:cNvSpPr/>
          <p:nvPr/>
        </p:nvSpPr>
        <p:spPr>
          <a:xfrm>
            <a:off x="0" y="1051560"/>
            <a:ext cx="12191695" cy="50800"/>
          </a:xfrm>
          <a:prstGeom prst="roundRect">
            <a:avLst>
              <a:gd fmla="val 16667" name="adj"/>
            </a:avLst>
          </a:prstGeom>
          <a:solidFill>
            <a:srgbClr val="E0A3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2" name="Google Shape;502;p29"/>
          <p:cNvSpPr/>
          <p:nvPr/>
        </p:nvSpPr>
        <p:spPr>
          <a:xfrm>
            <a:off x="274320" y="1371600"/>
            <a:ext cx="3703320" cy="50292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DDDD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3" name="Google Shape;503;p29"/>
          <p:cNvSpPr/>
          <p:nvPr/>
        </p:nvSpPr>
        <p:spPr>
          <a:xfrm>
            <a:off x="274320" y="1371600"/>
            <a:ext cx="3703320" cy="594360"/>
          </a:xfrm>
          <a:prstGeom prst="roundRect">
            <a:avLst>
              <a:gd fmla="val 16667" name="adj"/>
            </a:avLst>
          </a:prstGeom>
          <a:solidFill>
            <a:srgbClr val="11559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4" name="Google Shape;504;p29"/>
          <p:cNvSpPr txBox="1"/>
          <p:nvPr/>
        </p:nvSpPr>
        <p:spPr>
          <a:xfrm>
            <a:off x="411480" y="1417320"/>
            <a:ext cx="34290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Flow 1: Submission → Audit</a:t>
            </a:r>
            <a:endParaRPr sz="1600"/>
          </a:p>
        </p:txBody>
      </p:sp>
      <p:sp>
        <p:nvSpPr>
          <p:cNvPr id="505" name="Google Shape;505;p29"/>
          <p:cNvSpPr txBox="1"/>
          <p:nvPr/>
        </p:nvSpPr>
        <p:spPr>
          <a:xfrm>
            <a:off x="411480" y="2103120"/>
            <a:ext cx="34290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E3A66"/>
                </a:solidFill>
                <a:latin typeface="Calibri"/>
                <a:ea typeface="Calibri"/>
                <a:cs typeface="Calibri"/>
                <a:sym typeface="Calibri"/>
              </a:rPr>
              <a:t>Vendor prepares &amp; submits → System validates completeness → AI extracts, audits → Notification sent</a:t>
            </a:r>
            <a:endParaRPr sz="1200"/>
          </a:p>
        </p:txBody>
      </p:sp>
      <p:sp>
        <p:nvSpPr>
          <p:cNvPr id="506" name="Google Shape;506;p29"/>
          <p:cNvSpPr/>
          <p:nvPr/>
        </p:nvSpPr>
        <p:spPr>
          <a:xfrm>
            <a:off x="365760" y="2834640"/>
            <a:ext cx="3520440" cy="685800"/>
          </a:xfrm>
          <a:prstGeom prst="roundRect">
            <a:avLst>
              <a:gd fmla="val 16667" name="adj"/>
            </a:avLst>
          </a:prstGeom>
          <a:solidFill>
            <a:srgbClr val="E8F0FA"/>
          </a:solidFill>
          <a:ln cap="flat" cmpd="sng" w="12700">
            <a:solidFill>
              <a:srgbClr val="CCDD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7" name="Google Shape;507;p29"/>
          <p:cNvSpPr txBox="1"/>
          <p:nvPr/>
        </p:nvSpPr>
        <p:spPr>
          <a:xfrm>
            <a:off x="457200" y="2880360"/>
            <a:ext cx="33375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Vendor: Prepare package → Fill checklist → Submit</a:t>
            </a:r>
            <a:endParaRPr sz="1200"/>
          </a:p>
        </p:txBody>
      </p:sp>
      <p:sp>
        <p:nvSpPr>
          <p:cNvPr id="508" name="Google Shape;508;p29"/>
          <p:cNvSpPr/>
          <p:nvPr/>
        </p:nvSpPr>
        <p:spPr>
          <a:xfrm>
            <a:off x="365760" y="3657600"/>
            <a:ext cx="3520440" cy="685800"/>
          </a:xfrm>
          <a:prstGeom prst="roundRect">
            <a:avLst>
              <a:gd fmla="val 16667" name="adj"/>
            </a:avLst>
          </a:prstGeom>
          <a:solidFill>
            <a:srgbClr val="E8F0FA"/>
          </a:solidFill>
          <a:ln cap="flat" cmpd="sng" w="12700">
            <a:solidFill>
              <a:srgbClr val="CCDD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9" name="Google Shape;509;p29"/>
          <p:cNvSpPr txBox="1"/>
          <p:nvPr/>
        </p:nvSpPr>
        <p:spPr>
          <a:xfrm>
            <a:off x="457200" y="3703320"/>
            <a:ext cx="3337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System: Log → Completeness check → [Incomplete? → Notify → Resubmit loop]</a:t>
            </a:r>
            <a:endParaRPr sz="1200"/>
          </a:p>
        </p:txBody>
      </p:sp>
      <p:sp>
        <p:nvSpPr>
          <p:cNvPr id="510" name="Google Shape;510;p29"/>
          <p:cNvSpPr/>
          <p:nvPr/>
        </p:nvSpPr>
        <p:spPr>
          <a:xfrm>
            <a:off x="365760" y="4480560"/>
            <a:ext cx="3520440" cy="685800"/>
          </a:xfrm>
          <a:prstGeom prst="roundRect">
            <a:avLst>
              <a:gd fmla="val 16667" name="adj"/>
            </a:avLst>
          </a:prstGeom>
          <a:solidFill>
            <a:srgbClr val="E8F0FA"/>
          </a:solidFill>
          <a:ln cap="flat" cmpd="sng" w="12700">
            <a:solidFill>
              <a:srgbClr val="CCDD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1" name="Google Shape;511;p29"/>
          <p:cNvSpPr txBox="1"/>
          <p:nvPr/>
        </p:nvSpPr>
        <p:spPr>
          <a:xfrm>
            <a:off x="457200" y="4526280"/>
            <a:ext cx="3337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System: Process → Extract content → Run AI audit → Generate report</a:t>
            </a:r>
            <a:endParaRPr sz="1200"/>
          </a:p>
        </p:txBody>
      </p:sp>
      <p:sp>
        <p:nvSpPr>
          <p:cNvPr id="512" name="Google Shape;512;p29"/>
          <p:cNvSpPr/>
          <p:nvPr/>
        </p:nvSpPr>
        <p:spPr>
          <a:xfrm>
            <a:off x="365760" y="5303520"/>
            <a:ext cx="3520440" cy="685800"/>
          </a:xfrm>
          <a:prstGeom prst="roundRect">
            <a:avLst>
              <a:gd fmla="val 16667" name="adj"/>
            </a:avLst>
          </a:prstGeom>
          <a:solidFill>
            <a:srgbClr val="E8F0FA"/>
          </a:solidFill>
          <a:ln cap="flat" cmpd="sng" w="12700">
            <a:solidFill>
              <a:srgbClr val="CCDD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3" name="Google Shape;513;p29"/>
          <p:cNvSpPr txBox="1"/>
          <p:nvPr/>
        </p:nvSpPr>
        <p:spPr>
          <a:xfrm>
            <a:off x="457200" y="5349240"/>
            <a:ext cx="33375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System: Notify vendor &amp; customer</a:t>
            </a:r>
            <a:endParaRPr sz="1200"/>
          </a:p>
        </p:txBody>
      </p:sp>
      <p:sp>
        <p:nvSpPr>
          <p:cNvPr id="514" name="Google Shape;514;p29"/>
          <p:cNvSpPr/>
          <p:nvPr/>
        </p:nvSpPr>
        <p:spPr>
          <a:xfrm>
            <a:off x="4114800" y="1371600"/>
            <a:ext cx="3703320" cy="50292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DDDD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5" name="Google Shape;515;p29"/>
          <p:cNvSpPr/>
          <p:nvPr/>
        </p:nvSpPr>
        <p:spPr>
          <a:xfrm>
            <a:off x="4114800" y="1371600"/>
            <a:ext cx="3703320" cy="594360"/>
          </a:xfrm>
          <a:prstGeom prst="roundRect">
            <a:avLst>
              <a:gd fmla="val 16667" name="adj"/>
            </a:avLst>
          </a:prstGeom>
          <a:solidFill>
            <a:srgbClr val="0F766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6" name="Google Shape;516;p29"/>
          <p:cNvSpPr txBox="1"/>
          <p:nvPr/>
        </p:nvSpPr>
        <p:spPr>
          <a:xfrm>
            <a:off x="4251960" y="1417320"/>
            <a:ext cx="34290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Flow 2: Reviewer Decision</a:t>
            </a:r>
            <a:endParaRPr sz="1600"/>
          </a:p>
        </p:txBody>
      </p:sp>
      <p:sp>
        <p:nvSpPr>
          <p:cNvPr id="517" name="Google Shape;517;p29"/>
          <p:cNvSpPr txBox="1"/>
          <p:nvPr/>
        </p:nvSpPr>
        <p:spPr>
          <a:xfrm>
            <a:off x="4251960" y="2103120"/>
            <a:ext cx="3429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E3A66"/>
                </a:solidFill>
                <a:latin typeface="Calibri"/>
                <a:ea typeface="Calibri"/>
                <a:cs typeface="Calibri"/>
                <a:sym typeface="Calibri"/>
              </a:rPr>
              <a:t>Customer reviews AI audit → Accept or Reject with evidence-based decision</a:t>
            </a:r>
            <a:endParaRPr sz="1200"/>
          </a:p>
        </p:txBody>
      </p:sp>
      <p:sp>
        <p:nvSpPr>
          <p:cNvPr id="518" name="Google Shape;518;p29"/>
          <p:cNvSpPr/>
          <p:nvPr/>
        </p:nvSpPr>
        <p:spPr>
          <a:xfrm>
            <a:off x="4206240" y="2834640"/>
            <a:ext cx="3520440" cy="685800"/>
          </a:xfrm>
          <a:prstGeom prst="roundRect">
            <a:avLst>
              <a:gd fmla="val 16667" name="adj"/>
            </a:avLst>
          </a:prstGeom>
          <a:solidFill>
            <a:srgbClr val="E8F0FA"/>
          </a:solidFill>
          <a:ln cap="flat" cmpd="sng" w="12700">
            <a:solidFill>
              <a:srgbClr val="CCDD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9" name="Google Shape;519;p29"/>
          <p:cNvSpPr txBox="1"/>
          <p:nvPr/>
        </p:nvSpPr>
        <p:spPr>
          <a:xfrm>
            <a:off x="4297680" y="2880360"/>
            <a:ext cx="3337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Customer: Receive notification → Review findings → Study evidence</a:t>
            </a:r>
            <a:endParaRPr sz="1200"/>
          </a:p>
        </p:txBody>
      </p:sp>
      <p:sp>
        <p:nvSpPr>
          <p:cNvPr id="520" name="Google Shape;520;p29"/>
          <p:cNvSpPr/>
          <p:nvPr/>
        </p:nvSpPr>
        <p:spPr>
          <a:xfrm>
            <a:off x="4206240" y="3657600"/>
            <a:ext cx="3520440" cy="685800"/>
          </a:xfrm>
          <a:prstGeom prst="roundRect">
            <a:avLst>
              <a:gd fmla="val 16667" name="adj"/>
            </a:avLst>
          </a:prstGeom>
          <a:solidFill>
            <a:srgbClr val="E8F0FA"/>
          </a:solidFill>
          <a:ln cap="flat" cmpd="sng" w="12700">
            <a:solidFill>
              <a:srgbClr val="CCDD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1" name="Google Shape;521;p29"/>
          <p:cNvSpPr txBox="1"/>
          <p:nvPr/>
        </p:nvSpPr>
        <p:spPr>
          <a:xfrm>
            <a:off x="4297680" y="3703320"/>
            <a:ext cx="3337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Decision: Accept → Mark approved → Write memo → Log &amp; notify</a:t>
            </a:r>
            <a:endParaRPr sz="1200"/>
          </a:p>
        </p:txBody>
      </p:sp>
      <p:sp>
        <p:nvSpPr>
          <p:cNvPr id="522" name="Google Shape;522;p29"/>
          <p:cNvSpPr/>
          <p:nvPr/>
        </p:nvSpPr>
        <p:spPr>
          <a:xfrm>
            <a:off x="4206240" y="4480560"/>
            <a:ext cx="3520440" cy="685800"/>
          </a:xfrm>
          <a:prstGeom prst="roundRect">
            <a:avLst>
              <a:gd fmla="val 16667" name="adj"/>
            </a:avLst>
          </a:prstGeom>
          <a:solidFill>
            <a:srgbClr val="E8F0FA"/>
          </a:solidFill>
          <a:ln cap="flat" cmpd="sng" w="12700">
            <a:solidFill>
              <a:srgbClr val="CCDD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3" name="Google Shape;523;p29"/>
          <p:cNvSpPr txBox="1"/>
          <p:nvPr/>
        </p:nvSpPr>
        <p:spPr>
          <a:xfrm>
            <a:off x="4297680" y="4526280"/>
            <a:ext cx="3337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Decision: Reject → List fixes → Vendor revises → Resubmit (→ Flow 1)</a:t>
            </a:r>
            <a:endParaRPr sz="1200"/>
          </a:p>
        </p:txBody>
      </p:sp>
      <p:sp>
        <p:nvSpPr>
          <p:cNvPr id="524" name="Google Shape;524;p29"/>
          <p:cNvSpPr/>
          <p:nvPr/>
        </p:nvSpPr>
        <p:spPr>
          <a:xfrm>
            <a:off x="7955280" y="1371600"/>
            <a:ext cx="3703320" cy="50292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DDDD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5" name="Google Shape;525;p29"/>
          <p:cNvSpPr/>
          <p:nvPr/>
        </p:nvSpPr>
        <p:spPr>
          <a:xfrm>
            <a:off x="7955280" y="1371600"/>
            <a:ext cx="3703320" cy="594360"/>
          </a:xfrm>
          <a:prstGeom prst="roundRect">
            <a:avLst>
              <a:gd fmla="val 16667" name="adj"/>
            </a:avLst>
          </a:prstGeom>
          <a:solidFill>
            <a:srgbClr val="7C3AE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6" name="Google Shape;526;p29"/>
          <p:cNvSpPr txBox="1"/>
          <p:nvPr/>
        </p:nvSpPr>
        <p:spPr>
          <a:xfrm>
            <a:off x="8092440" y="1417320"/>
            <a:ext cx="34290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Flow 3: Search, Query &amp; Summary</a:t>
            </a:r>
            <a:endParaRPr sz="1600"/>
          </a:p>
        </p:txBody>
      </p:sp>
      <p:sp>
        <p:nvSpPr>
          <p:cNvPr id="527" name="Google Shape;527;p29"/>
          <p:cNvSpPr txBox="1"/>
          <p:nvPr/>
        </p:nvSpPr>
        <p:spPr>
          <a:xfrm>
            <a:off x="8092440" y="2103120"/>
            <a:ext cx="3429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E3A66"/>
                </a:solidFill>
                <a:latin typeface="Calibri"/>
                <a:ea typeface="Calibri"/>
                <a:cs typeface="Calibri"/>
                <a:sym typeface="Calibri"/>
              </a:rPr>
              <a:t>Natural language query → RAG retrieval → AI-generated answer with sources</a:t>
            </a:r>
            <a:endParaRPr sz="1200"/>
          </a:p>
        </p:txBody>
      </p:sp>
      <p:sp>
        <p:nvSpPr>
          <p:cNvPr id="528" name="Google Shape;528;p29"/>
          <p:cNvSpPr/>
          <p:nvPr/>
        </p:nvSpPr>
        <p:spPr>
          <a:xfrm>
            <a:off x="8046720" y="2834640"/>
            <a:ext cx="3520440" cy="685800"/>
          </a:xfrm>
          <a:prstGeom prst="roundRect">
            <a:avLst>
              <a:gd fmla="val 16667" name="adj"/>
            </a:avLst>
          </a:prstGeom>
          <a:solidFill>
            <a:srgbClr val="E8F0FA"/>
          </a:solidFill>
          <a:ln cap="flat" cmpd="sng" w="12700">
            <a:solidFill>
              <a:srgbClr val="CCDD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9" name="Google Shape;529;p29"/>
          <p:cNvSpPr txBox="1"/>
          <p:nvPr/>
        </p:nvSpPr>
        <p:spPr>
          <a:xfrm>
            <a:off x="8138160" y="2880360"/>
            <a:ext cx="33375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User: Enter NL query</a:t>
            </a:r>
            <a:endParaRPr sz="1200"/>
          </a:p>
        </p:txBody>
      </p:sp>
      <p:sp>
        <p:nvSpPr>
          <p:cNvPr id="530" name="Google Shape;530;p29"/>
          <p:cNvSpPr/>
          <p:nvPr/>
        </p:nvSpPr>
        <p:spPr>
          <a:xfrm>
            <a:off x="8046720" y="3657600"/>
            <a:ext cx="3520440" cy="685800"/>
          </a:xfrm>
          <a:prstGeom prst="roundRect">
            <a:avLst>
              <a:gd fmla="val 16667" name="adj"/>
            </a:avLst>
          </a:prstGeom>
          <a:solidFill>
            <a:srgbClr val="E8F0FA"/>
          </a:solidFill>
          <a:ln cap="flat" cmpd="sng" w="12700">
            <a:solidFill>
              <a:srgbClr val="CCDD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1" name="Google Shape;531;p29"/>
          <p:cNvSpPr txBox="1"/>
          <p:nvPr/>
        </p:nvSpPr>
        <p:spPr>
          <a:xfrm>
            <a:off x="8138160" y="3703320"/>
            <a:ext cx="33375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System: Interpret → Search index → Rank &amp; filter</a:t>
            </a:r>
            <a:endParaRPr sz="1200"/>
          </a:p>
        </p:txBody>
      </p:sp>
      <p:sp>
        <p:nvSpPr>
          <p:cNvPr id="532" name="Google Shape;532;p29"/>
          <p:cNvSpPr/>
          <p:nvPr/>
        </p:nvSpPr>
        <p:spPr>
          <a:xfrm>
            <a:off x="8046720" y="4480560"/>
            <a:ext cx="3520440" cy="685800"/>
          </a:xfrm>
          <a:prstGeom prst="roundRect">
            <a:avLst>
              <a:gd fmla="val 16667" name="adj"/>
            </a:avLst>
          </a:prstGeom>
          <a:solidFill>
            <a:srgbClr val="E8F0FA"/>
          </a:solidFill>
          <a:ln cap="flat" cmpd="sng" w="12700">
            <a:solidFill>
              <a:srgbClr val="CCDD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3" name="Google Shape;533;p29"/>
          <p:cNvSpPr txBox="1"/>
          <p:nvPr/>
        </p:nvSpPr>
        <p:spPr>
          <a:xfrm>
            <a:off x="8138160" y="4526280"/>
            <a:ext cx="3337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Results found → Generate summary + key points + source links</a:t>
            </a:r>
            <a:endParaRPr sz="1200"/>
          </a:p>
        </p:txBody>
      </p:sp>
      <p:sp>
        <p:nvSpPr>
          <p:cNvPr id="534" name="Google Shape;534;p29"/>
          <p:cNvSpPr/>
          <p:nvPr/>
        </p:nvSpPr>
        <p:spPr>
          <a:xfrm>
            <a:off x="8046720" y="5303520"/>
            <a:ext cx="3520440" cy="685800"/>
          </a:xfrm>
          <a:prstGeom prst="roundRect">
            <a:avLst>
              <a:gd fmla="val 16667" name="adj"/>
            </a:avLst>
          </a:prstGeom>
          <a:solidFill>
            <a:srgbClr val="E8F0FA"/>
          </a:solidFill>
          <a:ln cap="flat" cmpd="sng" w="12700">
            <a:solidFill>
              <a:srgbClr val="CCDD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5" name="Google Shape;535;p29"/>
          <p:cNvSpPr txBox="1"/>
          <p:nvPr/>
        </p:nvSpPr>
        <p:spPr>
          <a:xfrm>
            <a:off x="8138160" y="5349240"/>
            <a:ext cx="3337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No results → Suggest related topics → Refine query loop</a:t>
            </a:r>
            <a:endParaRPr sz="120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9" name="Shape 5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0" name="Google Shape;540;p30"/>
          <p:cNvSpPr/>
          <p:nvPr/>
        </p:nvSpPr>
        <p:spPr>
          <a:xfrm>
            <a:off x="0" y="0"/>
            <a:ext cx="12191700" cy="1051500"/>
          </a:xfrm>
          <a:prstGeom prst="roundRect">
            <a:avLst>
              <a:gd fmla="val 16667" name="adj"/>
            </a:avLst>
          </a:prstGeom>
          <a:solidFill>
            <a:srgbClr val="0E3A6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1" name="Google Shape;541;p30"/>
          <p:cNvSpPr txBox="1"/>
          <p:nvPr/>
        </p:nvSpPr>
        <p:spPr>
          <a:xfrm>
            <a:off x="548640" y="137160"/>
            <a:ext cx="91440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Key Activity Diagrams </a:t>
            </a:r>
            <a:r>
              <a:rPr b="1" lang="en-US" sz="1700"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rPr>
              <a:t>— </a:t>
            </a:r>
            <a:r>
              <a:rPr b="1" i="0" lang="en-US" sz="2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Flow 1</a:t>
            </a:r>
            <a:endParaRPr/>
          </a:p>
        </p:txBody>
      </p:sp>
      <p:sp>
        <p:nvSpPr>
          <p:cNvPr id="542" name="Google Shape;542;p30"/>
          <p:cNvSpPr txBox="1"/>
          <p:nvPr/>
        </p:nvSpPr>
        <p:spPr>
          <a:xfrm>
            <a:off x="548640" y="640080"/>
            <a:ext cx="10972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543" name="Google Shape;543;p30"/>
          <p:cNvSpPr/>
          <p:nvPr/>
        </p:nvSpPr>
        <p:spPr>
          <a:xfrm>
            <a:off x="0" y="1051560"/>
            <a:ext cx="12191700" cy="50700"/>
          </a:xfrm>
          <a:prstGeom prst="roundRect">
            <a:avLst>
              <a:gd fmla="val 16667" name="adj"/>
            </a:avLst>
          </a:prstGeom>
          <a:solidFill>
            <a:srgbClr val="E0A3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44" name="Google Shape;544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917177" y="1254660"/>
            <a:ext cx="3965773" cy="545094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8" name="Shape 5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9" name="Google Shape;549;p31"/>
          <p:cNvSpPr/>
          <p:nvPr/>
        </p:nvSpPr>
        <p:spPr>
          <a:xfrm>
            <a:off x="0" y="0"/>
            <a:ext cx="12191700" cy="1051500"/>
          </a:xfrm>
          <a:prstGeom prst="roundRect">
            <a:avLst>
              <a:gd fmla="val 16667" name="adj"/>
            </a:avLst>
          </a:prstGeom>
          <a:solidFill>
            <a:srgbClr val="0E3A6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0" name="Google Shape;550;p31"/>
          <p:cNvSpPr txBox="1"/>
          <p:nvPr/>
        </p:nvSpPr>
        <p:spPr>
          <a:xfrm>
            <a:off x="548640" y="137160"/>
            <a:ext cx="91440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Key Activity Diagrams </a:t>
            </a:r>
            <a:r>
              <a:rPr b="1" lang="en-US" sz="1700"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rPr>
              <a:t>— </a:t>
            </a:r>
            <a:r>
              <a:rPr b="1" i="0" lang="en-US" sz="2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Flow </a:t>
            </a:r>
            <a:r>
              <a:rPr b="1" lang="en-US" sz="2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/>
          </a:p>
        </p:txBody>
      </p:sp>
      <p:sp>
        <p:nvSpPr>
          <p:cNvPr id="551" name="Google Shape;551;p31"/>
          <p:cNvSpPr txBox="1"/>
          <p:nvPr/>
        </p:nvSpPr>
        <p:spPr>
          <a:xfrm>
            <a:off x="548640" y="640080"/>
            <a:ext cx="10972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552" name="Google Shape;552;p31"/>
          <p:cNvSpPr/>
          <p:nvPr/>
        </p:nvSpPr>
        <p:spPr>
          <a:xfrm>
            <a:off x="0" y="1051560"/>
            <a:ext cx="12191700" cy="50700"/>
          </a:xfrm>
          <a:prstGeom prst="roundRect">
            <a:avLst>
              <a:gd fmla="val 16667" name="adj"/>
            </a:avLst>
          </a:prstGeom>
          <a:solidFill>
            <a:srgbClr val="E0A3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53" name="Google Shape;553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36869" y="1254660"/>
            <a:ext cx="6324583" cy="545093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7" name="Shape 5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8" name="Google Shape;558;p32"/>
          <p:cNvSpPr/>
          <p:nvPr/>
        </p:nvSpPr>
        <p:spPr>
          <a:xfrm>
            <a:off x="0" y="0"/>
            <a:ext cx="12191700" cy="1051500"/>
          </a:xfrm>
          <a:prstGeom prst="roundRect">
            <a:avLst>
              <a:gd fmla="val 16667" name="adj"/>
            </a:avLst>
          </a:prstGeom>
          <a:solidFill>
            <a:srgbClr val="0E3A6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9" name="Google Shape;559;p32"/>
          <p:cNvSpPr txBox="1"/>
          <p:nvPr/>
        </p:nvSpPr>
        <p:spPr>
          <a:xfrm>
            <a:off x="548640" y="137160"/>
            <a:ext cx="91440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Key Activity Diagrams </a:t>
            </a:r>
            <a:r>
              <a:rPr b="1" lang="en-US" sz="1700"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rPr>
              <a:t>— </a:t>
            </a:r>
            <a:r>
              <a:rPr b="1" i="0" lang="en-US" sz="2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Flow </a:t>
            </a:r>
            <a:r>
              <a:rPr b="1" lang="en-US" sz="2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/>
          </a:p>
        </p:txBody>
      </p:sp>
      <p:sp>
        <p:nvSpPr>
          <p:cNvPr id="560" name="Google Shape;560;p32"/>
          <p:cNvSpPr txBox="1"/>
          <p:nvPr/>
        </p:nvSpPr>
        <p:spPr>
          <a:xfrm>
            <a:off x="548640" y="640080"/>
            <a:ext cx="10972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561" name="Google Shape;561;p32"/>
          <p:cNvSpPr/>
          <p:nvPr/>
        </p:nvSpPr>
        <p:spPr>
          <a:xfrm>
            <a:off x="0" y="1051560"/>
            <a:ext cx="12191700" cy="50700"/>
          </a:xfrm>
          <a:prstGeom prst="roundRect">
            <a:avLst>
              <a:gd fmla="val 16667" name="adj"/>
            </a:avLst>
          </a:prstGeom>
          <a:solidFill>
            <a:srgbClr val="E0A3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62" name="Google Shape;562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57219" y="1254660"/>
            <a:ext cx="6365702" cy="545093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6" name="Shape 5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7" name="Google Shape;567;p33"/>
          <p:cNvSpPr/>
          <p:nvPr/>
        </p:nvSpPr>
        <p:spPr>
          <a:xfrm>
            <a:off x="0" y="0"/>
            <a:ext cx="12191695" cy="1051560"/>
          </a:xfrm>
          <a:prstGeom prst="roundRect">
            <a:avLst>
              <a:gd fmla="val 16667" name="adj"/>
            </a:avLst>
          </a:prstGeom>
          <a:solidFill>
            <a:srgbClr val="0E3A6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8" name="Google Shape;568;p33"/>
          <p:cNvSpPr txBox="1"/>
          <p:nvPr/>
        </p:nvSpPr>
        <p:spPr>
          <a:xfrm>
            <a:off x="548640" y="137160"/>
            <a:ext cx="91440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Deployment Diagram</a:t>
            </a:r>
            <a:r>
              <a:rPr b="1" lang="en-US" sz="2800"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rPr>
              <a:t> — Full View</a:t>
            </a:r>
            <a:endParaRPr sz="2800"/>
          </a:p>
        </p:txBody>
      </p:sp>
      <p:sp>
        <p:nvSpPr>
          <p:cNvPr id="569" name="Google Shape;569;p33"/>
          <p:cNvSpPr/>
          <p:nvPr/>
        </p:nvSpPr>
        <p:spPr>
          <a:xfrm>
            <a:off x="0" y="1051560"/>
            <a:ext cx="12191695" cy="50800"/>
          </a:xfrm>
          <a:prstGeom prst="roundRect">
            <a:avLst>
              <a:gd fmla="val 16667" name="adj"/>
            </a:avLst>
          </a:prstGeom>
          <a:solidFill>
            <a:srgbClr val="E0A3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70" name="Google Shape;570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632275" y="1254760"/>
            <a:ext cx="4596484" cy="545083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4" name="Shape 5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5" name="Google Shape;575;p34"/>
          <p:cNvSpPr/>
          <p:nvPr/>
        </p:nvSpPr>
        <p:spPr>
          <a:xfrm>
            <a:off x="0" y="0"/>
            <a:ext cx="12191700" cy="1051500"/>
          </a:xfrm>
          <a:prstGeom prst="roundRect">
            <a:avLst>
              <a:gd fmla="val 16667" name="adj"/>
            </a:avLst>
          </a:prstGeom>
          <a:solidFill>
            <a:srgbClr val="0E3A6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6" name="Google Shape;576;p34"/>
          <p:cNvSpPr txBox="1"/>
          <p:nvPr/>
        </p:nvSpPr>
        <p:spPr>
          <a:xfrm>
            <a:off x="548640" y="137160"/>
            <a:ext cx="91440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Deployment Diagram</a:t>
            </a:r>
            <a:endParaRPr/>
          </a:p>
        </p:txBody>
      </p:sp>
      <p:sp>
        <p:nvSpPr>
          <p:cNvPr id="577" name="Google Shape;577;p34"/>
          <p:cNvSpPr txBox="1"/>
          <p:nvPr/>
        </p:nvSpPr>
        <p:spPr>
          <a:xfrm>
            <a:off x="548640" y="640080"/>
            <a:ext cx="10972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BBCCDD"/>
                </a:solidFill>
                <a:latin typeface="Calibri"/>
                <a:ea typeface="Calibri"/>
                <a:cs typeface="Calibri"/>
                <a:sym typeface="Calibri"/>
              </a:rPr>
              <a:t>Azure Cloud · Region: Southeast Asia · VNet 10.1.0.0/16</a:t>
            </a:r>
            <a:endParaRPr sz="1800"/>
          </a:p>
        </p:txBody>
      </p:sp>
      <p:sp>
        <p:nvSpPr>
          <p:cNvPr id="578" name="Google Shape;578;p34"/>
          <p:cNvSpPr/>
          <p:nvPr/>
        </p:nvSpPr>
        <p:spPr>
          <a:xfrm>
            <a:off x="0" y="1051560"/>
            <a:ext cx="12191700" cy="50700"/>
          </a:xfrm>
          <a:prstGeom prst="roundRect">
            <a:avLst>
              <a:gd fmla="val 16667" name="adj"/>
            </a:avLst>
          </a:prstGeom>
          <a:solidFill>
            <a:srgbClr val="E0A3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9" name="Google Shape;579;p34"/>
          <p:cNvSpPr/>
          <p:nvPr/>
        </p:nvSpPr>
        <p:spPr>
          <a:xfrm>
            <a:off x="274320" y="1371600"/>
            <a:ext cx="5760600" cy="23775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25400">
            <a:solidFill>
              <a:srgbClr val="0F766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0" name="Google Shape;580;p34"/>
          <p:cNvSpPr/>
          <p:nvPr/>
        </p:nvSpPr>
        <p:spPr>
          <a:xfrm>
            <a:off x="274320" y="1371600"/>
            <a:ext cx="5760600" cy="502800"/>
          </a:xfrm>
          <a:prstGeom prst="roundRect">
            <a:avLst>
              <a:gd fmla="val 16667" name="adj"/>
            </a:avLst>
          </a:prstGeom>
          <a:solidFill>
            <a:srgbClr val="0F766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1" name="Google Shape;581;p34"/>
          <p:cNvSpPr txBox="1"/>
          <p:nvPr/>
        </p:nvSpPr>
        <p:spPr>
          <a:xfrm>
            <a:off x="365760" y="1399032"/>
            <a:ext cx="5577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Zone 1: Compute &amp; Access</a:t>
            </a:r>
            <a:endParaRPr/>
          </a:p>
        </p:txBody>
      </p:sp>
      <p:sp>
        <p:nvSpPr>
          <p:cNvPr id="582" name="Google Shape;582;p34"/>
          <p:cNvSpPr txBox="1"/>
          <p:nvPr/>
        </p:nvSpPr>
        <p:spPr>
          <a:xfrm>
            <a:off x="365760" y="1618488"/>
            <a:ext cx="55779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DDDDDD"/>
                </a:solidFill>
                <a:latin typeface="Calibri"/>
                <a:ea typeface="Calibri"/>
                <a:cs typeface="Calibri"/>
                <a:sym typeface="Calibri"/>
              </a:rPr>
              <a:t>App Service + Static Web Apps + Container Apps</a:t>
            </a:r>
            <a:endParaRPr sz="1200"/>
          </a:p>
        </p:txBody>
      </p:sp>
      <p:sp>
        <p:nvSpPr>
          <p:cNvPr id="583" name="Google Shape;583;p34"/>
          <p:cNvSpPr txBox="1"/>
          <p:nvPr/>
        </p:nvSpPr>
        <p:spPr>
          <a:xfrm>
            <a:off x="457200" y="1965960"/>
            <a:ext cx="5394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  Azure Front Door + WAF (public ingress, TLS, DDoS)</a:t>
            </a:r>
            <a:endParaRPr/>
          </a:p>
        </p:txBody>
      </p:sp>
      <p:sp>
        <p:nvSpPr>
          <p:cNvPr id="584" name="Google Shape;584;p34"/>
          <p:cNvSpPr txBox="1"/>
          <p:nvPr/>
        </p:nvSpPr>
        <p:spPr>
          <a:xfrm>
            <a:off x="457200" y="2258568"/>
            <a:ext cx="5394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  Static Web Apps → Frontend React SPA</a:t>
            </a:r>
            <a:endParaRPr/>
          </a:p>
        </p:txBody>
      </p:sp>
      <p:sp>
        <p:nvSpPr>
          <p:cNvPr id="585" name="Google Shape;585;p34"/>
          <p:cNvSpPr txBox="1"/>
          <p:nvPr/>
        </p:nvSpPr>
        <p:spPr>
          <a:xfrm>
            <a:off x="457200" y="2551176"/>
            <a:ext cx="5394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  App Service (Linux) → Backend API (FastAPI)</a:t>
            </a:r>
            <a:endParaRPr/>
          </a:p>
        </p:txBody>
      </p:sp>
      <p:sp>
        <p:nvSpPr>
          <p:cNvPr id="586" name="Google Shape;586;p34"/>
          <p:cNvSpPr txBox="1"/>
          <p:nvPr/>
        </p:nvSpPr>
        <p:spPr>
          <a:xfrm>
            <a:off x="457200" y="2843784"/>
            <a:ext cx="5394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  Container Apps → Celery workers, AI Service, Expert Service</a:t>
            </a:r>
            <a:endParaRPr/>
          </a:p>
        </p:txBody>
      </p:sp>
      <p:sp>
        <p:nvSpPr>
          <p:cNvPr id="587" name="Google Shape;587;p34"/>
          <p:cNvSpPr/>
          <p:nvPr/>
        </p:nvSpPr>
        <p:spPr>
          <a:xfrm>
            <a:off x="6217920" y="1371600"/>
            <a:ext cx="5760600" cy="23775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25400">
            <a:solidFill>
              <a:srgbClr val="11559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8" name="Google Shape;588;p34"/>
          <p:cNvSpPr/>
          <p:nvPr/>
        </p:nvSpPr>
        <p:spPr>
          <a:xfrm>
            <a:off x="6217920" y="1371600"/>
            <a:ext cx="5760600" cy="502800"/>
          </a:xfrm>
          <a:prstGeom prst="roundRect">
            <a:avLst>
              <a:gd fmla="val 16667" name="adj"/>
            </a:avLst>
          </a:prstGeom>
          <a:solidFill>
            <a:srgbClr val="11559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9" name="Google Shape;589;p34"/>
          <p:cNvSpPr txBox="1"/>
          <p:nvPr/>
        </p:nvSpPr>
        <p:spPr>
          <a:xfrm>
            <a:off x="6309360" y="1399032"/>
            <a:ext cx="5577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Zone 2: Data &amp; Governance</a:t>
            </a:r>
            <a:endParaRPr/>
          </a:p>
        </p:txBody>
      </p:sp>
      <p:sp>
        <p:nvSpPr>
          <p:cNvPr id="590" name="Google Shape;590;p34"/>
          <p:cNvSpPr txBox="1"/>
          <p:nvPr/>
        </p:nvSpPr>
        <p:spPr>
          <a:xfrm>
            <a:off x="6309360" y="1618488"/>
            <a:ext cx="55779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DDDDDD"/>
                </a:solidFill>
                <a:latin typeface="Calibri"/>
                <a:ea typeface="Calibri"/>
                <a:cs typeface="Calibri"/>
                <a:sym typeface="Calibri"/>
              </a:rPr>
              <a:t>Private endpoints in data-subnet 10.1.1.0/24</a:t>
            </a:r>
            <a:endParaRPr sz="1200"/>
          </a:p>
        </p:txBody>
      </p:sp>
      <p:sp>
        <p:nvSpPr>
          <p:cNvPr id="591" name="Google Shape;591;p34"/>
          <p:cNvSpPr txBox="1"/>
          <p:nvPr/>
        </p:nvSpPr>
        <p:spPr>
          <a:xfrm>
            <a:off x="6400800" y="1965960"/>
            <a:ext cx="5394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  PostgreSQL Flexible Server (zone-redundant) — App D</a:t>
            </a:r>
            <a:r>
              <a:rPr lang="en-US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B</a:t>
            </a:r>
            <a:endParaRPr/>
          </a:p>
        </p:txBody>
      </p:sp>
      <p:sp>
        <p:nvSpPr>
          <p:cNvPr id="592" name="Google Shape;592;p34"/>
          <p:cNvSpPr txBox="1"/>
          <p:nvPr/>
        </p:nvSpPr>
        <p:spPr>
          <a:xfrm>
            <a:off x="6400800" y="2258568"/>
            <a:ext cx="5394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  Azure Cache for Redis — Celery broker + query cache</a:t>
            </a:r>
            <a:endParaRPr/>
          </a:p>
        </p:txBody>
      </p:sp>
      <p:sp>
        <p:nvSpPr>
          <p:cNvPr id="593" name="Google Shape;593;p34"/>
          <p:cNvSpPr txBox="1"/>
          <p:nvPr/>
        </p:nvSpPr>
        <p:spPr>
          <a:xfrm>
            <a:off x="6400800" y="2551176"/>
            <a:ext cx="5394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  Azure Blob Storage — documents &amp; crawled files</a:t>
            </a:r>
            <a:endParaRPr/>
          </a:p>
        </p:txBody>
      </p:sp>
      <p:sp>
        <p:nvSpPr>
          <p:cNvPr id="594" name="Google Shape;594;p34"/>
          <p:cNvSpPr txBox="1"/>
          <p:nvPr/>
        </p:nvSpPr>
        <p:spPr>
          <a:xfrm>
            <a:off x="6400800" y="2843784"/>
            <a:ext cx="5394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  Azure AI Search — unified vector index</a:t>
            </a:r>
            <a:endParaRPr/>
          </a:p>
        </p:txBody>
      </p:sp>
      <p:sp>
        <p:nvSpPr>
          <p:cNvPr id="595" name="Google Shape;595;p34"/>
          <p:cNvSpPr txBox="1"/>
          <p:nvPr/>
        </p:nvSpPr>
        <p:spPr>
          <a:xfrm>
            <a:off x="6400800" y="3136392"/>
            <a:ext cx="5394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  Key Vault — secrets via managed identities</a:t>
            </a:r>
            <a:endParaRPr/>
          </a:p>
        </p:txBody>
      </p:sp>
      <p:sp>
        <p:nvSpPr>
          <p:cNvPr id="596" name="Google Shape;596;p34"/>
          <p:cNvSpPr txBox="1"/>
          <p:nvPr/>
        </p:nvSpPr>
        <p:spPr>
          <a:xfrm>
            <a:off x="6400800" y="3429000"/>
            <a:ext cx="5394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  Azure Monitor / App Insights — APM + budget alerts</a:t>
            </a:r>
            <a:endParaRPr/>
          </a:p>
        </p:txBody>
      </p:sp>
      <p:sp>
        <p:nvSpPr>
          <p:cNvPr id="597" name="Google Shape;597;p34"/>
          <p:cNvSpPr/>
          <p:nvPr/>
        </p:nvSpPr>
        <p:spPr>
          <a:xfrm>
            <a:off x="274320" y="3977640"/>
            <a:ext cx="5760600" cy="23775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25400">
            <a:solidFill>
              <a:srgbClr val="7C3A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8" name="Google Shape;598;p34"/>
          <p:cNvSpPr/>
          <p:nvPr/>
        </p:nvSpPr>
        <p:spPr>
          <a:xfrm>
            <a:off x="274320" y="3977640"/>
            <a:ext cx="5760600" cy="502800"/>
          </a:xfrm>
          <a:prstGeom prst="roundRect">
            <a:avLst>
              <a:gd fmla="val 16667" name="adj"/>
            </a:avLst>
          </a:prstGeom>
          <a:solidFill>
            <a:srgbClr val="7C3AE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9" name="Google Shape;599;p34"/>
          <p:cNvSpPr txBox="1"/>
          <p:nvPr/>
        </p:nvSpPr>
        <p:spPr>
          <a:xfrm>
            <a:off x="365760" y="4005072"/>
            <a:ext cx="5577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Zone 3: External Azure Services</a:t>
            </a:r>
            <a:endParaRPr/>
          </a:p>
        </p:txBody>
      </p:sp>
      <p:sp>
        <p:nvSpPr>
          <p:cNvPr id="600" name="Google Shape;600;p34"/>
          <p:cNvSpPr txBox="1"/>
          <p:nvPr/>
        </p:nvSpPr>
        <p:spPr>
          <a:xfrm>
            <a:off x="365760" y="4224528"/>
            <a:ext cx="55779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DDDDDD"/>
                </a:solidFill>
                <a:latin typeface="Calibri"/>
                <a:ea typeface="Calibri"/>
                <a:cs typeface="Calibri"/>
                <a:sym typeface="Calibri"/>
              </a:rPr>
              <a:t>Managed by Microsoft, consumed over private endpoints</a:t>
            </a:r>
            <a:endParaRPr sz="1200"/>
          </a:p>
        </p:txBody>
      </p:sp>
      <p:sp>
        <p:nvSpPr>
          <p:cNvPr id="601" name="Google Shape;601;p34"/>
          <p:cNvSpPr txBox="1"/>
          <p:nvPr/>
        </p:nvSpPr>
        <p:spPr>
          <a:xfrm>
            <a:off x="457200" y="4572000"/>
            <a:ext cx="5394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  Azure Content Understanding — text &amp; structure extraction</a:t>
            </a:r>
            <a:endParaRPr/>
          </a:p>
        </p:txBody>
      </p:sp>
      <p:sp>
        <p:nvSpPr>
          <p:cNvPr id="602" name="Google Shape;602;p34"/>
          <p:cNvSpPr txBox="1"/>
          <p:nvPr/>
        </p:nvSpPr>
        <p:spPr>
          <a:xfrm>
            <a:off x="457200" y="4864608"/>
            <a:ext cx="5394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  Azure OpenAI Service — LLM inference</a:t>
            </a:r>
            <a:endParaRPr/>
          </a:p>
        </p:txBody>
      </p:sp>
      <p:sp>
        <p:nvSpPr>
          <p:cNvPr id="603" name="Google Shape;603;p34"/>
          <p:cNvSpPr txBox="1"/>
          <p:nvPr/>
        </p:nvSpPr>
        <p:spPr>
          <a:xfrm>
            <a:off x="457200" y="5157216"/>
            <a:ext cx="5394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  Azure Entra ID — OAuth2/OIDC identity provider</a:t>
            </a:r>
            <a:endParaRPr/>
          </a:p>
        </p:txBody>
      </p:sp>
      <p:sp>
        <p:nvSpPr>
          <p:cNvPr id="604" name="Google Shape;604;p34"/>
          <p:cNvSpPr/>
          <p:nvPr/>
        </p:nvSpPr>
        <p:spPr>
          <a:xfrm>
            <a:off x="6217920" y="3977640"/>
            <a:ext cx="5760600" cy="23775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25400">
            <a:solidFill>
              <a:srgbClr val="5555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5" name="Google Shape;605;p34"/>
          <p:cNvSpPr/>
          <p:nvPr/>
        </p:nvSpPr>
        <p:spPr>
          <a:xfrm>
            <a:off x="6217920" y="3977640"/>
            <a:ext cx="5760600" cy="502800"/>
          </a:xfrm>
          <a:prstGeom prst="roundRect">
            <a:avLst>
              <a:gd fmla="val 16667" name="adj"/>
            </a:avLst>
          </a:prstGeom>
          <a:solidFill>
            <a:srgbClr val="5555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6" name="Google Shape;606;p34"/>
          <p:cNvSpPr txBox="1"/>
          <p:nvPr/>
        </p:nvSpPr>
        <p:spPr>
          <a:xfrm>
            <a:off x="6309360" y="4005072"/>
            <a:ext cx="5577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Zone 4: Corporate Network</a:t>
            </a:r>
            <a:endParaRPr/>
          </a:p>
        </p:txBody>
      </p:sp>
      <p:sp>
        <p:nvSpPr>
          <p:cNvPr id="607" name="Google Shape;607;p34"/>
          <p:cNvSpPr txBox="1"/>
          <p:nvPr/>
        </p:nvSpPr>
        <p:spPr>
          <a:xfrm>
            <a:off x="6309360" y="4224528"/>
            <a:ext cx="55779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DDDDDD"/>
                </a:solidFill>
                <a:latin typeface="Calibri"/>
                <a:ea typeface="Calibri"/>
                <a:cs typeface="Calibri"/>
                <a:sym typeface="Calibri"/>
              </a:rPr>
              <a:t>On-premises, accessed over VPN / private peering</a:t>
            </a:r>
            <a:endParaRPr sz="1200"/>
          </a:p>
        </p:txBody>
      </p:sp>
      <p:sp>
        <p:nvSpPr>
          <p:cNvPr id="608" name="Google Shape;608;p34"/>
          <p:cNvSpPr txBox="1"/>
          <p:nvPr/>
        </p:nvSpPr>
        <p:spPr>
          <a:xfrm>
            <a:off x="6400800" y="4572000"/>
            <a:ext cx="5394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  Enterprise Content Sources (SharePoint, Confluence, file servers, DBs)</a:t>
            </a:r>
            <a:endParaRPr/>
          </a:p>
        </p:txBody>
      </p:sp>
      <p:sp>
        <p:nvSpPr>
          <p:cNvPr id="609" name="Google Shape;609;p34"/>
          <p:cNvSpPr txBox="1"/>
          <p:nvPr/>
        </p:nvSpPr>
        <p:spPr>
          <a:xfrm>
            <a:off x="6400800" y="4864608"/>
            <a:ext cx="5394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  HR / Org Directory (employee profiles)</a:t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3" name="Shape 6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" name="Google Shape;614;p35"/>
          <p:cNvSpPr/>
          <p:nvPr/>
        </p:nvSpPr>
        <p:spPr>
          <a:xfrm>
            <a:off x="0" y="0"/>
            <a:ext cx="12191695" cy="1051560"/>
          </a:xfrm>
          <a:prstGeom prst="roundRect">
            <a:avLst>
              <a:gd fmla="val 16667" name="adj"/>
            </a:avLst>
          </a:prstGeom>
          <a:solidFill>
            <a:srgbClr val="0E3A6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5" name="Google Shape;615;p35"/>
          <p:cNvSpPr txBox="1"/>
          <p:nvPr/>
        </p:nvSpPr>
        <p:spPr>
          <a:xfrm>
            <a:off x="548640" y="137160"/>
            <a:ext cx="91440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Technical Stack</a:t>
            </a:r>
            <a:endParaRPr/>
          </a:p>
        </p:txBody>
      </p:sp>
      <p:sp>
        <p:nvSpPr>
          <p:cNvPr id="616" name="Google Shape;616;p35"/>
          <p:cNvSpPr txBox="1"/>
          <p:nvPr/>
        </p:nvSpPr>
        <p:spPr>
          <a:xfrm>
            <a:off x="548640" y="640080"/>
            <a:ext cx="10972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BBCCDD"/>
                </a:solidFill>
                <a:latin typeface="Calibri"/>
                <a:ea typeface="Calibri"/>
                <a:cs typeface="Calibri"/>
                <a:sym typeface="Calibri"/>
              </a:rPr>
              <a:t>Technology choices aligned with Azure ecosystem and project constraints</a:t>
            </a:r>
            <a:endParaRPr sz="1800"/>
          </a:p>
        </p:txBody>
      </p:sp>
      <p:sp>
        <p:nvSpPr>
          <p:cNvPr id="617" name="Google Shape;617;p35"/>
          <p:cNvSpPr/>
          <p:nvPr/>
        </p:nvSpPr>
        <p:spPr>
          <a:xfrm>
            <a:off x="0" y="1051560"/>
            <a:ext cx="12191695" cy="50800"/>
          </a:xfrm>
          <a:prstGeom prst="roundRect">
            <a:avLst>
              <a:gd fmla="val 16667" name="adj"/>
            </a:avLst>
          </a:prstGeom>
          <a:solidFill>
            <a:srgbClr val="E0A3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8" name="Google Shape;618;p35"/>
          <p:cNvSpPr/>
          <p:nvPr/>
        </p:nvSpPr>
        <p:spPr>
          <a:xfrm>
            <a:off x="228600" y="1371600"/>
            <a:ext cx="2240280" cy="50292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DDDD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9" name="Google Shape;619;p35"/>
          <p:cNvSpPr/>
          <p:nvPr/>
        </p:nvSpPr>
        <p:spPr>
          <a:xfrm>
            <a:off x="228600" y="1371600"/>
            <a:ext cx="2240280" cy="502920"/>
          </a:xfrm>
          <a:prstGeom prst="roundRect">
            <a:avLst>
              <a:gd fmla="val 16667" name="adj"/>
            </a:avLst>
          </a:prstGeom>
          <a:solidFill>
            <a:srgbClr val="11559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0" name="Google Shape;620;p35"/>
          <p:cNvSpPr txBox="1"/>
          <p:nvPr/>
        </p:nvSpPr>
        <p:spPr>
          <a:xfrm>
            <a:off x="320040" y="1417320"/>
            <a:ext cx="20574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Frontend</a:t>
            </a:r>
            <a:endParaRPr sz="1800"/>
          </a:p>
        </p:txBody>
      </p:sp>
      <p:sp>
        <p:nvSpPr>
          <p:cNvPr id="621" name="Google Shape;621;p35"/>
          <p:cNvSpPr txBox="1"/>
          <p:nvPr/>
        </p:nvSpPr>
        <p:spPr>
          <a:xfrm>
            <a:off x="320040" y="2011680"/>
            <a:ext cx="2057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115594"/>
                </a:solidFill>
                <a:latin typeface="Calibri"/>
                <a:ea typeface="Calibri"/>
                <a:cs typeface="Calibri"/>
                <a:sym typeface="Calibri"/>
              </a:rPr>
              <a:t>Framework</a:t>
            </a:r>
            <a:endParaRPr sz="1600"/>
          </a:p>
        </p:txBody>
      </p:sp>
      <p:sp>
        <p:nvSpPr>
          <p:cNvPr id="622" name="Google Shape;622;p35"/>
          <p:cNvSpPr txBox="1"/>
          <p:nvPr/>
        </p:nvSpPr>
        <p:spPr>
          <a:xfrm>
            <a:off x="320040" y="2267712"/>
            <a:ext cx="2057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React (JavaScript)</a:t>
            </a:r>
            <a:endParaRPr sz="1600"/>
          </a:p>
        </p:txBody>
      </p:sp>
      <p:sp>
        <p:nvSpPr>
          <p:cNvPr id="623" name="Google Shape;623;p35"/>
          <p:cNvSpPr txBox="1"/>
          <p:nvPr/>
        </p:nvSpPr>
        <p:spPr>
          <a:xfrm>
            <a:off x="320040" y="2743200"/>
            <a:ext cx="2057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115594"/>
                </a:solidFill>
                <a:latin typeface="Calibri"/>
                <a:ea typeface="Calibri"/>
                <a:cs typeface="Calibri"/>
                <a:sym typeface="Calibri"/>
              </a:rPr>
              <a:t>Hosting</a:t>
            </a:r>
            <a:endParaRPr sz="1600"/>
          </a:p>
        </p:txBody>
      </p:sp>
      <p:sp>
        <p:nvSpPr>
          <p:cNvPr id="624" name="Google Shape;624;p35"/>
          <p:cNvSpPr txBox="1"/>
          <p:nvPr/>
        </p:nvSpPr>
        <p:spPr>
          <a:xfrm>
            <a:off x="320040" y="2999232"/>
            <a:ext cx="2057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Azure Static Web Apps</a:t>
            </a:r>
            <a:endParaRPr sz="1600"/>
          </a:p>
        </p:txBody>
      </p:sp>
      <p:sp>
        <p:nvSpPr>
          <p:cNvPr id="625" name="Google Shape;625;p35"/>
          <p:cNvSpPr txBox="1"/>
          <p:nvPr/>
        </p:nvSpPr>
        <p:spPr>
          <a:xfrm>
            <a:off x="320040" y="3474720"/>
            <a:ext cx="2057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115594"/>
                </a:solidFill>
                <a:latin typeface="Calibri"/>
                <a:ea typeface="Calibri"/>
                <a:cs typeface="Calibri"/>
                <a:sym typeface="Calibri"/>
              </a:rPr>
              <a:t>Features</a:t>
            </a:r>
            <a:endParaRPr sz="1600"/>
          </a:p>
        </p:txBody>
      </p:sp>
      <p:sp>
        <p:nvSpPr>
          <p:cNvPr id="626" name="Google Shape;626;p35"/>
          <p:cNvSpPr txBox="1"/>
          <p:nvPr/>
        </p:nvSpPr>
        <p:spPr>
          <a:xfrm>
            <a:off x="320040" y="3730752"/>
            <a:ext cx="20574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SPA, responsive, Chrome/Edge 130+</a:t>
            </a:r>
            <a:endParaRPr sz="1600"/>
          </a:p>
        </p:txBody>
      </p:sp>
      <p:sp>
        <p:nvSpPr>
          <p:cNvPr id="627" name="Google Shape;627;p35"/>
          <p:cNvSpPr/>
          <p:nvPr/>
        </p:nvSpPr>
        <p:spPr>
          <a:xfrm>
            <a:off x="2606040" y="1371600"/>
            <a:ext cx="2240280" cy="50292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DDDD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8" name="Google Shape;628;p35"/>
          <p:cNvSpPr/>
          <p:nvPr/>
        </p:nvSpPr>
        <p:spPr>
          <a:xfrm>
            <a:off x="2606040" y="1371600"/>
            <a:ext cx="2240280" cy="502920"/>
          </a:xfrm>
          <a:prstGeom prst="roundRect">
            <a:avLst>
              <a:gd fmla="val 16667" name="adj"/>
            </a:avLst>
          </a:prstGeom>
          <a:solidFill>
            <a:srgbClr val="0F766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9" name="Google Shape;629;p35"/>
          <p:cNvSpPr txBox="1"/>
          <p:nvPr/>
        </p:nvSpPr>
        <p:spPr>
          <a:xfrm>
            <a:off x="2697480" y="1417320"/>
            <a:ext cx="20574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Backend</a:t>
            </a:r>
            <a:endParaRPr sz="1800"/>
          </a:p>
        </p:txBody>
      </p:sp>
      <p:sp>
        <p:nvSpPr>
          <p:cNvPr id="630" name="Google Shape;630;p35"/>
          <p:cNvSpPr txBox="1"/>
          <p:nvPr/>
        </p:nvSpPr>
        <p:spPr>
          <a:xfrm>
            <a:off x="2697480" y="2011680"/>
            <a:ext cx="2057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115594"/>
                </a:solidFill>
                <a:latin typeface="Calibri"/>
                <a:ea typeface="Calibri"/>
                <a:cs typeface="Calibri"/>
                <a:sym typeface="Calibri"/>
              </a:rPr>
              <a:t>Framework</a:t>
            </a:r>
            <a:endParaRPr sz="1600"/>
          </a:p>
        </p:txBody>
      </p:sp>
      <p:sp>
        <p:nvSpPr>
          <p:cNvPr id="631" name="Google Shape;631;p35"/>
          <p:cNvSpPr txBox="1"/>
          <p:nvPr/>
        </p:nvSpPr>
        <p:spPr>
          <a:xfrm>
            <a:off x="2697480" y="2267712"/>
            <a:ext cx="2057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Python / FastAPI</a:t>
            </a:r>
            <a:endParaRPr sz="1600"/>
          </a:p>
        </p:txBody>
      </p:sp>
      <p:sp>
        <p:nvSpPr>
          <p:cNvPr id="632" name="Google Shape;632;p35"/>
          <p:cNvSpPr txBox="1"/>
          <p:nvPr/>
        </p:nvSpPr>
        <p:spPr>
          <a:xfrm>
            <a:off x="2697480" y="2743200"/>
            <a:ext cx="2057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115594"/>
                </a:solidFill>
                <a:latin typeface="Calibri"/>
                <a:ea typeface="Calibri"/>
                <a:cs typeface="Calibri"/>
                <a:sym typeface="Calibri"/>
              </a:rPr>
              <a:t>Hosting</a:t>
            </a:r>
            <a:endParaRPr sz="1600"/>
          </a:p>
        </p:txBody>
      </p:sp>
      <p:sp>
        <p:nvSpPr>
          <p:cNvPr id="633" name="Google Shape;633;p35"/>
          <p:cNvSpPr txBox="1"/>
          <p:nvPr/>
        </p:nvSpPr>
        <p:spPr>
          <a:xfrm>
            <a:off x="2697480" y="2999232"/>
            <a:ext cx="20574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Azure App Service (Linux)</a:t>
            </a:r>
            <a:endParaRPr sz="1600"/>
          </a:p>
        </p:txBody>
      </p:sp>
      <p:sp>
        <p:nvSpPr>
          <p:cNvPr id="634" name="Google Shape;634;p35"/>
          <p:cNvSpPr txBox="1"/>
          <p:nvPr/>
        </p:nvSpPr>
        <p:spPr>
          <a:xfrm>
            <a:off x="2697480" y="3474720"/>
            <a:ext cx="2057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115594"/>
                </a:solidFill>
                <a:latin typeface="Calibri"/>
                <a:ea typeface="Calibri"/>
                <a:cs typeface="Calibri"/>
                <a:sym typeface="Calibri"/>
              </a:rPr>
              <a:t>Auth</a:t>
            </a:r>
            <a:endParaRPr sz="1600"/>
          </a:p>
        </p:txBody>
      </p:sp>
      <p:sp>
        <p:nvSpPr>
          <p:cNvPr id="635" name="Google Shape;635;p35"/>
          <p:cNvSpPr txBox="1"/>
          <p:nvPr/>
        </p:nvSpPr>
        <p:spPr>
          <a:xfrm>
            <a:off x="2697480" y="3730752"/>
            <a:ext cx="20574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Entra ID JWT + RBAC middleware</a:t>
            </a:r>
            <a:endParaRPr sz="1600"/>
          </a:p>
        </p:txBody>
      </p:sp>
      <p:sp>
        <p:nvSpPr>
          <p:cNvPr id="636" name="Google Shape;636;p35"/>
          <p:cNvSpPr/>
          <p:nvPr/>
        </p:nvSpPr>
        <p:spPr>
          <a:xfrm>
            <a:off x="4983480" y="1371600"/>
            <a:ext cx="2240280" cy="50292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DDDD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7" name="Google Shape;637;p35"/>
          <p:cNvSpPr/>
          <p:nvPr/>
        </p:nvSpPr>
        <p:spPr>
          <a:xfrm>
            <a:off x="4983480" y="1371600"/>
            <a:ext cx="2240280" cy="502920"/>
          </a:xfrm>
          <a:prstGeom prst="roundRect">
            <a:avLst>
              <a:gd fmla="val 16667" name="adj"/>
            </a:avLst>
          </a:prstGeom>
          <a:solidFill>
            <a:srgbClr val="7C3AE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8" name="Google Shape;638;p35"/>
          <p:cNvSpPr txBox="1"/>
          <p:nvPr/>
        </p:nvSpPr>
        <p:spPr>
          <a:xfrm>
            <a:off x="5074920" y="1417320"/>
            <a:ext cx="20574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AI &amp; Search</a:t>
            </a:r>
            <a:endParaRPr sz="1800"/>
          </a:p>
        </p:txBody>
      </p:sp>
      <p:sp>
        <p:nvSpPr>
          <p:cNvPr id="639" name="Google Shape;639;p35"/>
          <p:cNvSpPr txBox="1"/>
          <p:nvPr/>
        </p:nvSpPr>
        <p:spPr>
          <a:xfrm>
            <a:off x="5074920" y="2011680"/>
            <a:ext cx="2057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115594"/>
                </a:solidFill>
                <a:latin typeface="Calibri"/>
                <a:ea typeface="Calibri"/>
                <a:cs typeface="Calibri"/>
                <a:sym typeface="Calibri"/>
              </a:rPr>
              <a:t>LLM</a:t>
            </a:r>
            <a:endParaRPr sz="1600"/>
          </a:p>
        </p:txBody>
      </p:sp>
      <p:sp>
        <p:nvSpPr>
          <p:cNvPr id="640" name="Google Shape;640;p35"/>
          <p:cNvSpPr txBox="1"/>
          <p:nvPr/>
        </p:nvSpPr>
        <p:spPr>
          <a:xfrm>
            <a:off x="5074920" y="2267712"/>
            <a:ext cx="2057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Azure OpenAI Service</a:t>
            </a:r>
            <a:endParaRPr sz="1600"/>
          </a:p>
        </p:txBody>
      </p:sp>
      <p:sp>
        <p:nvSpPr>
          <p:cNvPr id="641" name="Google Shape;641;p35"/>
          <p:cNvSpPr txBox="1"/>
          <p:nvPr/>
        </p:nvSpPr>
        <p:spPr>
          <a:xfrm>
            <a:off x="5074920" y="2743200"/>
            <a:ext cx="2057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115594"/>
                </a:solidFill>
                <a:latin typeface="Calibri"/>
                <a:ea typeface="Calibri"/>
                <a:cs typeface="Calibri"/>
                <a:sym typeface="Calibri"/>
              </a:rPr>
              <a:t>Extraction</a:t>
            </a:r>
            <a:endParaRPr sz="1600"/>
          </a:p>
        </p:txBody>
      </p:sp>
      <p:sp>
        <p:nvSpPr>
          <p:cNvPr id="642" name="Google Shape;642;p35"/>
          <p:cNvSpPr txBox="1"/>
          <p:nvPr/>
        </p:nvSpPr>
        <p:spPr>
          <a:xfrm>
            <a:off x="5074920" y="2999232"/>
            <a:ext cx="20574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Azure Content Understanding</a:t>
            </a:r>
            <a:endParaRPr sz="1600"/>
          </a:p>
        </p:txBody>
      </p:sp>
      <p:sp>
        <p:nvSpPr>
          <p:cNvPr id="643" name="Google Shape;643;p35"/>
          <p:cNvSpPr txBox="1"/>
          <p:nvPr/>
        </p:nvSpPr>
        <p:spPr>
          <a:xfrm>
            <a:off x="5074920" y="3474720"/>
            <a:ext cx="2057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115594"/>
                </a:solidFill>
                <a:latin typeface="Calibri"/>
                <a:ea typeface="Calibri"/>
                <a:cs typeface="Calibri"/>
                <a:sym typeface="Calibri"/>
              </a:rPr>
              <a:t>Search</a:t>
            </a:r>
            <a:endParaRPr sz="1600"/>
          </a:p>
        </p:txBody>
      </p:sp>
      <p:sp>
        <p:nvSpPr>
          <p:cNvPr id="644" name="Google Shape;644;p35"/>
          <p:cNvSpPr txBox="1"/>
          <p:nvPr/>
        </p:nvSpPr>
        <p:spPr>
          <a:xfrm>
            <a:off x="5074920" y="3730752"/>
            <a:ext cx="20574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Azure AI Search (vector index)</a:t>
            </a:r>
            <a:endParaRPr sz="1600"/>
          </a:p>
        </p:txBody>
      </p:sp>
      <p:sp>
        <p:nvSpPr>
          <p:cNvPr id="645" name="Google Shape;645;p35"/>
          <p:cNvSpPr txBox="1"/>
          <p:nvPr/>
        </p:nvSpPr>
        <p:spPr>
          <a:xfrm>
            <a:off x="5074920" y="4206240"/>
            <a:ext cx="2057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115594"/>
                </a:solidFill>
                <a:latin typeface="Calibri"/>
                <a:ea typeface="Calibri"/>
                <a:cs typeface="Calibri"/>
                <a:sym typeface="Calibri"/>
              </a:rPr>
              <a:t>Pattern</a:t>
            </a:r>
            <a:endParaRPr sz="1600"/>
          </a:p>
        </p:txBody>
      </p:sp>
      <p:sp>
        <p:nvSpPr>
          <p:cNvPr id="646" name="Google Shape;646;p35"/>
          <p:cNvSpPr txBox="1"/>
          <p:nvPr/>
        </p:nvSpPr>
        <p:spPr>
          <a:xfrm>
            <a:off x="5074920" y="4462272"/>
            <a:ext cx="2057400" cy="8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RAG — Retrieval Augmented Generation</a:t>
            </a:r>
            <a:endParaRPr sz="1600"/>
          </a:p>
        </p:txBody>
      </p:sp>
      <p:sp>
        <p:nvSpPr>
          <p:cNvPr id="647" name="Google Shape;647;p35"/>
          <p:cNvSpPr/>
          <p:nvPr/>
        </p:nvSpPr>
        <p:spPr>
          <a:xfrm>
            <a:off x="7360920" y="1371600"/>
            <a:ext cx="2240280" cy="50292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DDDD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8" name="Google Shape;648;p35"/>
          <p:cNvSpPr/>
          <p:nvPr/>
        </p:nvSpPr>
        <p:spPr>
          <a:xfrm>
            <a:off x="7360920" y="1371600"/>
            <a:ext cx="2240280" cy="502920"/>
          </a:xfrm>
          <a:prstGeom prst="roundRect">
            <a:avLst>
              <a:gd fmla="val 16667" name="adj"/>
            </a:avLst>
          </a:prstGeom>
          <a:solidFill>
            <a:srgbClr val="92400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9" name="Google Shape;649;p35"/>
          <p:cNvSpPr txBox="1"/>
          <p:nvPr/>
        </p:nvSpPr>
        <p:spPr>
          <a:xfrm>
            <a:off x="7452360" y="1417320"/>
            <a:ext cx="20574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Data &amp; Messaging</a:t>
            </a:r>
            <a:endParaRPr sz="1800"/>
          </a:p>
        </p:txBody>
      </p:sp>
      <p:sp>
        <p:nvSpPr>
          <p:cNvPr id="650" name="Google Shape;650;p35"/>
          <p:cNvSpPr txBox="1"/>
          <p:nvPr/>
        </p:nvSpPr>
        <p:spPr>
          <a:xfrm>
            <a:off x="7452360" y="2011680"/>
            <a:ext cx="2057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115594"/>
                </a:solidFill>
                <a:latin typeface="Calibri"/>
                <a:ea typeface="Calibri"/>
                <a:cs typeface="Calibri"/>
                <a:sym typeface="Calibri"/>
              </a:rPr>
              <a:t>Database</a:t>
            </a:r>
            <a:endParaRPr sz="1600"/>
          </a:p>
        </p:txBody>
      </p:sp>
      <p:sp>
        <p:nvSpPr>
          <p:cNvPr id="651" name="Google Shape;651;p35"/>
          <p:cNvSpPr txBox="1"/>
          <p:nvPr/>
        </p:nvSpPr>
        <p:spPr>
          <a:xfrm>
            <a:off x="7452360" y="2267712"/>
            <a:ext cx="20574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Azure PostgreSQL Flexible Server</a:t>
            </a:r>
            <a:endParaRPr sz="1600"/>
          </a:p>
        </p:txBody>
      </p:sp>
      <p:sp>
        <p:nvSpPr>
          <p:cNvPr id="652" name="Google Shape;652;p35"/>
          <p:cNvSpPr txBox="1"/>
          <p:nvPr/>
        </p:nvSpPr>
        <p:spPr>
          <a:xfrm>
            <a:off x="7452360" y="2743200"/>
            <a:ext cx="2057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115594"/>
                </a:solidFill>
                <a:latin typeface="Calibri"/>
                <a:ea typeface="Calibri"/>
                <a:cs typeface="Calibri"/>
                <a:sym typeface="Calibri"/>
              </a:rPr>
              <a:t>Object Storage</a:t>
            </a:r>
            <a:endParaRPr sz="1600"/>
          </a:p>
        </p:txBody>
      </p:sp>
      <p:sp>
        <p:nvSpPr>
          <p:cNvPr id="653" name="Google Shape;653;p35"/>
          <p:cNvSpPr txBox="1"/>
          <p:nvPr/>
        </p:nvSpPr>
        <p:spPr>
          <a:xfrm>
            <a:off x="7452360" y="2999232"/>
            <a:ext cx="2057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Azure Blob Storage</a:t>
            </a:r>
            <a:endParaRPr sz="1600"/>
          </a:p>
        </p:txBody>
      </p:sp>
      <p:sp>
        <p:nvSpPr>
          <p:cNvPr id="654" name="Google Shape;654;p35"/>
          <p:cNvSpPr txBox="1"/>
          <p:nvPr/>
        </p:nvSpPr>
        <p:spPr>
          <a:xfrm>
            <a:off x="7452360" y="3474720"/>
            <a:ext cx="2057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115594"/>
                </a:solidFill>
                <a:latin typeface="Calibri"/>
                <a:ea typeface="Calibri"/>
                <a:cs typeface="Calibri"/>
                <a:sym typeface="Calibri"/>
              </a:rPr>
              <a:t>Cache / Broker</a:t>
            </a:r>
            <a:endParaRPr sz="1600"/>
          </a:p>
        </p:txBody>
      </p:sp>
      <p:sp>
        <p:nvSpPr>
          <p:cNvPr id="655" name="Google Shape;655;p35"/>
          <p:cNvSpPr txBox="1"/>
          <p:nvPr/>
        </p:nvSpPr>
        <p:spPr>
          <a:xfrm>
            <a:off x="7452360" y="3730752"/>
            <a:ext cx="2057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Azure Cache for Redis</a:t>
            </a:r>
            <a:endParaRPr sz="1600"/>
          </a:p>
        </p:txBody>
      </p:sp>
      <p:sp>
        <p:nvSpPr>
          <p:cNvPr id="656" name="Google Shape;656;p35"/>
          <p:cNvSpPr txBox="1"/>
          <p:nvPr/>
        </p:nvSpPr>
        <p:spPr>
          <a:xfrm>
            <a:off x="7452360" y="4206240"/>
            <a:ext cx="2057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115594"/>
                </a:solidFill>
                <a:latin typeface="Calibri"/>
                <a:ea typeface="Calibri"/>
                <a:cs typeface="Calibri"/>
                <a:sym typeface="Calibri"/>
              </a:rPr>
              <a:t>Task Queue</a:t>
            </a:r>
            <a:endParaRPr sz="1600"/>
          </a:p>
        </p:txBody>
      </p:sp>
      <p:sp>
        <p:nvSpPr>
          <p:cNvPr id="657" name="Google Shape;657;p35"/>
          <p:cNvSpPr txBox="1"/>
          <p:nvPr/>
        </p:nvSpPr>
        <p:spPr>
          <a:xfrm>
            <a:off x="7452360" y="4462272"/>
            <a:ext cx="2057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Celery (Python)</a:t>
            </a:r>
            <a:endParaRPr sz="1600"/>
          </a:p>
        </p:txBody>
      </p:sp>
      <p:sp>
        <p:nvSpPr>
          <p:cNvPr id="658" name="Google Shape;658;p35"/>
          <p:cNvSpPr/>
          <p:nvPr/>
        </p:nvSpPr>
        <p:spPr>
          <a:xfrm>
            <a:off x="9738360" y="1371600"/>
            <a:ext cx="2240280" cy="50292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DDDD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9" name="Google Shape;659;p35"/>
          <p:cNvSpPr/>
          <p:nvPr/>
        </p:nvSpPr>
        <p:spPr>
          <a:xfrm>
            <a:off x="9738360" y="1371600"/>
            <a:ext cx="2240280" cy="502920"/>
          </a:xfrm>
          <a:prstGeom prst="roundRect">
            <a:avLst>
              <a:gd fmla="val 16667" name="adj"/>
            </a:avLst>
          </a:prstGeom>
          <a:solidFill>
            <a:srgbClr val="4F525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0" name="Google Shape;660;p35"/>
          <p:cNvSpPr txBox="1"/>
          <p:nvPr/>
        </p:nvSpPr>
        <p:spPr>
          <a:xfrm>
            <a:off x="9829800" y="1417320"/>
            <a:ext cx="20574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Infrastructure</a:t>
            </a:r>
            <a:endParaRPr sz="1800"/>
          </a:p>
        </p:txBody>
      </p:sp>
      <p:sp>
        <p:nvSpPr>
          <p:cNvPr id="661" name="Google Shape;661;p35"/>
          <p:cNvSpPr txBox="1"/>
          <p:nvPr/>
        </p:nvSpPr>
        <p:spPr>
          <a:xfrm>
            <a:off x="9829800" y="2011680"/>
            <a:ext cx="2057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115594"/>
                </a:solidFill>
                <a:latin typeface="Calibri"/>
                <a:ea typeface="Calibri"/>
                <a:cs typeface="Calibri"/>
                <a:sym typeface="Calibri"/>
              </a:rPr>
              <a:t>Networking</a:t>
            </a:r>
            <a:endParaRPr sz="1600"/>
          </a:p>
        </p:txBody>
      </p:sp>
      <p:sp>
        <p:nvSpPr>
          <p:cNvPr id="662" name="Google Shape;662;p35"/>
          <p:cNvSpPr txBox="1"/>
          <p:nvPr/>
        </p:nvSpPr>
        <p:spPr>
          <a:xfrm>
            <a:off x="9829800" y="2267712"/>
            <a:ext cx="20574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VNet + private endpoints</a:t>
            </a:r>
            <a:endParaRPr sz="1600"/>
          </a:p>
        </p:txBody>
      </p:sp>
      <p:sp>
        <p:nvSpPr>
          <p:cNvPr id="663" name="Google Shape;663;p35"/>
          <p:cNvSpPr txBox="1"/>
          <p:nvPr/>
        </p:nvSpPr>
        <p:spPr>
          <a:xfrm>
            <a:off x="9829800" y="2743200"/>
            <a:ext cx="2057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115594"/>
                </a:solidFill>
                <a:latin typeface="Calibri"/>
                <a:ea typeface="Calibri"/>
                <a:cs typeface="Calibri"/>
                <a:sym typeface="Calibri"/>
              </a:rPr>
              <a:t>Secrets</a:t>
            </a:r>
            <a:endParaRPr sz="1600"/>
          </a:p>
        </p:txBody>
      </p:sp>
      <p:sp>
        <p:nvSpPr>
          <p:cNvPr id="664" name="Google Shape;664;p35"/>
          <p:cNvSpPr txBox="1"/>
          <p:nvPr/>
        </p:nvSpPr>
        <p:spPr>
          <a:xfrm>
            <a:off x="9829800" y="2999232"/>
            <a:ext cx="2057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Azure Key Vault</a:t>
            </a:r>
            <a:endParaRPr sz="1600"/>
          </a:p>
        </p:txBody>
      </p:sp>
      <p:sp>
        <p:nvSpPr>
          <p:cNvPr id="665" name="Google Shape;665;p35"/>
          <p:cNvSpPr txBox="1"/>
          <p:nvPr/>
        </p:nvSpPr>
        <p:spPr>
          <a:xfrm>
            <a:off x="9829800" y="3474720"/>
            <a:ext cx="2057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115594"/>
                </a:solidFill>
                <a:latin typeface="Calibri"/>
                <a:ea typeface="Calibri"/>
                <a:cs typeface="Calibri"/>
                <a:sym typeface="Calibri"/>
              </a:rPr>
              <a:t>Edge</a:t>
            </a:r>
            <a:endParaRPr sz="1600"/>
          </a:p>
        </p:txBody>
      </p:sp>
      <p:sp>
        <p:nvSpPr>
          <p:cNvPr id="666" name="Google Shape;666;p35"/>
          <p:cNvSpPr txBox="1"/>
          <p:nvPr/>
        </p:nvSpPr>
        <p:spPr>
          <a:xfrm>
            <a:off x="9829800" y="3730752"/>
            <a:ext cx="20574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Azure Front Door + WAF</a:t>
            </a:r>
            <a:endParaRPr sz="1600"/>
          </a:p>
        </p:txBody>
      </p:sp>
      <p:sp>
        <p:nvSpPr>
          <p:cNvPr id="667" name="Google Shape;667;p35"/>
          <p:cNvSpPr txBox="1"/>
          <p:nvPr/>
        </p:nvSpPr>
        <p:spPr>
          <a:xfrm>
            <a:off x="9829800" y="4206240"/>
            <a:ext cx="2057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115594"/>
                </a:solidFill>
                <a:latin typeface="Calibri"/>
                <a:ea typeface="Calibri"/>
                <a:cs typeface="Calibri"/>
                <a:sym typeface="Calibri"/>
              </a:rPr>
              <a:t>Monitoring</a:t>
            </a:r>
            <a:endParaRPr sz="1600"/>
          </a:p>
        </p:txBody>
      </p:sp>
      <p:sp>
        <p:nvSpPr>
          <p:cNvPr id="668" name="Google Shape;668;p35"/>
          <p:cNvSpPr txBox="1"/>
          <p:nvPr/>
        </p:nvSpPr>
        <p:spPr>
          <a:xfrm>
            <a:off x="9829800" y="4462272"/>
            <a:ext cx="20574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App Insights + budget alerts</a:t>
            </a:r>
            <a:endParaRPr sz="1600"/>
          </a:p>
        </p:txBody>
      </p:sp>
      <p:sp>
        <p:nvSpPr>
          <p:cNvPr id="669" name="Google Shape;669;p35"/>
          <p:cNvSpPr txBox="1"/>
          <p:nvPr/>
        </p:nvSpPr>
        <p:spPr>
          <a:xfrm>
            <a:off x="9829800" y="4937760"/>
            <a:ext cx="2057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115594"/>
                </a:solidFill>
                <a:latin typeface="Calibri"/>
                <a:ea typeface="Calibri"/>
                <a:cs typeface="Calibri"/>
                <a:sym typeface="Calibri"/>
              </a:rPr>
              <a:t>IaC</a:t>
            </a:r>
            <a:endParaRPr sz="1600"/>
          </a:p>
        </p:txBody>
      </p:sp>
      <p:sp>
        <p:nvSpPr>
          <p:cNvPr id="670" name="Google Shape;670;p35"/>
          <p:cNvSpPr txBox="1"/>
          <p:nvPr/>
        </p:nvSpPr>
        <p:spPr>
          <a:xfrm>
            <a:off x="9829800" y="5193792"/>
            <a:ext cx="2057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Bicep / Terraform</a:t>
            </a:r>
            <a:endParaRPr sz="1600"/>
          </a:p>
        </p:txBody>
      </p:sp>
      <p:sp>
        <p:nvSpPr>
          <p:cNvPr id="671" name="Google Shape;671;p35"/>
          <p:cNvSpPr txBox="1"/>
          <p:nvPr/>
        </p:nvSpPr>
        <p:spPr>
          <a:xfrm>
            <a:off x="9829800" y="5669280"/>
            <a:ext cx="2057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115594"/>
                </a:solidFill>
                <a:latin typeface="Calibri"/>
                <a:ea typeface="Calibri"/>
                <a:cs typeface="Calibri"/>
                <a:sym typeface="Calibri"/>
              </a:rPr>
              <a:t>CI/CD</a:t>
            </a:r>
            <a:endParaRPr sz="1600"/>
          </a:p>
        </p:txBody>
      </p:sp>
      <p:sp>
        <p:nvSpPr>
          <p:cNvPr id="672" name="Google Shape;672;p35"/>
          <p:cNvSpPr txBox="1"/>
          <p:nvPr/>
        </p:nvSpPr>
        <p:spPr>
          <a:xfrm>
            <a:off x="9829800" y="5925312"/>
            <a:ext cx="20574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GitHub Actions / Azure DevOps</a:t>
            </a:r>
            <a:endParaRPr sz="160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6" name="Shape 6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7" name="Google Shape;677;p36"/>
          <p:cNvSpPr/>
          <p:nvPr/>
        </p:nvSpPr>
        <p:spPr>
          <a:xfrm>
            <a:off x="0" y="0"/>
            <a:ext cx="12191695" cy="1051560"/>
          </a:xfrm>
          <a:prstGeom prst="roundRect">
            <a:avLst>
              <a:gd fmla="val 16667" name="adj"/>
            </a:avLst>
          </a:prstGeom>
          <a:solidFill>
            <a:srgbClr val="0E3A6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8" name="Google Shape;678;p36"/>
          <p:cNvSpPr txBox="1"/>
          <p:nvPr/>
        </p:nvSpPr>
        <p:spPr>
          <a:xfrm>
            <a:off x="548640" y="137160"/>
            <a:ext cx="91440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Solution Benefits</a:t>
            </a:r>
            <a:endParaRPr/>
          </a:p>
        </p:txBody>
      </p:sp>
      <p:sp>
        <p:nvSpPr>
          <p:cNvPr id="679" name="Google Shape;679;p36"/>
          <p:cNvSpPr txBox="1"/>
          <p:nvPr/>
        </p:nvSpPr>
        <p:spPr>
          <a:xfrm>
            <a:off x="548640" y="640080"/>
            <a:ext cx="10972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BBCCDD"/>
                </a:solidFill>
                <a:latin typeface="Calibri"/>
                <a:ea typeface="Calibri"/>
                <a:cs typeface="Calibri"/>
                <a:sym typeface="Calibri"/>
              </a:rPr>
              <a:t>How TO-BE addresses every AS-IS pain point</a:t>
            </a:r>
            <a:endParaRPr sz="1800"/>
          </a:p>
        </p:txBody>
      </p:sp>
      <p:sp>
        <p:nvSpPr>
          <p:cNvPr id="680" name="Google Shape;680;p36"/>
          <p:cNvSpPr/>
          <p:nvPr/>
        </p:nvSpPr>
        <p:spPr>
          <a:xfrm>
            <a:off x="0" y="1051560"/>
            <a:ext cx="12191695" cy="50800"/>
          </a:xfrm>
          <a:prstGeom prst="roundRect">
            <a:avLst>
              <a:gd fmla="val 16667" name="adj"/>
            </a:avLst>
          </a:prstGeom>
          <a:solidFill>
            <a:srgbClr val="E0A3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1" name="Google Shape;681;p36"/>
          <p:cNvSpPr/>
          <p:nvPr/>
        </p:nvSpPr>
        <p:spPr>
          <a:xfrm>
            <a:off x="365760" y="1371600"/>
            <a:ext cx="3611880" cy="233172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DDDD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2" name="Google Shape;682;p36"/>
          <p:cNvSpPr/>
          <p:nvPr/>
        </p:nvSpPr>
        <p:spPr>
          <a:xfrm>
            <a:off x="457200" y="1463040"/>
            <a:ext cx="3429000" cy="320040"/>
          </a:xfrm>
          <a:prstGeom prst="roundRect">
            <a:avLst>
              <a:gd fmla="val 16667" name="adj"/>
            </a:avLst>
          </a:prstGeom>
          <a:solidFill>
            <a:srgbClr val="FDEDE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3" name="Google Shape;683;p36"/>
          <p:cNvSpPr txBox="1"/>
          <p:nvPr/>
        </p:nvSpPr>
        <p:spPr>
          <a:xfrm>
            <a:off x="502920" y="1481328"/>
            <a:ext cx="33375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C0392B"/>
                </a:solidFill>
                <a:latin typeface="Calibri"/>
                <a:ea typeface="Calibri"/>
                <a:cs typeface="Calibri"/>
                <a:sym typeface="Calibri"/>
              </a:rPr>
              <a:t>✗  Limited Scope</a:t>
            </a:r>
            <a:endParaRPr sz="1600"/>
          </a:p>
        </p:txBody>
      </p:sp>
      <p:sp>
        <p:nvSpPr>
          <p:cNvPr id="684" name="Google Shape;684;p36"/>
          <p:cNvSpPr/>
          <p:nvPr/>
        </p:nvSpPr>
        <p:spPr>
          <a:xfrm>
            <a:off x="457200" y="1874520"/>
            <a:ext cx="3429000" cy="365760"/>
          </a:xfrm>
          <a:prstGeom prst="roundRect">
            <a:avLst>
              <a:gd fmla="val 16667" name="adj"/>
            </a:avLst>
          </a:prstGeom>
          <a:solidFill>
            <a:srgbClr val="ECFDF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5" name="Google Shape;685;p36"/>
          <p:cNvSpPr txBox="1"/>
          <p:nvPr/>
        </p:nvSpPr>
        <p:spPr>
          <a:xfrm>
            <a:off x="502920" y="1892807"/>
            <a:ext cx="33375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0F766E"/>
                </a:solidFill>
                <a:latin typeface="Calibri"/>
                <a:ea typeface="Calibri"/>
                <a:cs typeface="Calibri"/>
                <a:sym typeface="Calibri"/>
              </a:rPr>
              <a:t>✓  End-to-end Document Intelligence</a:t>
            </a:r>
            <a:endParaRPr sz="1600"/>
          </a:p>
        </p:txBody>
      </p:sp>
      <p:sp>
        <p:nvSpPr>
          <p:cNvPr id="686" name="Google Shape;686;p36"/>
          <p:cNvSpPr txBox="1"/>
          <p:nvPr/>
        </p:nvSpPr>
        <p:spPr>
          <a:xfrm>
            <a:off x="502920" y="2377440"/>
            <a:ext cx="3337500" cy="1323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Expands beyond basic submission/review to support processing, audit, search, and knowledge assistance in one unified workflow.</a:t>
            </a:r>
            <a:endParaRPr sz="1600"/>
          </a:p>
        </p:txBody>
      </p:sp>
      <p:sp>
        <p:nvSpPr>
          <p:cNvPr id="687" name="Google Shape;687;p36"/>
          <p:cNvSpPr/>
          <p:nvPr/>
        </p:nvSpPr>
        <p:spPr>
          <a:xfrm>
            <a:off x="4160520" y="1371600"/>
            <a:ext cx="3611880" cy="233172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DDDD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8" name="Google Shape;688;p36"/>
          <p:cNvSpPr/>
          <p:nvPr/>
        </p:nvSpPr>
        <p:spPr>
          <a:xfrm>
            <a:off x="4251960" y="1463040"/>
            <a:ext cx="3429000" cy="320040"/>
          </a:xfrm>
          <a:prstGeom prst="roundRect">
            <a:avLst>
              <a:gd fmla="val 16667" name="adj"/>
            </a:avLst>
          </a:prstGeom>
          <a:solidFill>
            <a:srgbClr val="FDEDE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9" name="Google Shape;689;p36"/>
          <p:cNvSpPr txBox="1"/>
          <p:nvPr/>
        </p:nvSpPr>
        <p:spPr>
          <a:xfrm>
            <a:off x="4297680" y="1481328"/>
            <a:ext cx="33375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C0392B"/>
                </a:solidFill>
                <a:latin typeface="Calibri"/>
                <a:ea typeface="Calibri"/>
                <a:cs typeface="Calibri"/>
                <a:sym typeface="Calibri"/>
              </a:rPr>
              <a:t>✗  No Multi-Source</a:t>
            </a:r>
            <a:endParaRPr sz="1600"/>
          </a:p>
        </p:txBody>
      </p:sp>
      <p:sp>
        <p:nvSpPr>
          <p:cNvPr id="690" name="Google Shape;690;p36"/>
          <p:cNvSpPr/>
          <p:nvPr/>
        </p:nvSpPr>
        <p:spPr>
          <a:xfrm>
            <a:off x="4251960" y="1874520"/>
            <a:ext cx="3429000" cy="365760"/>
          </a:xfrm>
          <a:prstGeom prst="roundRect">
            <a:avLst>
              <a:gd fmla="val 16667" name="adj"/>
            </a:avLst>
          </a:prstGeom>
          <a:solidFill>
            <a:srgbClr val="ECFDF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1" name="Google Shape;691;p36"/>
          <p:cNvSpPr txBox="1"/>
          <p:nvPr/>
        </p:nvSpPr>
        <p:spPr>
          <a:xfrm>
            <a:off x="4297680" y="1892807"/>
            <a:ext cx="33375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0F766E"/>
                </a:solidFill>
                <a:latin typeface="Calibri"/>
                <a:ea typeface="Calibri"/>
                <a:cs typeface="Calibri"/>
                <a:sym typeface="Calibri"/>
              </a:rPr>
              <a:t>✓  Unified Enterprise Access</a:t>
            </a:r>
            <a:endParaRPr sz="1600"/>
          </a:p>
        </p:txBody>
      </p:sp>
      <p:sp>
        <p:nvSpPr>
          <p:cNvPr id="692" name="Google Shape;692;p36"/>
          <p:cNvSpPr txBox="1"/>
          <p:nvPr/>
        </p:nvSpPr>
        <p:spPr>
          <a:xfrm>
            <a:off x="4297680" y="2377440"/>
            <a:ext cx="3337500" cy="1077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Combines documents from SharePoint, Confluence, file servers, and databases into a single searchable knowledge layer.</a:t>
            </a:r>
            <a:endParaRPr sz="1600"/>
          </a:p>
        </p:txBody>
      </p:sp>
      <p:sp>
        <p:nvSpPr>
          <p:cNvPr id="693" name="Google Shape;693;p36"/>
          <p:cNvSpPr/>
          <p:nvPr/>
        </p:nvSpPr>
        <p:spPr>
          <a:xfrm>
            <a:off x="7955280" y="1371600"/>
            <a:ext cx="3611880" cy="233172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DDDD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4" name="Google Shape;694;p36"/>
          <p:cNvSpPr/>
          <p:nvPr/>
        </p:nvSpPr>
        <p:spPr>
          <a:xfrm>
            <a:off x="8046720" y="1463040"/>
            <a:ext cx="3429000" cy="320040"/>
          </a:xfrm>
          <a:prstGeom prst="roundRect">
            <a:avLst>
              <a:gd fmla="val 16667" name="adj"/>
            </a:avLst>
          </a:prstGeom>
          <a:solidFill>
            <a:srgbClr val="FDEDE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5" name="Google Shape;695;p36"/>
          <p:cNvSpPr txBox="1"/>
          <p:nvPr/>
        </p:nvSpPr>
        <p:spPr>
          <a:xfrm>
            <a:off x="8092440" y="1481328"/>
            <a:ext cx="33375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C0392B"/>
                </a:solidFill>
                <a:latin typeface="Calibri"/>
                <a:ea typeface="Calibri"/>
                <a:cs typeface="Calibri"/>
                <a:sym typeface="Calibri"/>
              </a:rPr>
              <a:t>✗  Weak Automation</a:t>
            </a:r>
            <a:endParaRPr sz="1600"/>
          </a:p>
        </p:txBody>
      </p:sp>
      <p:sp>
        <p:nvSpPr>
          <p:cNvPr id="696" name="Google Shape;696;p36"/>
          <p:cNvSpPr/>
          <p:nvPr/>
        </p:nvSpPr>
        <p:spPr>
          <a:xfrm>
            <a:off x="8046720" y="1874520"/>
            <a:ext cx="3429000" cy="365760"/>
          </a:xfrm>
          <a:prstGeom prst="roundRect">
            <a:avLst>
              <a:gd fmla="val 16667" name="adj"/>
            </a:avLst>
          </a:prstGeom>
          <a:solidFill>
            <a:srgbClr val="ECFDF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7" name="Google Shape;697;p36"/>
          <p:cNvSpPr txBox="1"/>
          <p:nvPr/>
        </p:nvSpPr>
        <p:spPr>
          <a:xfrm>
            <a:off x="8092440" y="1892807"/>
            <a:ext cx="33375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0F766E"/>
                </a:solidFill>
                <a:latin typeface="Calibri"/>
                <a:ea typeface="Calibri"/>
                <a:cs typeface="Calibri"/>
                <a:sym typeface="Calibri"/>
              </a:rPr>
              <a:t>✓  Automated Quality Assurance</a:t>
            </a:r>
            <a:endParaRPr sz="1600"/>
          </a:p>
        </p:txBody>
      </p:sp>
      <p:sp>
        <p:nvSpPr>
          <p:cNvPr id="698" name="Google Shape;698;p36"/>
          <p:cNvSpPr txBox="1"/>
          <p:nvPr/>
        </p:nvSpPr>
        <p:spPr>
          <a:xfrm>
            <a:off x="8092440" y="2377440"/>
            <a:ext cx="3337500" cy="1077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Checks completeness, identifies gaps, and guides resubmission — reducing manual rework by catching issues earlier.</a:t>
            </a:r>
            <a:endParaRPr sz="1600"/>
          </a:p>
        </p:txBody>
      </p:sp>
      <p:sp>
        <p:nvSpPr>
          <p:cNvPr id="699" name="Google Shape;699;p36"/>
          <p:cNvSpPr/>
          <p:nvPr/>
        </p:nvSpPr>
        <p:spPr>
          <a:xfrm>
            <a:off x="365760" y="3931920"/>
            <a:ext cx="3611880" cy="233172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DDDD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0" name="Google Shape;700;p36"/>
          <p:cNvSpPr/>
          <p:nvPr/>
        </p:nvSpPr>
        <p:spPr>
          <a:xfrm>
            <a:off x="457200" y="4023360"/>
            <a:ext cx="3429000" cy="320040"/>
          </a:xfrm>
          <a:prstGeom prst="roundRect">
            <a:avLst>
              <a:gd fmla="val 16667" name="adj"/>
            </a:avLst>
          </a:prstGeom>
          <a:solidFill>
            <a:srgbClr val="FDEDE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1" name="Google Shape;701;p36"/>
          <p:cNvSpPr txBox="1"/>
          <p:nvPr/>
        </p:nvSpPr>
        <p:spPr>
          <a:xfrm>
            <a:off x="502920" y="4041648"/>
            <a:ext cx="33375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C0392B"/>
                </a:solidFill>
                <a:latin typeface="Calibri"/>
                <a:ea typeface="Calibri"/>
                <a:cs typeface="Calibri"/>
                <a:sym typeface="Calibri"/>
              </a:rPr>
              <a:t>✗  Heavy Manual Review</a:t>
            </a:r>
            <a:endParaRPr sz="1600"/>
          </a:p>
        </p:txBody>
      </p:sp>
      <p:sp>
        <p:nvSpPr>
          <p:cNvPr id="702" name="Google Shape;702;p36"/>
          <p:cNvSpPr/>
          <p:nvPr/>
        </p:nvSpPr>
        <p:spPr>
          <a:xfrm>
            <a:off x="457200" y="4434840"/>
            <a:ext cx="3429000" cy="365760"/>
          </a:xfrm>
          <a:prstGeom prst="roundRect">
            <a:avLst>
              <a:gd fmla="val 16667" name="adj"/>
            </a:avLst>
          </a:prstGeom>
          <a:solidFill>
            <a:srgbClr val="ECFDF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3" name="Google Shape;703;p36"/>
          <p:cNvSpPr txBox="1"/>
          <p:nvPr/>
        </p:nvSpPr>
        <p:spPr>
          <a:xfrm>
            <a:off x="502920" y="4453127"/>
            <a:ext cx="33375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0F766E"/>
                </a:solidFill>
                <a:latin typeface="Calibri"/>
                <a:ea typeface="Calibri"/>
                <a:cs typeface="Calibri"/>
                <a:sym typeface="Calibri"/>
              </a:rPr>
              <a:t>✓  Lower Reviewer Effort</a:t>
            </a:r>
            <a:endParaRPr sz="1600"/>
          </a:p>
        </p:txBody>
      </p:sp>
      <p:sp>
        <p:nvSpPr>
          <p:cNvPr id="704" name="Google Shape;704;p36"/>
          <p:cNvSpPr txBox="1"/>
          <p:nvPr/>
        </p:nvSpPr>
        <p:spPr>
          <a:xfrm>
            <a:off x="502920" y="4937760"/>
            <a:ext cx="3337500" cy="1077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AI summarizes results, surfaces risks, and lets reviewers focus on exceptions rather than repetitive document reading.</a:t>
            </a:r>
            <a:endParaRPr sz="1600"/>
          </a:p>
        </p:txBody>
      </p:sp>
      <p:sp>
        <p:nvSpPr>
          <p:cNvPr id="705" name="Google Shape;705;p36"/>
          <p:cNvSpPr/>
          <p:nvPr/>
        </p:nvSpPr>
        <p:spPr>
          <a:xfrm>
            <a:off x="4160520" y="3931920"/>
            <a:ext cx="3611880" cy="233172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DDDD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6" name="Google Shape;706;p36"/>
          <p:cNvSpPr/>
          <p:nvPr/>
        </p:nvSpPr>
        <p:spPr>
          <a:xfrm>
            <a:off x="4251960" y="4023360"/>
            <a:ext cx="3429000" cy="320040"/>
          </a:xfrm>
          <a:prstGeom prst="roundRect">
            <a:avLst>
              <a:gd fmla="val 16667" name="adj"/>
            </a:avLst>
          </a:prstGeom>
          <a:solidFill>
            <a:srgbClr val="FDEDE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7" name="Google Shape;707;p36"/>
          <p:cNvSpPr txBox="1"/>
          <p:nvPr/>
        </p:nvSpPr>
        <p:spPr>
          <a:xfrm>
            <a:off x="4297680" y="4041648"/>
            <a:ext cx="33375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C0392B"/>
                </a:solidFill>
                <a:latin typeface="Calibri"/>
                <a:ea typeface="Calibri"/>
                <a:cs typeface="Calibri"/>
                <a:sym typeface="Calibri"/>
              </a:rPr>
              <a:t>✗  Missing Feedback Loop</a:t>
            </a:r>
            <a:endParaRPr sz="1600"/>
          </a:p>
        </p:txBody>
      </p:sp>
      <p:sp>
        <p:nvSpPr>
          <p:cNvPr id="708" name="Google Shape;708;p36"/>
          <p:cNvSpPr/>
          <p:nvPr/>
        </p:nvSpPr>
        <p:spPr>
          <a:xfrm>
            <a:off x="4251960" y="4434840"/>
            <a:ext cx="3429000" cy="365760"/>
          </a:xfrm>
          <a:prstGeom prst="roundRect">
            <a:avLst>
              <a:gd fmla="val 16667" name="adj"/>
            </a:avLst>
          </a:prstGeom>
          <a:solidFill>
            <a:srgbClr val="ECFDF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9" name="Google Shape;709;p36"/>
          <p:cNvSpPr txBox="1"/>
          <p:nvPr/>
        </p:nvSpPr>
        <p:spPr>
          <a:xfrm>
            <a:off x="4297680" y="4453127"/>
            <a:ext cx="33375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0F766E"/>
                </a:solidFill>
                <a:latin typeface="Calibri"/>
                <a:ea typeface="Calibri"/>
                <a:cs typeface="Calibri"/>
                <a:sym typeface="Calibri"/>
              </a:rPr>
              <a:t>✓  Continuous AI Improvement</a:t>
            </a:r>
            <a:endParaRPr sz="1600"/>
          </a:p>
        </p:txBody>
      </p:sp>
      <p:sp>
        <p:nvSpPr>
          <p:cNvPr id="710" name="Google Shape;710;p36"/>
          <p:cNvSpPr txBox="1"/>
          <p:nvPr/>
        </p:nvSpPr>
        <p:spPr>
          <a:xfrm>
            <a:off x="4297680" y="4937760"/>
            <a:ext cx="3337500" cy="8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Learns from user interactions and corrections to refine future search results and audit recommendations.</a:t>
            </a:r>
            <a:endParaRPr sz="1600"/>
          </a:p>
        </p:txBody>
      </p:sp>
      <p:sp>
        <p:nvSpPr>
          <p:cNvPr id="711" name="Google Shape;711;p36"/>
          <p:cNvSpPr/>
          <p:nvPr/>
        </p:nvSpPr>
        <p:spPr>
          <a:xfrm>
            <a:off x="7955280" y="3931920"/>
            <a:ext cx="3611880" cy="233172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DDDD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2" name="Google Shape;712;p36"/>
          <p:cNvSpPr/>
          <p:nvPr/>
        </p:nvSpPr>
        <p:spPr>
          <a:xfrm>
            <a:off x="8046720" y="4023360"/>
            <a:ext cx="3429000" cy="320040"/>
          </a:xfrm>
          <a:prstGeom prst="roundRect">
            <a:avLst>
              <a:gd fmla="val 16667" name="adj"/>
            </a:avLst>
          </a:prstGeom>
          <a:solidFill>
            <a:srgbClr val="FDEDE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3" name="Google Shape;713;p36"/>
          <p:cNvSpPr txBox="1"/>
          <p:nvPr/>
        </p:nvSpPr>
        <p:spPr>
          <a:xfrm>
            <a:off x="8092440" y="4041648"/>
            <a:ext cx="33375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C0392B"/>
                </a:solidFill>
                <a:latin typeface="Calibri"/>
                <a:ea typeface="Calibri"/>
                <a:cs typeface="Calibri"/>
                <a:sym typeface="Calibri"/>
              </a:rPr>
              <a:t>✗  No Expert Matching</a:t>
            </a:r>
            <a:endParaRPr sz="1600"/>
          </a:p>
        </p:txBody>
      </p:sp>
      <p:sp>
        <p:nvSpPr>
          <p:cNvPr id="714" name="Google Shape;714;p36"/>
          <p:cNvSpPr/>
          <p:nvPr/>
        </p:nvSpPr>
        <p:spPr>
          <a:xfrm>
            <a:off x="8046720" y="4434840"/>
            <a:ext cx="3429000" cy="365760"/>
          </a:xfrm>
          <a:prstGeom prst="roundRect">
            <a:avLst>
              <a:gd fmla="val 16667" name="adj"/>
            </a:avLst>
          </a:prstGeom>
          <a:solidFill>
            <a:srgbClr val="ECFDF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5" name="Google Shape;715;p36"/>
          <p:cNvSpPr txBox="1"/>
          <p:nvPr/>
        </p:nvSpPr>
        <p:spPr>
          <a:xfrm>
            <a:off x="8092440" y="4453127"/>
            <a:ext cx="33375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0F766E"/>
                </a:solidFill>
                <a:latin typeface="Calibri"/>
                <a:ea typeface="Calibri"/>
                <a:cs typeface="Calibri"/>
                <a:sym typeface="Calibri"/>
              </a:rPr>
              <a:t>✓  Faster SME Matching</a:t>
            </a:r>
            <a:endParaRPr sz="1600"/>
          </a:p>
        </p:txBody>
      </p:sp>
      <p:sp>
        <p:nvSpPr>
          <p:cNvPr id="716" name="Google Shape;716;p36"/>
          <p:cNvSpPr txBox="1"/>
          <p:nvPr/>
        </p:nvSpPr>
        <p:spPr>
          <a:xfrm>
            <a:off x="8092440" y="4937760"/>
            <a:ext cx="3337500" cy="8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Extracts domain keywords from documents and matches against HR profiles — reducing decision delays.</a:t>
            </a:r>
            <a:endParaRPr sz="160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0" name="Shape 7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1" name="Google Shape;721;p37"/>
          <p:cNvSpPr/>
          <p:nvPr/>
        </p:nvSpPr>
        <p:spPr>
          <a:xfrm>
            <a:off x="0" y="0"/>
            <a:ext cx="12191695" cy="1051560"/>
          </a:xfrm>
          <a:prstGeom prst="roundRect">
            <a:avLst>
              <a:gd fmla="val 16667" name="adj"/>
            </a:avLst>
          </a:prstGeom>
          <a:solidFill>
            <a:srgbClr val="0E3A6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2" name="Google Shape;722;p37"/>
          <p:cNvSpPr txBox="1"/>
          <p:nvPr/>
        </p:nvSpPr>
        <p:spPr>
          <a:xfrm>
            <a:off x="548640" y="137160"/>
            <a:ext cx="91440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Estimation — Development Effort</a:t>
            </a:r>
            <a:endParaRPr/>
          </a:p>
        </p:txBody>
      </p:sp>
      <p:sp>
        <p:nvSpPr>
          <p:cNvPr id="723" name="Google Shape;723;p37"/>
          <p:cNvSpPr txBox="1"/>
          <p:nvPr/>
        </p:nvSpPr>
        <p:spPr>
          <a:xfrm>
            <a:off x="548640" y="640080"/>
            <a:ext cx="10972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BBCCDD"/>
                </a:solidFill>
                <a:latin typeface="Calibri"/>
                <a:ea typeface="Calibri"/>
                <a:cs typeface="Calibri"/>
                <a:sym typeface="Calibri"/>
              </a:rPr>
              <a:t>Team: 5 members (1 PM, 2 Backend, 1 Frontend, 1 QA) · Timeline: 3 months</a:t>
            </a:r>
            <a:endParaRPr sz="1800"/>
          </a:p>
        </p:txBody>
      </p:sp>
      <p:sp>
        <p:nvSpPr>
          <p:cNvPr id="724" name="Google Shape;724;p37"/>
          <p:cNvSpPr/>
          <p:nvPr/>
        </p:nvSpPr>
        <p:spPr>
          <a:xfrm>
            <a:off x="0" y="1051560"/>
            <a:ext cx="12191695" cy="50800"/>
          </a:xfrm>
          <a:prstGeom prst="roundRect">
            <a:avLst>
              <a:gd fmla="val 16667" name="adj"/>
            </a:avLst>
          </a:prstGeom>
          <a:solidFill>
            <a:srgbClr val="E0A3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5" name="Google Shape;725;p37"/>
          <p:cNvSpPr/>
          <p:nvPr/>
        </p:nvSpPr>
        <p:spPr>
          <a:xfrm>
            <a:off x="365760" y="1371600"/>
            <a:ext cx="5486400" cy="365760"/>
          </a:xfrm>
          <a:prstGeom prst="roundRect">
            <a:avLst>
              <a:gd fmla="val 16667" name="adj"/>
            </a:avLst>
          </a:prstGeom>
          <a:solidFill>
            <a:srgbClr val="0E3A6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6" name="Google Shape;726;p37"/>
          <p:cNvSpPr txBox="1"/>
          <p:nvPr/>
        </p:nvSpPr>
        <p:spPr>
          <a:xfrm>
            <a:off x="457200" y="1371600"/>
            <a:ext cx="4114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Task</a:t>
            </a:r>
            <a:endParaRPr sz="1800"/>
          </a:p>
        </p:txBody>
      </p:sp>
      <p:sp>
        <p:nvSpPr>
          <p:cNvPr id="727" name="Google Shape;727;p37"/>
          <p:cNvSpPr txBox="1"/>
          <p:nvPr/>
        </p:nvSpPr>
        <p:spPr>
          <a:xfrm>
            <a:off x="4480560" y="1371600"/>
            <a:ext cx="13716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Man-Days</a:t>
            </a:r>
            <a:endParaRPr sz="1800"/>
          </a:p>
        </p:txBody>
      </p:sp>
      <p:sp>
        <p:nvSpPr>
          <p:cNvPr id="728" name="Google Shape;728;p37"/>
          <p:cNvSpPr/>
          <p:nvPr/>
        </p:nvSpPr>
        <p:spPr>
          <a:xfrm>
            <a:off x="365760" y="1737360"/>
            <a:ext cx="5486400" cy="365760"/>
          </a:xfrm>
          <a:prstGeom prst="roundRect">
            <a:avLst>
              <a:gd fmla="val 16667" name="adj"/>
            </a:avLst>
          </a:prstGeom>
          <a:solidFill>
            <a:srgbClr val="E8F0FA"/>
          </a:solidFill>
          <a:ln cap="flat" cmpd="sng" w="12700">
            <a:solidFill>
              <a:srgbClr val="DDDD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9" name="Google Shape;729;p37"/>
          <p:cNvSpPr txBox="1"/>
          <p:nvPr/>
        </p:nvSpPr>
        <p:spPr>
          <a:xfrm>
            <a:off x="457200" y="1737360"/>
            <a:ext cx="4114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Project Setup &amp; Infra</a:t>
            </a:r>
            <a:endParaRPr sz="1800"/>
          </a:p>
        </p:txBody>
      </p:sp>
      <p:sp>
        <p:nvSpPr>
          <p:cNvPr id="730" name="Google Shape;730;p37"/>
          <p:cNvSpPr txBox="1"/>
          <p:nvPr/>
        </p:nvSpPr>
        <p:spPr>
          <a:xfrm>
            <a:off x="4480560" y="1737360"/>
            <a:ext cx="13716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0E3A66"/>
                </a:solidFill>
                <a:latin typeface="Calibri"/>
                <a:ea typeface="Calibri"/>
                <a:cs typeface="Calibri"/>
                <a:sym typeface="Calibri"/>
              </a:rPr>
              <a:t>16</a:t>
            </a:r>
            <a:endParaRPr sz="1800"/>
          </a:p>
        </p:txBody>
      </p:sp>
      <p:sp>
        <p:nvSpPr>
          <p:cNvPr id="731" name="Google Shape;731;p37"/>
          <p:cNvSpPr/>
          <p:nvPr/>
        </p:nvSpPr>
        <p:spPr>
          <a:xfrm>
            <a:off x="365760" y="2103120"/>
            <a:ext cx="5486400" cy="36576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DDDD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2" name="Google Shape;732;p37"/>
          <p:cNvSpPr txBox="1"/>
          <p:nvPr/>
        </p:nvSpPr>
        <p:spPr>
          <a:xfrm>
            <a:off x="457200" y="2103120"/>
            <a:ext cx="4114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Auth &amp; Authorization</a:t>
            </a:r>
            <a:endParaRPr sz="1800"/>
          </a:p>
        </p:txBody>
      </p:sp>
      <p:sp>
        <p:nvSpPr>
          <p:cNvPr id="733" name="Google Shape;733;p37"/>
          <p:cNvSpPr txBox="1"/>
          <p:nvPr/>
        </p:nvSpPr>
        <p:spPr>
          <a:xfrm>
            <a:off x="4480560" y="2103120"/>
            <a:ext cx="13716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0E3A66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 sz="1800"/>
          </a:p>
        </p:txBody>
      </p:sp>
      <p:sp>
        <p:nvSpPr>
          <p:cNvPr id="734" name="Google Shape;734;p37"/>
          <p:cNvSpPr/>
          <p:nvPr/>
        </p:nvSpPr>
        <p:spPr>
          <a:xfrm>
            <a:off x="365760" y="2468880"/>
            <a:ext cx="5486400" cy="365760"/>
          </a:xfrm>
          <a:prstGeom prst="roundRect">
            <a:avLst>
              <a:gd fmla="val 16667" name="adj"/>
            </a:avLst>
          </a:prstGeom>
          <a:solidFill>
            <a:srgbClr val="E8F0FA"/>
          </a:solidFill>
          <a:ln cap="flat" cmpd="sng" w="12700">
            <a:solidFill>
              <a:srgbClr val="DDDD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5" name="Google Shape;735;p37"/>
          <p:cNvSpPr txBox="1"/>
          <p:nvPr/>
        </p:nvSpPr>
        <p:spPr>
          <a:xfrm>
            <a:off x="457200" y="2468880"/>
            <a:ext cx="4114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Frontend (React SPA)</a:t>
            </a:r>
            <a:endParaRPr sz="1800"/>
          </a:p>
        </p:txBody>
      </p:sp>
      <p:sp>
        <p:nvSpPr>
          <p:cNvPr id="736" name="Google Shape;736;p37"/>
          <p:cNvSpPr txBox="1"/>
          <p:nvPr/>
        </p:nvSpPr>
        <p:spPr>
          <a:xfrm>
            <a:off x="4480560" y="2468880"/>
            <a:ext cx="13716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0E3A66"/>
                </a:solidFill>
                <a:latin typeface="Calibri"/>
                <a:ea typeface="Calibri"/>
                <a:cs typeface="Calibri"/>
                <a:sym typeface="Calibri"/>
              </a:rPr>
              <a:t>56</a:t>
            </a:r>
            <a:endParaRPr sz="1800"/>
          </a:p>
        </p:txBody>
      </p:sp>
      <p:sp>
        <p:nvSpPr>
          <p:cNvPr id="737" name="Google Shape;737;p37"/>
          <p:cNvSpPr/>
          <p:nvPr/>
        </p:nvSpPr>
        <p:spPr>
          <a:xfrm>
            <a:off x="365760" y="2834640"/>
            <a:ext cx="5486400" cy="36576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DDDD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8" name="Google Shape;738;p37"/>
          <p:cNvSpPr txBox="1"/>
          <p:nvPr/>
        </p:nvSpPr>
        <p:spPr>
          <a:xfrm>
            <a:off x="457200" y="2834640"/>
            <a:ext cx="4114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Backend API (FastAPI)</a:t>
            </a:r>
            <a:endParaRPr sz="1800"/>
          </a:p>
        </p:txBody>
      </p:sp>
      <p:sp>
        <p:nvSpPr>
          <p:cNvPr id="739" name="Google Shape;739;p37"/>
          <p:cNvSpPr txBox="1"/>
          <p:nvPr/>
        </p:nvSpPr>
        <p:spPr>
          <a:xfrm>
            <a:off x="4480560" y="2834640"/>
            <a:ext cx="13716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0E3A66"/>
                </a:solidFill>
                <a:latin typeface="Calibri"/>
                <a:ea typeface="Calibri"/>
                <a:cs typeface="Calibri"/>
                <a:sym typeface="Calibri"/>
              </a:rPr>
              <a:t>46</a:t>
            </a:r>
            <a:endParaRPr sz="1800"/>
          </a:p>
        </p:txBody>
      </p:sp>
      <p:sp>
        <p:nvSpPr>
          <p:cNvPr id="740" name="Google Shape;740;p37"/>
          <p:cNvSpPr/>
          <p:nvPr/>
        </p:nvSpPr>
        <p:spPr>
          <a:xfrm>
            <a:off x="365760" y="3200400"/>
            <a:ext cx="5486400" cy="365760"/>
          </a:xfrm>
          <a:prstGeom prst="roundRect">
            <a:avLst>
              <a:gd fmla="val 16667" name="adj"/>
            </a:avLst>
          </a:prstGeom>
          <a:solidFill>
            <a:srgbClr val="E8F0FA"/>
          </a:solidFill>
          <a:ln cap="flat" cmpd="sng" w="12700">
            <a:solidFill>
              <a:srgbClr val="DDDD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1" name="Google Shape;741;p37"/>
          <p:cNvSpPr txBox="1"/>
          <p:nvPr/>
        </p:nvSpPr>
        <p:spPr>
          <a:xfrm>
            <a:off x="457200" y="3200400"/>
            <a:ext cx="4114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Doc Processing Pipeline</a:t>
            </a:r>
            <a:endParaRPr sz="1800"/>
          </a:p>
        </p:txBody>
      </p:sp>
      <p:sp>
        <p:nvSpPr>
          <p:cNvPr id="742" name="Google Shape;742;p37"/>
          <p:cNvSpPr txBox="1"/>
          <p:nvPr/>
        </p:nvSpPr>
        <p:spPr>
          <a:xfrm>
            <a:off x="4480560" y="3200400"/>
            <a:ext cx="13716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0E3A66"/>
                </a:solidFill>
                <a:latin typeface="Calibri"/>
                <a:ea typeface="Calibri"/>
                <a:cs typeface="Calibri"/>
                <a:sym typeface="Calibri"/>
              </a:rPr>
              <a:t>34</a:t>
            </a:r>
            <a:endParaRPr sz="1800"/>
          </a:p>
        </p:txBody>
      </p:sp>
      <p:sp>
        <p:nvSpPr>
          <p:cNvPr id="743" name="Google Shape;743;p37"/>
          <p:cNvSpPr/>
          <p:nvPr/>
        </p:nvSpPr>
        <p:spPr>
          <a:xfrm>
            <a:off x="365760" y="3566160"/>
            <a:ext cx="5486400" cy="36576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DDDD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4" name="Google Shape;744;p37"/>
          <p:cNvSpPr txBox="1"/>
          <p:nvPr/>
        </p:nvSpPr>
        <p:spPr>
          <a:xfrm>
            <a:off x="457200" y="3566160"/>
            <a:ext cx="4114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AI Search &amp; Knowledge</a:t>
            </a:r>
            <a:endParaRPr sz="1800"/>
          </a:p>
        </p:txBody>
      </p:sp>
      <p:sp>
        <p:nvSpPr>
          <p:cNvPr id="745" name="Google Shape;745;p37"/>
          <p:cNvSpPr txBox="1"/>
          <p:nvPr/>
        </p:nvSpPr>
        <p:spPr>
          <a:xfrm>
            <a:off x="4480560" y="3566160"/>
            <a:ext cx="13716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0E3A66"/>
                </a:solidFill>
                <a:latin typeface="Calibri"/>
                <a:ea typeface="Calibri"/>
                <a:cs typeface="Calibri"/>
                <a:sym typeface="Calibri"/>
              </a:rPr>
              <a:t>26</a:t>
            </a:r>
            <a:endParaRPr sz="1800"/>
          </a:p>
        </p:txBody>
      </p:sp>
      <p:sp>
        <p:nvSpPr>
          <p:cNvPr id="746" name="Google Shape;746;p37"/>
          <p:cNvSpPr/>
          <p:nvPr/>
        </p:nvSpPr>
        <p:spPr>
          <a:xfrm>
            <a:off x="365760" y="3931920"/>
            <a:ext cx="5486400" cy="365760"/>
          </a:xfrm>
          <a:prstGeom prst="roundRect">
            <a:avLst>
              <a:gd fmla="val 16667" name="adj"/>
            </a:avLst>
          </a:prstGeom>
          <a:solidFill>
            <a:srgbClr val="E8F0FA"/>
          </a:solidFill>
          <a:ln cap="flat" cmpd="sng" w="12700">
            <a:solidFill>
              <a:srgbClr val="DDDD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7" name="Google Shape;747;p37"/>
          <p:cNvSpPr txBox="1"/>
          <p:nvPr/>
        </p:nvSpPr>
        <p:spPr>
          <a:xfrm>
            <a:off x="457200" y="3931920"/>
            <a:ext cx="4114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Expert Identification</a:t>
            </a:r>
            <a:endParaRPr sz="1800"/>
          </a:p>
        </p:txBody>
      </p:sp>
      <p:sp>
        <p:nvSpPr>
          <p:cNvPr id="748" name="Google Shape;748;p37"/>
          <p:cNvSpPr txBox="1"/>
          <p:nvPr/>
        </p:nvSpPr>
        <p:spPr>
          <a:xfrm>
            <a:off x="4480560" y="3931920"/>
            <a:ext cx="13716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0E3A66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endParaRPr sz="1800"/>
          </a:p>
        </p:txBody>
      </p:sp>
      <p:sp>
        <p:nvSpPr>
          <p:cNvPr id="749" name="Google Shape;749;p37"/>
          <p:cNvSpPr/>
          <p:nvPr/>
        </p:nvSpPr>
        <p:spPr>
          <a:xfrm>
            <a:off x="365760" y="4297680"/>
            <a:ext cx="5486400" cy="36576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DDDD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0" name="Google Shape;750;p37"/>
          <p:cNvSpPr txBox="1"/>
          <p:nvPr/>
        </p:nvSpPr>
        <p:spPr>
          <a:xfrm>
            <a:off x="457200" y="4297680"/>
            <a:ext cx="4114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Learning from Interactions</a:t>
            </a:r>
            <a:endParaRPr sz="1800"/>
          </a:p>
        </p:txBody>
      </p:sp>
      <p:sp>
        <p:nvSpPr>
          <p:cNvPr id="751" name="Google Shape;751;p37"/>
          <p:cNvSpPr txBox="1"/>
          <p:nvPr/>
        </p:nvSpPr>
        <p:spPr>
          <a:xfrm>
            <a:off x="4480560" y="4297680"/>
            <a:ext cx="13716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0E3A66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endParaRPr sz="1800"/>
          </a:p>
        </p:txBody>
      </p:sp>
      <p:sp>
        <p:nvSpPr>
          <p:cNvPr id="752" name="Google Shape;752;p37"/>
          <p:cNvSpPr/>
          <p:nvPr/>
        </p:nvSpPr>
        <p:spPr>
          <a:xfrm>
            <a:off x="365760" y="4663440"/>
            <a:ext cx="5486400" cy="365760"/>
          </a:xfrm>
          <a:prstGeom prst="roundRect">
            <a:avLst>
              <a:gd fmla="val 16667" name="adj"/>
            </a:avLst>
          </a:prstGeom>
          <a:solidFill>
            <a:srgbClr val="E8F0FA"/>
          </a:solidFill>
          <a:ln cap="flat" cmpd="sng" w="12700">
            <a:solidFill>
              <a:srgbClr val="DDDD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3" name="Google Shape;753;p37"/>
          <p:cNvSpPr txBox="1"/>
          <p:nvPr/>
        </p:nvSpPr>
        <p:spPr>
          <a:xfrm>
            <a:off x="457200" y="4663440"/>
            <a:ext cx="4114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Non-Functional (NFR)</a:t>
            </a:r>
            <a:endParaRPr sz="1800"/>
          </a:p>
        </p:txBody>
      </p:sp>
      <p:sp>
        <p:nvSpPr>
          <p:cNvPr id="754" name="Google Shape;754;p37"/>
          <p:cNvSpPr txBox="1"/>
          <p:nvPr/>
        </p:nvSpPr>
        <p:spPr>
          <a:xfrm>
            <a:off x="4480560" y="4663440"/>
            <a:ext cx="13716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0E3A66"/>
                </a:solidFill>
                <a:latin typeface="Calibri"/>
                <a:ea typeface="Calibri"/>
                <a:cs typeface="Calibri"/>
                <a:sym typeface="Calibri"/>
              </a:rPr>
              <a:t>26</a:t>
            </a:r>
            <a:endParaRPr sz="1800"/>
          </a:p>
        </p:txBody>
      </p:sp>
      <p:sp>
        <p:nvSpPr>
          <p:cNvPr id="755" name="Google Shape;755;p37"/>
          <p:cNvSpPr/>
          <p:nvPr/>
        </p:nvSpPr>
        <p:spPr>
          <a:xfrm>
            <a:off x="365760" y="5029200"/>
            <a:ext cx="5486400" cy="36576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DDDD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6" name="Google Shape;756;p37"/>
          <p:cNvSpPr txBox="1"/>
          <p:nvPr/>
        </p:nvSpPr>
        <p:spPr>
          <a:xfrm>
            <a:off x="457200" y="5029200"/>
            <a:ext cx="4114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Testing</a:t>
            </a:r>
            <a:endParaRPr sz="1800"/>
          </a:p>
        </p:txBody>
      </p:sp>
      <p:sp>
        <p:nvSpPr>
          <p:cNvPr id="757" name="Google Shape;757;p37"/>
          <p:cNvSpPr txBox="1"/>
          <p:nvPr/>
        </p:nvSpPr>
        <p:spPr>
          <a:xfrm>
            <a:off x="4480560" y="5029200"/>
            <a:ext cx="13716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0E3A66"/>
                </a:solidFill>
                <a:latin typeface="Calibri"/>
                <a:ea typeface="Calibri"/>
                <a:cs typeface="Calibri"/>
                <a:sym typeface="Calibri"/>
              </a:rPr>
              <a:t>14</a:t>
            </a:r>
            <a:endParaRPr sz="1800"/>
          </a:p>
        </p:txBody>
      </p:sp>
      <p:sp>
        <p:nvSpPr>
          <p:cNvPr id="758" name="Google Shape;758;p37"/>
          <p:cNvSpPr/>
          <p:nvPr/>
        </p:nvSpPr>
        <p:spPr>
          <a:xfrm>
            <a:off x="365760" y="5394960"/>
            <a:ext cx="5486400" cy="365760"/>
          </a:xfrm>
          <a:prstGeom prst="roundRect">
            <a:avLst>
              <a:gd fmla="val 16667" name="adj"/>
            </a:avLst>
          </a:prstGeom>
          <a:solidFill>
            <a:srgbClr val="E8F0FA"/>
          </a:solidFill>
          <a:ln cap="flat" cmpd="sng" w="12700">
            <a:solidFill>
              <a:srgbClr val="DDDD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9" name="Google Shape;759;p37"/>
          <p:cNvSpPr txBox="1"/>
          <p:nvPr/>
        </p:nvSpPr>
        <p:spPr>
          <a:xfrm>
            <a:off x="457200" y="5394960"/>
            <a:ext cx="4114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Deploy, Docs &amp; Training</a:t>
            </a:r>
            <a:endParaRPr sz="1800"/>
          </a:p>
        </p:txBody>
      </p:sp>
      <p:sp>
        <p:nvSpPr>
          <p:cNvPr id="760" name="Google Shape;760;p37"/>
          <p:cNvSpPr txBox="1"/>
          <p:nvPr/>
        </p:nvSpPr>
        <p:spPr>
          <a:xfrm>
            <a:off x="4480560" y="5394960"/>
            <a:ext cx="13716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0E3A66"/>
                </a:solidFill>
                <a:latin typeface="Calibri"/>
                <a:ea typeface="Calibri"/>
                <a:cs typeface="Calibri"/>
                <a:sym typeface="Calibri"/>
              </a:rPr>
              <a:t>18</a:t>
            </a:r>
            <a:endParaRPr sz="1800"/>
          </a:p>
        </p:txBody>
      </p:sp>
      <p:sp>
        <p:nvSpPr>
          <p:cNvPr id="761" name="Google Shape;761;p37"/>
          <p:cNvSpPr/>
          <p:nvPr/>
        </p:nvSpPr>
        <p:spPr>
          <a:xfrm>
            <a:off x="365760" y="5760720"/>
            <a:ext cx="5486400" cy="365760"/>
          </a:xfrm>
          <a:prstGeom prst="roundRect">
            <a:avLst>
              <a:gd fmla="val 16667" name="adj"/>
            </a:avLst>
          </a:prstGeom>
          <a:solidFill>
            <a:srgbClr val="0E3A6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2" name="Google Shape;762;p37"/>
          <p:cNvSpPr txBox="1"/>
          <p:nvPr/>
        </p:nvSpPr>
        <p:spPr>
          <a:xfrm>
            <a:off x="457200" y="5760720"/>
            <a:ext cx="4114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Total</a:t>
            </a:r>
            <a:endParaRPr sz="1800"/>
          </a:p>
        </p:txBody>
      </p:sp>
      <p:sp>
        <p:nvSpPr>
          <p:cNvPr id="763" name="Google Shape;763;p37"/>
          <p:cNvSpPr txBox="1"/>
          <p:nvPr/>
        </p:nvSpPr>
        <p:spPr>
          <a:xfrm>
            <a:off x="4480560" y="5760720"/>
            <a:ext cx="13716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E0A300"/>
                </a:solidFill>
                <a:latin typeface="Calibri"/>
                <a:ea typeface="Calibri"/>
                <a:cs typeface="Calibri"/>
                <a:sym typeface="Calibri"/>
              </a:rPr>
              <a:t>276</a:t>
            </a:r>
            <a:endParaRPr sz="1800"/>
          </a:p>
        </p:txBody>
      </p:sp>
      <p:sp>
        <p:nvSpPr>
          <p:cNvPr id="764" name="Google Shape;764;p37"/>
          <p:cNvSpPr/>
          <p:nvPr/>
        </p:nvSpPr>
        <p:spPr>
          <a:xfrm>
            <a:off x="6400800" y="1371600"/>
            <a:ext cx="5303520" cy="73152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25400">
            <a:solidFill>
              <a:srgbClr val="11559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5" name="Google Shape;765;p37"/>
          <p:cNvSpPr txBox="1"/>
          <p:nvPr/>
        </p:nvSpPr>
        <p:spPr>
          <a:xfrm>
            <a:off x="6537960" y="1417320"/>
            <a:ext cx="2743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Risk Buffers</a:t>
            </a:r>
            <a:endParaRPr sz="1800"/>
          </a:p>
        </p:txBody>
      </p:sp>
      <p:sp>
        <p:nvSpPr>
          <p:cNvPr id="766" name="Google Shape;766;p37"/>
          <p:cNvSpPr txBox="1"/>
          <p:nvPr/>
        </p:nvSpPr>
        <p:spPr>
          <a:xfrm>
            <a:off x="6537960" y="1719072"/>
            <a:ext cx="5029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115594"/>
                </a:solidFill>
                <a:latin typeface="Calibri"/>
                <a:ea typeface="Calibri"/>
                <a:cs typeface="Calibri"/>
                <a:sym typeface="Calibri"/>
              </a:rPr>
              <a:t>28</a:t>
            </a:r>
            <a:r>
              <a:rPr b="1" lang="en-US" sz="1800">
                <a:solidFill>
                  <a:srgbClr val="115594"/>
                </a:solidFill>
                <a:latin typeface="Calibri"/>
                <a:ea typeface="Calibri"/>
                <a:cs typeface="Calibri"/>
                <a:sym typeface="Calibri"/>
              </a:rPr>
              <a:t> Man-Days</a:t>
            </a:r>
            <a:endParaRPr sz="1800"/>
          </a:p>
        </p:txBody>
      </p:sp>
      <p:sp>
        <p:nvSpPr>
          <p:cNvPr id="767" name="Google Shape;767;p37"/>
          <p:cNvSpPr/>
          <p:nvPr/>
        </p:nvSpPr>
        <p:spPr>
          <a:xfrm>
            <a:off x="6400800" y="2240280"/>
            <a:ext cx="5303520" cy="73152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25400">
            <a:solidFill>
              <a:srgbClr val="0F766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8" name="Google Shape;768;p37"/>
          <p:cNvSpPr txBox="1"/>
          <p:nvPr/>
        </p:nvSpPr>
        <p:spPr>
          <a:xfrm>
            <a:off x="6537960" y="2286000"/>
            <a:ext cx="2743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Total Man-Days</a:t>
            </a:r>
            <a:endParaRPr sz="1800"/>
          </a:p>
        </p:txBody>
      </p:sp>
      <p:sp>
        <p:nvSpPr>
          <p:cNvPr id="769" name="Google Shape;769;p37"/>
          <p:cNvSpPr txBox="1"/>
          <p:nvPr/>
        </p:nvSpPr>
        <p:spPr>
          <a:xfrm>
            <a:off x="6537960" y="2587752"/>
            <a:ext cx="5029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0F766E"/>
                </a:solidFill>
                <a:latin typeface="Calibri"/>
                <a:ea typeface="Calibri"/>
                <a:cs typeface="Calibri"/>
                <a:sym typeface="Calibri"/>
              </a:rPr>
              <a:t>304</a:t>
            </a:r>
            <a:endParaRPr sz="1800"/>
          </a:p>
        </p:txBody>
      </p:sp>
      <p:sp>
        <p:nvSpPr>
          <p:cNvPr id="770" name="Google Shape;770;p37"/>
          <p:cNvSpPr/>
          <p:nvPr/>
        </p:nvSpPr>
        <p:spPr>
          <a:xfrm>
            <a:off x="6400800" y="3108960"/>
            <a:ext cx="5303520" cy="73152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25400">
            <a:solidFill>
              <a:srgbClr val="E0A3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1" name="Google Shape;771;p37"/>
          <p:cNvSpPr txBox="1"/>
          <p:nvPr/>
        </p:nvSpPr>
        <p:spPr>
          <a:xfrm>
            <a:off x="6537960" y="3154680"/>
            <a:ext cx="2743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Cost Per Man-Days</a:t>
            </a:r>
            <a:endParaRPr sz="1800"/>
          </a:p>
        </p:txBody>
      </p:sp>
      <p:sp>
        <p:nvSpPr>
          <p:cNvPr id="772" name="Google Shape;772;p37"/>
          <p:cNvSpPr txBox="1"/>
          <p:nvPr/>
        </p:nvSpPr>
        <p:spPr>
          <a:xfrm>
            <a:off x="6537960" y="3456432"/>
            <a:ext cx="5029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E0A300"/>
                </a:solidFill>
                <a:latin typeface="Calibri"/>
                <a:ea typeface="Calibri"/>
                <a:cs typeface="Calibri"/>
                <a:sym typeface="Calibri"/>
              </a:rPr>
              <a:t>$2000</a:t>
            </a:r>
            <a:endParaRPr sz="1800"/>
          </a:p>
        </p:txBody>
      </p:sp>
      <p:sp>
        <p:nvSpPr>
          <p:cNvPr id="773" name="Google Shape;773;p37"/>
          <p:cNvSpPr/>
          <p:nvPr/>
        </p:nvSpPr>
        <p:spPr>
          <a:xfrm>
            <a:off x="6400800" y="3977639"/>
            <a:ext cx="5303520" cy="73152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25400">
            <a:solidFill>
              <a:srgbClr val="C0392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4" name="Google Shape;774;p37"/>
          <p:cNvSpPr txBox="1"/>
          <p:nvPr/>
        </p:nvSpPr>
        <p:spPr>
          <a:xfrm>
            <a:off x="6537960" y="4023359"/>
            <a:ext cx="2743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Total</a:t>
            </a:r>
            <a:endParaRPr sz="1800"/>
          </a:p>
        </p:txBody>
      </p:sp>
      <p:sp>
        <p:nvSpPr>
          <p:cNvPr id="775" name="Google Shape;775;p37"/>
          <p:cNvSpPr txBox="1"/>
          <p:nvPr/>
        </p:nvSpPr>
        <p:spPr>
          <a:xfrm>
            <a:off x="6537960" y="4325111"/>
            <a:ext cx="5029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C0392B"/>
                </a:solidFill>
                <a:latin typeface="Calibri"/>
                <a:ea typeface="Calibri"/>
                <a:cs typeface="Calibri"/>
                <a:sym typeface="Calibri"/>
              </a:rPr>
              <a:t>$608,000</a:t>
            </a:r>
            <a:endParaRPr sz="180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9" name="Shape 7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0" name="Google Shape;780;p38"/>
          <p:cNvSpPr/>
          <p:nvPr/>
        </p:nvSpPr>
        <p:spPr>
          <a:xfrm>
            <a:off x="0" y="0"/>
            <a:ext cx="12191695" cy="1051560"/>
          </a:xfrm>
          <a:prstGeom prst="roundRect">
            <a:avLst>
              <a:gd fmla="val 16667" name="adj"/>
            </a:avLst>
          </a:prstGeom>
          <a:solidFill>
            <a:srgbClr val="0E3A6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1" name="Google Shape;781;p38"/>
          <p:cNvSpPr txBox="1"/>
          <p:nvPr/>
        </p:nvSpPr>
        <p:spPr>
          <a:xfrm>
            <a:off x="548640" y="137160"/>
            <a:ext cx="91440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Estimation — Infrastructure Cost</a:t>
            </a:r>
            <a:endParaRPr/>
          </a:p>
        </p:txBody>
      </p:sp>
      <p:sp>
        <p:nvSpPr>
          <p:cNvPr id="782" name="Google Shape;782;p38"/>
          <p:cNvSpPr txBox="1"/>
          <p:nvPr/>
        </p:nvSpPr>
        <p:spPr>
          <a:xfrm>
            <a:off x="548640" y="640080"/>
            <a:ext cx="10972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BBCCDD"/>
                </a:solidFill>
                <a:latin typeface="Calibri"/>
                <a:ea typeface="Calibri"/>
                <a:cs typeface="Calibri"/>
                <a:sym typeface="Calibri"/>
              </a:rPr>
              <a:t>Platform: Azure Cloud</a:t>
            </a:r>
            <a:r>
              <a:rPr b="0" i="0" lang="en-US" sz="1800" u="none" cap="none" strike="noStrike">
                <a:solidFill>
                  <a:srgbClr val="BBCCDD"/>
                </a:solidFill>
                <a:latin typeface="Calibri"/>
                <a:ea typeface="Calibri"/>
                <a:cs typeface="Calibri"/>
                <a:sym typeface="Calibri"/>
              </a:rPr>
              <a:t> · Production cap: $5,000/month</a:t>
            </a:r>
            <a:endParaRPr sz="1800"/>
          </a:p>
        </p:txBody>
      </p:sp>
      <p:sp>
        <p:nvSpPr>
          <p:cNvPr id="783" name="Google Shape;783;p38"/>
          <p:cNvSpPr/>
          <p:nvPr/>
        </p:nvSpPr>
        <p:spPr>
          <a:xfrm>
            <a:off x="0" y="1051560"/>
            <a:ext cx="12191695" cy="50800"/>
          </a:xfrm>
          <a:prstGeom prst="roundRect">
            <a:avLst>
              <a:gd fmla="val 16667" name="adj"/>
            </a:avLst>
          </a:prstGeom>
          <a:solidFill>
            <a:srgbClr val="E0A3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4" name="Google Shape;784;p38"/>
          <p:cNvSpPr txBox="1"/>
          <p:nvPr/>
        </p:nvSpPr>
        <p:spPr>
          <a:xfrm>
            <a:off x="365760" y="1234440"/>
            <a:ext cx="54864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0E3A66"/>
                </a:solidFill>
                <a:latin typeface="Calibri"/>
                <a:ea typeface="Calibri"/>
                <a:cs typeface="Calibri"/>
                <a:sym typeface="Calibri"/>
              </a:rPr>
              <a:t>Development Phase (3 months)</a:t>
            </a:r>
            <a:endParaRPr sz="1800"/>
          </a:p>
        </p:txBody>
      </p:sp>
      <p:sp>
        <p:nvSpPr>
          <p:cNvPr id="785" name="Google Shape;785;p38"/>
          <p:cNvSpPr/>
          <p:nvPr/>
        </p:nvSpPr>
        <p:spPr>
          <a:xfrm>
            <a:off x="365760" y="1554480"/>
            <a:ext cx="5486400" cy="320040"/>
          </a:xfrm>
          <a:prstGeom prst="roundRect">
            <a:avLst>
              <a:gd fmla="val 16667" name="adj"/>
            </a:avLst>
          </a:prstGeom>
          <a:solidFill>
            <a:srgbClr val="0E3A6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6" name="Google Shape;786;p38"/>
          <p:cNvSpPr txBox="1"/>
          <p:nvPr/>
        </p:nvSpPr>
        <p:spPr>
          <a:xfrm>
            <a:off x="457200" y="1554480"/>
            <a:ext cx="2743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Component</a:t>
            </a:r>
            <a:endParaRPr sz="1800"/>
          </a:p>
        </p:txBody>
      </p:sp>
      <p:sp>
        <p:nvSpPr>
          <p:cNvPr id="787" name="Google Shape;787;p38"/>
          <p:cNvSpPr txBox="1"/>
          <p:nvPr/>
        </p:nvSpPr>
        <p:spPr>
          <a:xfrm>
            <a:off x="3200400" y="1554480"/>
            <a:ext cx="11886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Monthly (USD)</a:t>
            </a:r>
            <a:endParaRPr sz="1800"/>
          </a:p>
        </p:txBody>
      </p:sp>
      <p:sp>
        <p:nvSpPr>
          <p:cNvPr id="788" name="Google Shape;788;p38"/>
          <p:cNvSpPr txBox="1"/>
          <p:nvPr/>
        </p:nvSpPr>
        <p:spPr>
          <a:xfrm>
            <a:off x="4572000" y="1554480"/>
            <a:ext cx="11886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3-Month (USD)</a:t>
            </a:r>
            <a:endParaRPr sz="1800"/>
          </a:p>
        </p:txBody>
      </p:sp>
      <p:sp>
        <p:nvSpPr>
          <p:cNvPr id="789" name="Google Shape;789;p38"/>
          <p:cNvSpPr/>
          <p:nvPr/>
        </p:nvSpPr>
        <p:spPr>
          <a:xfrm>
            <a:off x="365760" y="1874520"/>
            <a:ext cx="5486400" cy="292608"/>
          </a:xfrm>
          <a:prstGeom prst="roundRect">
            <a:avLst>
              <a:gd fmla="val 16667" name="adj"/>
            </a:avLst>
          </a:prstGeom>
          <a:solidFill>
            <a:srgbClr val="E8F0F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0" name="Google Shape;790;p38"/>
          <p:cNvSpPr txBox="1"/>
          <p:nvPr/>
        </p:nvSpPr>
        <p:spPr>
          <a:xfrm>
            <a:off x="457200" y="1874520"/>
            <a:ext cx="2743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Azure AI Search</a:t>
            </a:r>
            <a:endParaRPr sz="1800"/>
          </a:p>
        </p:txBody>
      </p:sp>
      <p:sp>
        <p:nvSpPr>
          <p:cNvPr id="791" name="Google Shape;791;p38"/>
          <p:cNvSpPr txBox="1"/>
          <p:nvPr/>
        </p:nvSpPr>
        <p:spPr>
          <a:xfrm>
            <a:off x="3200400" y="1874520"/>
            <a:ext cx="11886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$120</a:t>
            </a:r>
            <a:endParaRPr sz="1800"/>
          </a:p>
        </p:txBody>
      </p:sp>
      <p:sp>
        <p:nvSpPr>
          <p:cNvPr id="792" name="Google Shape;792;p38"/>
          <p:cNvSpPr txBox="1"/>
          <p:nvPr/>
        </p:nvSpPr>
        <p:spPr>
          <a:xfrm>
            <a:off x="4572000" y="1874520"/>
            <a:ext cx="11886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$360</a:t>
            </a:r>
            <a:endParaRPr sz="1800"/>
          </a:p>
        </p:txBody>
      </p:sp>
      <p:sp>
        <p:nvSpPr>
          <p:cNvPr id="793" name="Google Shape;793;p38"/>
          <p:cNvSpPr/>
          <p:nvPr/>
        </p:nvSpPr>
        <p:spPr>
          <a:xfrm>
            <a:off x="365760" y="2167128"/>
            <a:ext cx="5486400" cy="292608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4" name="Google Shape;794;p38"/>
          <p:cNvSpPr txBox="1"/>
          <p:nvPr/>
        </p:nvSpPr>
        <p:spPr>
          <a:xfrm>
            <a:off x="457200" y="2167128"/>
            <a:ext cx="2743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Azure OpenAI (dev/test)</a:t>
            </a:r>
            <a:endParaRPr sz="1800"/>
          </a:p>
        </p:txBody>
      </p:sp>
      <p:sp>
        <p:nvSpPr>
          <p:cNvPr id="795" name="Google Shape;795;p38"/>
          <p:cNvSpPr txBox="1"/>
          <p:nvPr/>
        </p:nvSpPr>
        <p:spPr>
          <a:xfrm>
            <a:off x="3200400" y="2167128"/>
            <a:ext cx="11886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$900</a:t>
            </a:r>
            <a:endParaRPr sz="1800"/>
          </a:p>
        </p:txBody>
      </p:sp>
      <p:sp>
        <p:nvSpPr>
          <p:cNvPr id="796" name="Google Shape;796;p38"/>
          <p:cNvSpPr txBox="1"/>
          <p:nvPr/>
        </p:nvSpPr>
        <p:spPr>
          <a:xfrm>
            <a:off x="4572000" y="2167128"/>
            <a:ext cx="11886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$2,700</a:t>
            </a:r>
            <a:endParaRPr sz="1800"/>
          </a:p>
        </p:txBody>
      </p:sp>
      <p:sp>
        <p:nvSpPr>
          <p:cNvPr id="797" name="Google Shape;797;p38"/>
          <p:cNvSpPr/>
          <p:nvPr/>
        </p:nvSpPr>
        <p:spPr>
          <a:xfrm>
            <a:off x="365760" y="2459736"/>
            <a:ext cx="5486400" cy="292608"/>
          </a:xfrm>
          <a:prstGeom prst="roundRect">
            <a:avLst>
              <a:gd fmla="val 16667" name="adj"/>
            </a:avLst>
          </a:prstGeom>
          <a:solidFill>
            <a:srgbClr val="E8F0F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8" name="Google Shape;798;p38"/>
          <p:cNvSpPr txBox="1"/>
          <p:nvPr/>
        </p:nvSpPr>
        <p:spPr>
          <a:xfrm>
            <a:off x="457200" y="2459736"/>
            <a:ext cx="2743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PostgreSQL Flexible Server</a:t>
            </a:r>
            <a:endParaRPr sz="1800"/>
          </a:p>
        </p:txBody>
      </p:sp>
      <p:sp>
        <p:nvSpPr>
          <p:cNvPr id="799" name="Google Shape;799;p38"/>
          <p:cNvSpPr txBox="1"/>
          <p:nvPr/>
        </p:nvSpPr>
        <p:spPr>
          <a:xfrm>
            <a:off x="3200400" y="2459736"/>
            <a:ext cx="11886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$150</a:t>
            </a:r>
            <a:endParaRPr sz="1800"/>
          </a:p>
        </p:txBody>
      </p:sp>
      <p:sp>
        <p:nvSpPr>
          <p:cNvPr id="800" name="Google Shape;800;p38"/>
          <p:cNvSpPr txBox="1"/>
          <p:nvPr/>
        </p:nvSpPr>
        <p:spPr>
          <a:xfrm>
            <a:off x="4572000" y="2459736"/>
            <a:ext cx="11886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$450</a:t>
            </a:r>
            <a:endParaRPr sz="1800"/>
          </a:p>
        </p:txBody>
      </p:sp>
      <p:sp>
        <p:nvSpPr>
          <p:cNvPr id="801" name="Google Shape;801;p38"/>
          <p:cNvSpPr/>
          <p:nvPr/>
        </p:nvSpPr>
        <p:spPr>
          <a:xfrm>
            <a:off x="365760" y="2752344"/>
            <a:ext cx="5486400" cy="292608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2" name="Google Shape;802;p38"/>
          <p:cNvSpPr txBox="1"/>
          <p:nvPr/>
        </p:nvSpPr>
        <p:spPr>
          <a:xfrm>
            <a:off x="457200" y="2752344"/>
            <a:ext cx="2743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Blob Storage + Files</a:t>
            </a:r>
            <a:endParaRPr sz="1800"/>
          </a:p>
        </p:txBody>
      </p:sp>
      <p:sp>
        <p:nvSpPr>
          <p:cNvPr id="803" name="Google Shape;803;p38"/>
          <p:cNvSpPr txBox="1"/>
          <p:nvPr/>
        </p:nvSpPr>
        <p:spPr>
          <a:xfrm>
            <a:off x="3200400" y="2752344"/>
            <a:ext cx="11886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$35</a:t>
            </a:r>
            <a:endParaRPr sz="1800"/>
          </a:p>
        </p:txBody>
      </p:sp>
      <p:sp>
        <p:nvSpPr>
          <p:cNvPr id="804" name="Google Shape;804;p38"/>
          <p:cNvSpPr txBox="1"/>
          <p:nvPr/>
        </p:nvSpPr>
        <p:spPr>
          <a:xfrm>
            <a:off x="4572000" y="2752344"/>
            <a:ext cx="11886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$105</a:t>
            </a:r>
            <a:endParaRPr sz="1800"/>
          </a:p>
        </p:txBody>
      </p:sp>
      <p:sp>
        <p:nvSpPr>
          <p:cNvPr id="805" name="Google Shape;805;p38"/>
          <p:cNvSpPr/>
          <p:nvPr/>
        </p:nvSpPr>
        <p:spPr>
          <a:xfrm>
            <a:off x="365760" y="3044952"/>
            <a:ext cx="5486400" cy="292608"/>
          </a:xfrm>
          <a:prstGeom prst="roundRect">
            <a:avLst>
              <a:gd fmla="val 16667" name="adj"/>
            </a:avLst>
          </a:prstGeom>
          <a:solidFill>
            <a:srgbClr val="E8F0F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6" name="Google Shape;806;p38"/>
          <p:cNvSpPr txBox="1"/>
          <p:nvPr/>
        </p:nvSpPr>
        <p:spPr>
          <a:xfrm>
            <a:off x="457200" y="3044952"/>
            <a:ext cx="2743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Cache for Redis</a:t>
            </a:r>
            <a:endParaRPr sz="1800"/>
          </a:p>
        </p:txBody>
      </p:sp>
      <p:sp>
        <p:nvSpPr>
          <p:cNvPr id="807" name="Google Shape;807;p38"/>
          <p:cNvSpPr txBox="1"/>
          <p:nvPr/>
        </p:nvSpPr>
        <p:spPr>
          <a:xfrm>
            <a:off x="3200400" y="3044952"/>
            <a:ext cx="11886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$70</a:t>
            </a:r>
            <a:endParaRPr sz="1800"/>
          </a:p>
        </p:txBody>
      </p:sp>
      <p:sp>
        <p:nvSpPr>
          <p:cNvPr id="808" name="Google Shape;808;p38"/>
          <p:cNvSpPr txBox="1"/>
          <p:nvPr/>
        </p:nvSpPr>
        <p:spPr>
          <a:xfrm>
            <a:off x="4572000" y="3044952"/>
            <a:ext cx="11886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$210</a:t>
            </a:r>
            <a:endParaRPr sz="1800"/>
          </a:p>
        </p:txBody>
      </p:sp>
      <p:sp>
        <p:nvSpPr>
          <p:cNvPr id="809" name="Google Shape;809;p38"/>
          <p:cNvSpPr/>
          <p:nvPr/>
        </p:nvSpPr>
        <p:spPr>
          <a:xfrm>
            <a:off x="365760" y="3337560"/>
            <a:ext cx="5486400" cy="292608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0" name="Google Shape;810;p38"/>
          <p:cNvSpPr txBox="1"/>
          <p:nvPr/>
        </p:nvSpPr>
        <p:spPr>
          <a:xfrm>
            <a:off x="457200" y="3337560"/>
            <a:ext cx="2743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Monitor / App Insights</a:t>
            </a:r>
            <a:endParaRPr sz="1800"/>
          </a:p>
        </p:txBody>
      </p:sp>
      <p:sp>
        <p:nvSpPr>
          <p:cNvPr id="811" name="Google Shape;811;p38"/>
          <p:cNvSpPr txBox="1"/>
          <p:nvPr/>
        </p:nvSpPr>
        <p:spPr>
          <a:xfrm>
            <a:off x="3200400" y="3337560"/>
            <a:ext cx="11886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$90</a:t>
            </a:r>
            <a:endParaRPr sz="1800"/>
          </a:p>
        </p:txBody>
      </p:sp>
      <p:sp>
        <p:nvSpPr>
          <p:cNvPr id="812" name="Google Shape;812;p38"/>
          <p:cNvSpPr txBox="1"/>
          <p:nvPr/>
        </p:nvSpPr>
        <p:spPr>
          <a:xfrm>
            <a:off x="4572000" y="3337560"/>
            <a:ext cx="11886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$270</a:t>
            </a:r>
            <a:endParaRPr sz="1800"/>
          </a:p>
        </p:txBody>
      </p:sp>
      <p:sp>
        <p:nvSpPr>
          <p:cNvPr id="813" name="Google Shape;813;p38"/>
          <p:cNvSpPr/>
          <p:nvPr/>
        </p:nvSpPr>
        <p:spPr>
          <a:xfrm>
            <a:off x="365760" y="3630168"/>
            <a:ext cx="5486400" cy="292608"/>
          </a:xfrm>
          <a:prstGeom prst="roundRect">
            <a:avLst>
              <a:gd fmla="val 16667" name="adj"/>
            </a:avLst>
          </a:prstGeom>
          <a:solidFill>
            <a:srgbClr val="E8F0F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4" name="Google Shape;814;p38"/>
          <p:cNvSpPr txBox="1"/>
          <p:nvPr/>
        </p:nvSpPr>
        <p:spPr>
          <a:xfrm>
            <a:off x="457200" y="3630168"/>
            <a:ext cx="2743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Key Vault, VNet, DNS</a:t>
            </a:r>
            <a:endParaRPr sz="1800"/>
          </a:p>
        </p:txBody>
      </p:sp>
      <p:sp>
        <p:nvSpPr>
          <p:cNvPr id="815" name="Google Shape;815;p38"/>
          <p:cNvSpPr txBox="1"/>
          <p:nvPr/>
        </p:nvSpPr>
        <p:spPr>
          <a:xfrm>
            <a:off x="3200400" y="3630168"/>
            <a:ext cx="11886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$60</a:t>
            </a:r>
            <a:endParaRPr sz="1800"/>
          </a:p>
        </p:txBody>
      </p:sp>
      <p:sp>
        <p:nvSpPr>
          <p:cNvPr id="816" name="Google Shape;816;p38"/>
          <p:cNvSpPr txBox="1"/>
          <p:nvPr/>
        </p:nvSpPr>
        <p:spPr>
          <a:xfrm>
            <a:off x="4572000" y="3630168"/>
            <a:ext cx="11886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$180</a:t>
            </a:r>
            <a:endParaRPr sz="1800"/>
          </a:p>
        </p:txBody>
      </p:sp>
      <p:sp>
        <p:nvSpPr>
          <p:cNvPr id="817" name="Google Shape;817;p38"/>
          <p:cNvSpPr/>
          <p:nvPr/>
        </p:nvSpPr>
        <p:spPr>
          <a:xfrm>
            <a:off x="365760" y="3922776"/>
            <a:ext cx="5486400" cy="292608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8" name="Google Shape;818;p38"/>
          <p:cNvSpPr txBox="1"/>
          <p:nvPr/>
        </p:nvSpPr>
        <p:spPr>
          <a:xfrm>
            <a:off x="457200" y="3922776"/>
            <a:ext cx="2743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CI/CD &amp; tooling</a:t>
            </a:r>
            <a:endParaRPr sz="1800"/>
          </a:p>
        </p:txBody>
      </p:sp>
      <p:sp>
        <p:nvSpPr>
          <p:cNvPr id="819" name="Google Shape;819;p38"/>
          <p:cNvSpPr txBox="1"/>
          <p:nvPr/>
        </p:nvSpPr>
        <p:spPr>
          <a:xfrm>
            <a:off x="3200400" y="3922776"/>
            <a:ext cx="11886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$80</a:t>
            </a:r>
            <a:endParaRPr sz="1800"/>
          </a:p>
        </p:txBody>
      </p:sp>
      <p:sp>
        <p:nvSpPr>
          <p:cNvPr id="820" name="Google Shape;820;p38"/>
          <p:cNvSpPr txBox="1"/>
          <p:nvPr/>
        </p:nvSpPr>
        <p:spPr>
          <a:xfrm>
            <a:off x="4572000" y="3922776"/>
            <a:ext cx="11886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$240</a:t>
            </a:r>
            <a:endParaRPr sz="1800"/>
          </a:p>
        </p:txBody>
      </p:sp>
      <p:sp>
        <p:nvSpPr>
          <p:cNvPr id="821" name="Google Shape;821;p38"/>
          <p:cNvSpPr/>
          <p:nvPr/>
        </p:nvSpPr>
        <p:spPr>
          <a:xfrm>
            <a:off x="365760" y="4215384"/>
            <a:ext cx="5486400" cy="320040"/>
          </a:xfrm>
          <a:prstGeom prst="roundRect">
            <a:avLst>
              <a:gd fmla="val 16667" name="adj"/>
            </a:avLst>
          </a:prstGeom>
          <a:solidFill>
            <a:srgbClr val="11559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2" name="Google Shape;822;p38"/>
          <p:cNvSpPr txBox="1"/>
          <p:nvPr/>
        </p:nvSpPr>
        <p:spPr>
          <a:xfrm>
            <a:off x="457200" y="4215384"/>
            <a:ext cx="2743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Total</a:t>
            </a:r>
            <a:endParaRPr sz="1800"/>
          </a:p>
        </p:txBody>
      </p:sp>
      <p:sp>
        <p:nvSpPr>
          <p:cNvPr id="823" name="Google Shape;823;p38"/>
          <p:cNvSpPr txBox="1"/>
          <p:nvPr/>
        </p:nvSpPr>
        <p:spPr>
          <a:xfrm>
            <a:off x="3200400" y="4215384"/>
            <a:ext cx="11886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E0A300"/>
                </a:solidFill>
                <a:latin typeface="Calibri"/>
                <a:ea typeface="Calibri"/>
                <a:cs typeface="Calibri"/>
                <a:sym typeface="Calibri"/>
              </a:rPr>
              <a:t>$1,505</a:t>
            </a:r>
            <a:endParaRPr sz="1800"/>
          </a:p>
        </p:txBody>
      </p:sp>
      <p:sp>
        <p:nvSpPr>
          <p:cNvPr id="824" name="Google Shape;824;p38"/>
          <p:cNvSpPr txBox="1"/>
          <p:nvPr/>
        </p:nvSpPr>
        <p:spPr>
          <a:xfrm>
            <a:off x="4572000" y="4215384"/>
            <a:ext cx="11886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E0A300"/>
                </a:solidFill>
                <a:latin typeface="Calibri"/>
                <a:ea typeface="Calibri"/>
                <a:cs typeface="Calibri"/>
                <a:sym typeface="Calibri"/>
              </a:rPr>
              <a:t>$4,515</a:t>
            </a:r>
            <a:endParaRPr sz="1800"/>
          </a:p>
        </p:txBody>
      </p:sp>
      <p:sp>
        <p:nvSpPr>
          <p:cNvPr id="825" name="Google Shape;825;p38"/>
          <p:cNvSpPr txBox="1"/>
          <p:nvPr/>
        </p:nvSpPr>
        <p:spPr>
          <a:xfrm>
            <a:off x="6400800" y="1234440"/>
            <a:ext cx="54864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0E3A66"/>
                </a:solidFill>
                <a:latin typeface="Calibri"/>
                <a:ea typeface="Calibri"/>
                <a:cs typeface="Calibri"/>
                <a:sym typeface="Calibri"/>
              </a:rPr>
              <a:t>Production Phase (steady state)</a:t>
            </a:r>
            <a:endParaRPr sz="1800"/>
          </a:p>
        </p:txBody>
      </p:sp>
      <p:sp>
        <p:nvSpPr>
          <p:cNvPr id="826" name="Google Shape;826;p38"/>
          <p:cNvSpPr/>
          <p:nvPr/>
        </p:nvSpPr>
        <p:spPr>
          <a:xfrm>
            <a:off x="6400800" y="1554480"/>
            <a:ext cx="5303520" cy="320040"/>
          </a:xfrm>
          <a:prstGeom prst="roundRect">
            <a:avLst>
              <a:gd fmla="val 16667" name="adj"/>
            </a:avLst>
          </a:prstGeom>
          <a:solidFill>
            <a:srgbClr val="0E3A6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7" name="Google Shape;827;p38"/>
          <p:cNvSpPr txBox="1"/>
          <p:nvPr/>
        </p:nvSpPr>
        <p:spPr>
          <a:xfrm>
            <a:off x="6492240" y="1554480"/>
            <a:ext cx="32004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Component</a:t>
            </a:r>
            <a:endParaRPr sz="1800"/>
          </a:p>
        </p:txBody>
      </p:sp>
      <p:sp>
        <p:nvSpPr>
          <p:cNvPr id="828" name="Google Shape;828;p38"/>
          <p:cNvSpPr txBox="1"/>
          <p:nvPr/>
        </p:nvSpPr>
        <p:spPr>
          <a:xfrm>
            <a:off x="9875520" y="1554480"/>
            <a:ext cx="1645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Monthly (USD)</a:t>
            </a:r>
            <a:endParaRPr sz="1800"/>
          </a:p>
        </p:txBody>
      </p:sp>
      <p:sp>
        <p:nvSpPr>
          <p:cNvPr id="829" name="Google Shape;829;p38"/>
          <p:cNvSpPr/>
          <p:nvPr/>
        </p:nvSpPr>
        <p:spPr>
          <a:xfrm>
            <a:off x="6400800" y="1874520"/>
            <a:ext cx="5303520" cy="292608"/>
          </a:xfrm>
          <a:prstGeom prst="roundRect">
            <a:avLst>
              <a:gd fmla="val 16667" name="adj"/>
            </a:avLst>
          </a:prstGeom>
          <a:solidFill>
            <a:srgbClr val="E8F0F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0" name="Google Shape;830;p38"/>
          <p:cNvSpPr txBox="1"/>
          <p:nvPr/>
        </p:nvSpPr>
        <p:spPr>
          <a:xfrm>
            <a:off x="6492240" y="1874520"/>
            <a:ext cx="32004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Azure AI Search (standard)</a:t>
            </a:r>
            <a:endParaRPr sz="1800"/>
          </a:p>
        </p:txBody>
      </p:sp>
      <p:sp>
        <p:nvSpPr>
          <p:cNvPr id="831" name="Google Shape;831;p38"/>
          <p:cNvSpPr txBox="1"/>
          <p:nvPr/>
        </p:nvSpPr>
        <p:spPr>
          <a:xfrm>
            <a:off x="9875520" y="1874520"/>
            <a:ext cx="1645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$350</a:t>
            </a:r>
            <a:endParaRPr sz="1800"/>
          </a:p>
        </p:txBody>
      </p:sp>
      <p:sp>
        <p:nvSpPr>
          <p:cNvPr id="832" name="Google Shape;832;p38"/>
          <p:cNvSpPr/>
          <p:nvPr/>
        </p:nvSpPr>
        <p:spPr>
          <a:xfrm>
            <a:off x="6400800" y="2167128"/>
            <a:ext cx="5303520" cy="292608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3" name="Google Shape;833;p38"/>
          <p:cNvSpPr txBox="1"/>
          <p:nvPr/>
        </p:nvSpPr>
        <p:spPr>
          <a:xfrm>
            <a:off x="6492240" y="2167128"/>
            <a:ext cx="32004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Azure OpenAI (production)</a:t>
            </a:r>
            <a:endParaRPr sz="1800"/>
          </a:p>
        </p:txBody>
      </p:sp>
      <p:sp>
        <p:nvSpPr>
          <p:cNvPr id="834" name="Google Shape;834;p38"/>
          <p:cNvSpPr txBox="1"/>
          <p:nvPr/>
        </p:nvSpPr>
        <p:spPr>
          <a:xfrm>
            <a:off x="9875520" y="2167128"/>
            <a:ext cx="1645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$2,500</a:t>
            </a:r>
            <a:endParaRPr sz="1800"/>
          </a:p>
        </p:txBody>
      </p:sp>
      <p:sp>
        <p:nvSpPr>
          <p:cNvPr id="835" name="Google Shape;835;p38"/>
          <p:cNvSpPr/>
          <p:nvPr/>
        </p:nvSpPr>
        <p:spPr>
          <a:xfrm>
            <a:off x="6400800" y="2459736"/>
            <a:ext cx="5303520" cy="292608"/>
          </a:xfrm>
          <a:prstGeom prst="roundRect">
            <a:avLst>
              <a:gd fmla="val 16667" name="adj"/>
            </a:avLst>
          </a:prstGeom>
          <a:solidFill>
            <a:srgbClr val="E8F0F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6" name="Google Shape;836;p38"/>
          <p:cNvSpPr txBox="1"/>
          <p:nvPr/>
        </p:nvSpPr>
        <p:spPr>
          <a:xfrm>
            <a:off x="6492240" y="2459736"/>
            <a:ext cx="32004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PostgreSQL Flexible Server</a:t>
            </a:r>
            <a:endParaRPr sz="1800"/>
          </a:p>
        </p:txBody>
      </p:sp>
      <p:sp>
        <p:nvSpPr>
          <p:cNvPr id="837" name="Google Shape;837;p38"/>
          <p:cNvSpPr txBox="1"/>
          <p:nvPr/>
        </p:nvSpPr>
        <p:spPr>
          <a:xfrm>
            <a:off x="9875520" y="2459736"/>
            <a:ext cx="1645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$350</a:t>
            </a:r>
            <a:endParaRPr sz="1800"/>
          </a:p>
        </p:txBody>
      </p:sp>
      <p:sp>
        <p:nvSpPr>
          <p:cNvPr id="838" name="Google Shape;838;p38"/>
          <p:cNvSpPr/>
          <p:nvPr/>
        </p:nvSpPr>
        <p:spPr>
          <a:xfrm>
            <a:off x="6400800" y="2752344"/>
            <a:ext cx="5303520" cy="292608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9" name="Google Shape;839;p38"/>
          <p:cNvSpPr txBox="1"/>
          <p:nvPr/>
        </p:nvSpPr>
        <p:spPr>
          <a:xfrm>
            <a:off x="6492240" y="2752344"/>
            <a:ext cx="32004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Blob Storage + Files</a:t>
            </a:r>
            <a:endParaRPr sz="1800"/>
          </a:p>
        </p:txBody>
      </p:sp>
      <p:sp>
        <p:nvSpPr>
          <p:cNvPr id="840" name="Google Shape;840;p38"/>
          <p:cNvSpPr txBox="1"/>
          <p:nvPr/>
        </p:nvSpPr>
        <p:spPr>
          <a:xfrm>
            <a:off x="9875520" y="2752344"/>
            <a:ext cx="1645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$120</a:t>
            </a:r>
            <a:endParaRPr sz="1800"/>
          </a:p>
        </p:txBody>
      </p:sp>
      <p:sp>
        <p:nvSpPr>
          <p:cNvPr id="841" name="Google Shape;841;p38"/>
          <p:cNvSpPr/>
          <p:nvPr/>
        </p:nvSpPr>
        <p:spPr>
          <a:xfrm>
            <a:off x="6400800" y="3044952"/>
            <a:ext cx="5303520" cy="292608"/>
          </a:xfrm>
          <a:prstGeom prst="roundRect">
            <a:avLst>
              <a:gd fmla="val 16667" name="adj"/>
            </a:avLst>
          </a:prstGeom>
          <a:solidFill>
            <a:srgbClr val="E8F0F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2" name="Google Shape;842;p38"/>
          <p:cNvSpPr txBox="1"/>
          <p:nvPr/>
        </p:nvSpPr>
        <p:spPr>
          <a:xfrm>
            <a:off x="6492240" y="3044952"/>
            <a:ext cx="32004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Cache for Redis</a:t>
            </a:r>
            <a:endParaRPr sz="1800"/>
          </a:p>
        </p:txBody>
      </p:sp>
      <p:sp>
        <p:nvSpPr>
          <p:cNvPr id="843" name="Google Shape;843;p38"/>
          <p:cNvSpPr txBox="1"/>
          <p:nvPr/>
        </p:nvSpPr>
        <p:spPr>
          <a:xfrm>
            <a:off x="9875520" y="3044952"/>
            <a:ext cx="1645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$150</a:t>
            </a:r>
            <a:endParaRPr sz="1800"/>
          </a:p>
        </p:txBody>
      </p:sp>
      <p:sp>
        <p:nvSpPr>
          <p:cNvPr id="844" name="Google Shape;844;p38"/>
          <p:cNvSpPr/>
          <p:nvPr/>
        </p:nvSpPr>
        <p:spPr>
          <a:xfrm>
            <a:off x="6400800" y="3337560"/>
            <a:ext cx="5303520" cy="292608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5" name="Google Shape;845;p38"/>
          <p:cNvSpPr txBox="1"/>
          <p:nvPr/>
        </p:nvSpPr>
        <p:spPr>
          <a:xfrm>
            <a:off x="6492240" y="3337560"/>
            <a:ext cx="32004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Monitor / App Insights</a:t>
            </a:r>
            <a:endParaRPr sz="1800"/>
          </a:p>
        </p:txBody>
      </p:sp>
      <p:sp>
        <p:nvSpPr>
          <p:cNvPr id="846" name="Google Shape;846;p38"/>
          <p:cNvSpPr txBox="1"/>
          <p:nvPr/>
        </p:nvSpPr>
        <p:spPr>
          <a:xfrm>
            <a:off x="9875520" y="3337560"/>
            <a:ext cx="1645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$200</a:t>
            </a:r>
            <a:endParaRPr sz="1800"/>
          </a:p>
        </p:txBody>
      </p:sp>
      <p:sp>
        <p:nvSpPr>
          <p:cNvPr id="847" name="Google Shape;847;p38"/>
          <p:cNvSpPr/>
          <p:nvPr/>
        </p:nvSpPr>
        <p:spPr>
          <a:xfrm>
            <a:off x="6400800" y="3630168"/>
            <a:ext cx="5303520" cy="292608"/>
          </a:xfrm>
          <a:prstGeom prst="roundRect">
            <a:avLst>
              <a:gd fmla="val 16667" name="adj"/>
            </a:avLst>
          </a:prstGeom>
          <a:solidFill>
            <a:srgbClr val="E8F0F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8" name="Google Shape;848;p38"/>
          <p:cNvSpPr txBox="1"/>
          <p:nvPr/>
        </p:nvSpPr>
        <p:spPr>
          <a:xfrm>
            <a:off x="6492240" y="3630168"/>
            <a:ext cx="32004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Key Vault, VNet, DNS</a:t>
            </a:r>
            <a:endParaRPr sz="1800"/>
          </a:p>
        </p:txBody>
      </p:sp>
      <p:sp>
        <p:nvSpPr>
          <p:cNvPr id="849" name="Google Shape;849;p38"/>
          <p:cNvSpPr txBox="1"/>
          <p:nvPr/>
        </p:nvSpPr>
        <p:spPr>
          <a:xfrm>
            <a:off x="9875520" y="3630168"/>
            <a:ext cx="1645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$150</a:t>
            </a:r>
            <a:endParaRPr sz="1800"/>
          </a:p>
        </p:txBody>
      </p:sp>
      <p:sp>
        <p:nvSpPr>
          <p:cNvPr id="850" name="Google Shape;850;p38"/>
          <p:cNvSpPr/>
          <p:nvPr/>
        </p:nvSpPr>
        <p:spPr>
          <a:xfrm>
            <a:off x="6400800" y="3922776"/>
            <a:ext cx="5303520" cy="292608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1" name="Google Shape;851;p38"/>
          <p:cNvSpPr txBox="1"/>
          <p:nvPr/>
        </p:nvSpPr>
        <p:spPr>
          <a:xfrm>
            <a:off x="6492240" y="3922776"/>
            <a:ext cx="32004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Alerting &amp; autoscale</a:t>
            </a:r>
            <a:endParaRPr sz="1800"/>
          </a:p>
        </p:txBody>
      </p:sp>
      <p:sp>
        <p:nvSpPr>
          <p:cNvPr id="852" name="Google Shape;852;p38"/>
          <p:cNvSpPr txBox="1"/>
          <p:nvPr/>
        </p:nvSpPr>
        <p:spPr>
          <a:xfrm>
            <a:off x="9875520" y="3922776"/>
            <a:ext cx="1645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$100</a:t>
            </a:r>
            <a:endParaRPr sz="1800"/>
          </a:p>
        </p:txBody>
      </p:sp>
      <p:sp>
        <p:nvSpPr>
          <p:cNvPr id="853" name="Google Shape;853;p38"/>
          <p:cNvSpPr/>
          <p:nvPr/>
        </p:nvSpPr>
        <p:spPr>
          <a:xfrm>
            <a:off x="6400800" y="4215384"/>
            <a:ext cx="5303520" cy="320040"/>
          </a:xfrm>
          <a:prstGeom prst="roundRect">
            <a:avLst>
              <a:gd fmla="val 16667" name="adj"/>
            </a:avLst>
          </a:prstGeom>
          <a:solidFill>
            <a:srgbClr val="11559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4" name="Google Shape;854;p38"/>
          <p:cNvSpPr txBox="1"/>
          <p:nvPr/>
        </p:nvSpPr>
        <p:spPr>
          <a:xfrm>
            <a:off x="6492240" y="4215384"/>
            <a:ext cx="32004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Total</a:t>
            </a:r>
            <a:endParaRPr sz="1800"/>
          </a:p>
        </p:txBody>
      </p:sp>
      <p:sp>
        <p:nvSpPr>
          <p:cNvPr id="855" name="Google Shape;855;p38"/>
          <p:cNvSpPr txBox="1"/>
          <p:nvPr/>
        </p:nvSpPr>
        <p:spPr>
          <a:xfrm>
            <a:off x="9875520" y="4215384"/>
            <a:ext cx="1645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E0A300"/>
                </a:solidFill>
                <a:latin typeface="Calibri"/>
                <a:ea typeface="Calibri"/>
                <a:cs typeface="Calibri"/>
                <a:sym typeface="Calibri"/>
              </a:rPr>
              <a:t>$3,920/mo</a:t>
            </a:r>
            <a:endParaRPr sz="1800"/>
          </a:p>
        </p:txBody>
      </p:sp>
      <p:sp>
        <p:nvSpPr>
          <p:cNvPr id="856" name="Google Shape;856;p38"/>
          <p:cNvSpPr/>
          <p:nvPr/>
        </p:nvSpPr>
        <p:spPr>
          <a:xfrm>
            <a:off x="365760" y="4764024"/>
            <a:ext cx="11338560" cy="457200"/>
          </a:xfrm>
          <a:prstGeom prst="roundRect">
            <a:avLst>
              <a:gd fmla="val 16667" name="adj"/>
            </a:avLst>
          </a:prstGeom>
          <a:solidFill>
            <a:srgbClr val="ECFDF5"/>
          </a:solidFill>
          <a:ln cap="flat" cmpd="sng" w="12700">
            <a:solidFill>
              <a:srgbClr val="0F766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7" name="Google Shape;857;p38"/>
          <p:cNvSpPr txBox="1"/>
          <p:nvPr/>
        </p:nvSpPr>
        <p:spPr>
          <a:xfrm>
            <a:off x="548640" y="4809744"/>
            <a:ext cx="10972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0F766E"/>
                </a:solidFill>
                <a:latin typeface="Calibri"/>
                <a:ea typeface="Calibri"/>
                <a:cs typeface="Calibri"/>
                <a:sym typeface="Calibri"/>
              </a:rPr>
              <a:t>Production: ~$3,920/month — within $5,000 cap</a:t>
            </a:r>
            <a:endParaRPr sz="1800"/>
          </a:p>
        </p:txBody>
      </p:sp>
      <p:sp>
        <p:nvSpPr>
          <p:cNvPr id="858" name="Google Shape;858;p38"/>
          <p:cNvSpPr/>
          <p:nvPr/>
        </p:nvSpPr>
        <p:spPr>
          <a:xfrm>
            <a:off x="365760" y="5495544"/>
            <a:ext cx="2743200" cy="100584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25400">
            <a:solidFill>
              <a:srgbClr val="11559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9" name="Google Shape;859;p38"/>
          <p:cNvSpPr txBox="1"/>
          <p:nvPr/>
        </p:nvSpPr>
        <p:spPr>
          <a:xfrm>
            <a:off x="457200" y="5586984"/>
            <a:ext cx="2560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Development Labor</a:t>
            </a:r>
            <a:endParaRPr sz="1800"/>
          </a:p>
        </p:txBody>
      </p:sp>
      <p:sp>
        <p:nvSpPr>
          <p:cNvPr id="860" name="Google Shape;860;p38"/>
          <p:cNvSpPr txBox="1"/>
          <p:nvPr/>
        </p:nvSpPr>
        <p:spPr>
          <a:xfrm>
            <a:off x="457200" y="5907024"/>
            <a:ext cx="25602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115594"/>
                </a:solidFill>
                <a:latin typeface="Calibri"/>
                <a:ea typeface="Calibri"/>
                <a:cs typeface="Calibri"/>
                <a:sym typeface="Calibri"/>
              </a:rPr>
              <a:t>$608,000</a:t>
            </a:r>
            <a:endParaRPr sz="3000"/>
          </a:p>
        </p:txBody>
      </p:sp>
      <p:sp>
        <p:nvSpPr>
          <p:cNvPr id="861" name="Google Shape;861;p38"/>
          <p:cNvSpPr/>
          <p:nvPr/>
        </p:nvSpPr>
        <p:spPr>
          <a:xfrm>
            <a:off x="3291840" y="5495544"/>
            <a:ext cx="2743200" cy="100584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25400">
            <a:solidFill>
              <a:srgbClr val="0F766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2" name="Google Shape;862;p38"/>
          <p:cNvSpPr txBox="1"/>
          <p:nvPr/>
        </p:nvSpPr>
        <p:spPr>
          <a:xfrm>
            <a:off x="3383280" y="5586984"/>
            <a:ext cx="2560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Dev Infrastructure (3mo)</a:t>
            </a:r>
            <a:endParaRPr sz="1800"/>
          </a:p>
        </p:txBody>
      </p:sp>
      <p:sp>
        <p:nvSpPr>
          <p:cNvPr id="863" name="Google Shape;863;p38"/>
          <p:cNvSpPr txBox="1"/>
          <p:nvPr/>
        </p:nvSpPr>
        <p:spPr>
          <a:xfrm>
            <a:off x="3383280" y="5907024"/>
            <a:ext cx="25602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0F766E"/>
                </a:solidFill>
                <a:latin typeface="Calibri"/>
                <a:ea typeface="Calibri"/>
                <a:cs typeface="Calibri"/>
                <a:sym typeface="Calibri"/>
              </a:rPr>
              <a:t>$4,515</a:t>
            </a:r>
            <a:endParaRPr sz="3000"/>
          </a:p>
        </p:txBody>
      </p:sp>
      <p:sp>
        <p:nvSpPr>
          <p:cNvPr id="864" name="Google Shape;864;p38"/>
          <p:cNvSpPr/>
          <p:nvPr/>
        </p:nvSpPr>
        <p:spPr>
          <a:xfrm>
            <a:off x="6217920" y="5495544"/>
            <a:ext cx="2743200" cy="100584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25400">
            <a:solidFill>
              <a:srgbClr val="7C3A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5" name="Google Shape;865;p38"/>
          <p:cNvSpPr txBox="1"/>
          <p:nvPr/>
        </p:nvSpPr>
        <p:spPr>
          <a:xfrm>
            <a:off x="6309360" y="5586984"/>
            <a:ext cx="2560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Production Infra/mo</a:t>
            </a:r>
            <a:endParaRPr sz="1800"/>
          </a:p>
        </p:txBody>
      </p:sp>
      <p:sp>
        <p:nvSpPr>
          <p:cNvPr id="866" name="Google Shape;866;p38"/>
          <p:cNvSpPr txBox="1"/>
          <p:nvPr/>
        </p:nvSpPr>
        <p:spPr>
          <a:xfrm>
            <a:off x="6309360" y="5907024"/>
            <a:ext cx="25602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7C3AED"/>
                </a:solidFill>
                <a:latin typeface="Calibri"/>
                <a:ea typeface="Calibri"/>
                <a:cs typeface="Calibri"/>
                <a:sym typeface="Calibri"/>
              </a:rPr>
              <a:t>$3,920</a:t>
            </a:r>
            <a:endParaRPr sz="3000"/>
          </a:p>
        </p:txBody>
      </p:sp>
      <p:sp>
        <p:nvSpPr>
          <p:cNvPr id="867" name="Google Shape;867;p38"/>
          <p:cNvSpPr/>
          <p:nvPr/>
        </p:nvSpPr>
        <p:spPr>
          <a:xfrm>
            <a:off x="9144000" y="5495544"/>
            <a:ext cx="2743200" cy="100584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25400">
            <a:solidFill>
              <a:srgbClr val="C0392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8" name="Google Shape;868;p38"/>
          <p:cNvSpPr txBox="1"/>
          <p:nvPr/>
        </p:nvSpPr>
        <p:spPr>
          <a:xfrm>
            <a:off x="9235440" y="5586984"/>
            <a:ext cx="2560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Total Project</a:t>
            </a:r>
            <a:endParaRPr sz="1800"/>
          </a:p>
        </p:txBody>
      </p:sp>
      <p:sp>
        <p:nvSpPr>
          <p:cNvPr id="869" name="Google Shape;869;p38"/>
          <p:cNvSpPr txBox="1"/>
          <p:nvPr/>
        </p:nvSpPr>
        <p:spPr>
          <a:xfrm>
            <a:off x="9235440" y="5907024"/>
            <a:ext cx="25602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C0392B"/>
                </a:solidFill>
                <a:latin typeface="Calibri"/>
                <a:ea typeface="Calibri"/>
                <a:cs typeface="Calibri"/>
                <a:sym typeface="Calibri"/>
              </a:rPr>
              <a:t>~$6</a:t>
            </a:r>
            <a:r>
              <a:rPr b="1" lang="en-US" sz="3000">
                <a:solidFill>
                  <a:srgbClr val="C0392B"/>
                </a:solidFill>
                <a:latin typeface="Calibri"/>
                <a:ea typeface="Calibri"/>
                <a:cs typeface="Calibri"/>
                <a:sym typeface="Calibri"/>
              </a:rPr>
              <a:t>12</a:t>
            </a:r>
            <a:r>
              <a:rPr b="1" i="0" lang="en-US" sz="3000" u="none" cap="none" strike="noStrike">
                <a:solidFill>
                  <a:srgbClr val="C0392B"/>
                </a:solidFill>
                <a:latin typeface="Calibri"/>
                <a:ea typeface="Calibri"/>
                <a:cs typeface="Calibri"/>
                <a:sym typeface="Calibri"/>
              </a:rPr>
              <a:t>,515</a:t>
            </a:r>
            <a:endParaRPr sz="300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E3A66"/>
        </a:solidFill>
      </p:bgPr>
    </p:bg>
    <p:spTree>
      <p:nvGrpSpPr>
        <p:cNvPr id="873" name="Shape 8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4" name="Google Shape;874;p39"/>
          <p:cNvSpPr/>
          <p:nvPr/>
        </p:nvSpPr>
        <p:spPr>
          <a:xfrm>
            <a:off x="0" y="0"/>
            <a:ext cx="12191695" cy="91440"/>
          </a:xfrm>
          <a:prstGeom prst="roundRect">
            <a:avLst>
              <a:gd fmla="val 16667" name="adj"/>
            </a:avLst>
          </a:prstGeom>
          <a:solidFill>
            <a:srgbClr val="E0A3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5" name="Google Shape;875;p39"/>
          <p:cNvSpPr txBox="1"/>
          <p:nvPr/>
        </p:nvSpPr>
        <p:spPr>
          <a:xfrm>
            <a:off x="914400" y="1828800"/>
            <a:ext cx="10058400" cy="2286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Thank You</a:t>
            </a:r>
            <a:br>
              <a:rPr b="1" i="0" lang="en-US" sz="4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4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Q &amp; A</a:t>
            </a:r>
            <a:endParaRPr/>
          </a:p>
        </p:txBody>
      </p:sp>
      <p:sp>
        <p:nvSpPr>
          <p:cNvPr id="876" name="Google Shape;876;p39"/>
          <p:cNvSpPr txBox="1"/>
          <p:nvPr/>
        </p:nvSpPr>
        <p:spPr>
          <a:xfrm>
            <a:off x="914400" y="4114800"/>
            <a:ext cx="100584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BBCCDD"/>
                </a:solidFill>
                <a:latin typeface="Calibri"/>
                <a:ea typeface="Calibri"/>
                <a:cs typeface="Calibri"/>
                <a:sym typeface="Calibri"/>
              </a:rPr>
              <a:t>We welcome your questions</a:t>
            </a:r>
            <a:endParaRPr/>
          </a:p>
        </p:txBody>
      </p:sp>
      <p:sp>
        <p:nvSpPr>
          <p:cNvPr id="877" name="Google Shape;877;p39"/>
          <p:cNvSpPr/>
          <p:nvPr/>
        </p:nvSpPr>
        <p:spPr>
          <a:xfrm>
            <a:off x="5029200" y="4846320"/>
            <a:ext cx="2103120" cy="38100"/>
          </a:xfrm>
          <a:prstGeom prst="roundRect">
            <a:avLst>
              <a:gd fmla="val 16667" name="adj"/>
            </a:avLst>
          </a:prstGeom>
          <a:solidFill>
            <a:srgbClr val="E0A3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8" name="Google Shape;878;p39"/>
          <p:cNvSpPr txBox="1"/>
          <p:nvPr/>
        </p:nvSpPr>
        <p:spPr>
          <a:xfrm>
            <a:off x="914400" y="5303520"/>
            <a:ext cx="10058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E0A300"/>
                </a:solidFill>
                <a:latin typeface="Calibri"/>
                <a:ea typeface="Calibri"/>
                <a:cs typeface="Calibri"/>
                <a:sym typeface="Calibri"/>
              </a:rPr>
              <a:t>Group 6 — FPT Software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