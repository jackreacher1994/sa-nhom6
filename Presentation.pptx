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6858000" cx="12191675"/>
  <p:notesSz cx="6858000" cy="9144000"/>
  <p:embeddedFontLst>
    <p:embeddedFont>
      <p:font typeface="Arimo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Arim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Arimo-italic.fntdata"/><Relationship Id="rId30" Type="http://schemas.openxmlformats.org/officeDocument/2006/relationships/font" Target="fonts/Arim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Arim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61ed39cf9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f61ed39cf9_3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f61e1218ab_1_26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g3f61e1218ab_1_26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f61e1218ab_1_26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f61ed39cf9_4_5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1" name="Google Shape;351;g3f61ed39cf9_4_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g3f61ed39cf9_4_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f61ed39cf9_4_15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g3f61ed39cf9_4_1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f61ed39cf9_4_1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61ed39cf9_4_35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f61ed39cf9_4_3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f61ed39cf9_4_3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f61ed39cf9_4_63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g3f61ed39cf9_4_63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g3f61ed39cf9_4_63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f61ed39cf9_4_106:notes"/>
          <p:cNvSpPr/>
          <p:nvPr>
            <p:ph idx="2" type="sldImg"/>
          </p:nvPr>
        </p:nvSpPr>
        <p:spPr>
          <a:xfrm>
            <a:off x="457249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77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6" name="Google Shape;456;g3f61ed39cf9_4_106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g3f61ed39cf9_4_106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f61ed39cf9_4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g3f61ed39cf9_4_2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3A6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Document Audit &amp;</a:t>
            </a:r>
            <a:b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Knowledge Assistant System</a:t>
            </a:r>
            <a:endParaRPr/>
          </a:p>
        </p:txBody>
      </p:sp>
      <p:sp>
        <p:nvSpPr>
          <p:cNvPr id="87" name="Google Shape;87;p1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Technical Proposal &amp; Solution Architecture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5029200" y="4206240"/>
            <a:ext cx="2103120" cy="381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Group 6 — FPT Software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9AABB"/>
                </a:solidFill>
                <a:latin typeface="Calibri"/>
                <a:ea typeface="Calibri"/>
                <a:cs typeface="Calibri"/>
                <a:sym typeface="Calibri"/>
              </a:rPr>
              <a:t>August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What challenges does the customer face today?</a:t>
            </a:r>
            <a:endParaRPr sz="1800"/>
          </a:p>
        </p:txBody>
      </p:sp>
      <p:sp>
        <p:nvSpPr>
          <p:cNvPr id="98" name="Google Shape;98;p15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1266" y="1254760"/>
            <a:ext cx="6961085" cy="5450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731520" y="1417320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914400" y="151790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914400" y="151790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0" name="Google Shape;110;p16"/>
          <p:cNvSpPr txBox="1"/>
          <p:nvPr/>
        </p:nvSpPr>
        <p:spPr>
          <a:xfrm>
            <a:off x="1554480" y="155448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Problem Statement &amp; Customer Challenges</a:t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9601200" y="155448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3 min</a:t>
            </a: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731520" y="2221992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914400" y="2322576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914400" y="23225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1554480" y="2359152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Requirements: Functional, Non-Functional, Constraints &amp; Assumptions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9601200" y="235915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2 min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731520" y="3026664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14400" y="3127248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914400" y="31272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554480" y="3163824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Solution Architecture — 4+1 View Model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9601200" y="31638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min</a:t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731520" y="3831336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14400" y="3931920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91440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1554480" y="3968496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Solution Benefits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9601200" y="3968496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2 min</a:t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731520" y="4636008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914400" y="4736592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914400" y="473659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1554480" y="477316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Estimation: Development Effort &amp; Infrastructure Cost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601200" y="477316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2 min</a:t>
            </a:r>
            <a:endParaRPr/>
          </a:p>
        </p:txBody>
      </p:sp>
      <p:sp>
        <p:nvSpPr>
          <p:cNvPr id="132" name="Google Shape;132;p16"/>
          <p:cNvSpPr/>
          <p:nvPr/>
        </p:nvSpPr>
        <p:spPr>
          <a:xfrm>
            <a:off x="731520" y="5440680"/>
            <a:ext cx="1051560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914400" y="554126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914400" y="55412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1554480" y="557784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601200" y="557784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15 min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/>
          <p:nvPr/>
        </p:nvSpPr>
        <p:spPr>
          <a:xfrm>
            <a:off x="0" y="0"/>
            <a:ext cx="12191700" cy="105150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What challenges does the customer face today?</a:t>
            </a:r>
            <a:endParaRPr sz="1800"/>
          </a:p>
        </p:txBody>
      </p:sp>
      <p:sp>
        <p:nvSpPr>
          <p:cNvPr id="144" name="Google Shape;144;p17"/>
          <p:cNvSpPr/>
          <p:nvPr/>
        </p:nvSpPr>
        <p:spPr>
          <a:xfrm>
            <a:off x="0" y="1051560"/>
            <a:ext cx="12191700" cy="507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457200" y="141732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94360" y="155448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594360" y="155448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143000" y="16002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Limited Scope</a:t>
            </a:r>
            <a:endParaRPr sz="1800"/>
          </a:p>
        </p:txBody>
      </p:sp>
      <p:sp>
        <p:nvSpPr>
          <p:cNvPr id="149" name="Google Shape;149;p17"/>
          <p:cNvSpPr txBox="1"/>
          <p:nvPr/>
        </p:nvSpPr>
        <p:spPr>
          <a:xfrm>
            <a:off x="640080" y="2148840"/>
            <a:ext cx="32004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Current system only handles document submission and review — no knowledge assistant, no discovery, no summarization.</a:t>
            </a:r>
            <a:endParaRPr sz="1600"/>
          </a:p>
        </p:txBody>
      </p:sp>
      <p:sp>
        <p:nvSpPr>
          <p:cNvPr id="150" name="Google Shape;150;p17"/>
          <p:cNvSpPr/>
          <p:nvPr/>
        </p:nvSpPr>
        <p:spPr>
          <a:xfrm>
            <a:off x="4251960" y="141732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4389120" y="155448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D46B0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4389120" y="155448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937760" y="16002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46B08"/>
                </a:solidFill>
                <a:latin typeface="Calibri"/>
                <a:ea typeface="Calibri"/>
                <a:cs typeface="Calibri"/>
                <a:sym typeface="Calibri"/>
              </a:rPr>
              <a:t>No Multi-Source Ingestion</a:t>
            </a:r>
            <a:endParaRPr sz="1800"/>
          </a:p>
        </p:txBody>
      </p:sp>
      <p:sp>
        <p:nvSpPr>
          <p:cNvPr id="154" name="Google Shape;154;p17"/>
          <p:cNvSpPr txBox="1"/>
          <p:nvPr/>
        </p:nvSpPr>
        <p:spPr>
          <a:xfrm>
            <a:off x="4434840" y="2148840"/>
            <a:ext cx="32004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Enterprise sources (SharePoint, Confluence, file servers, databases) are siloed — not unified for search or audit.</a:t>
            </a:r>
            <a:endParaRPr sz="1600"/>
          </a:p>
        </p:txBody>
      </p:sp>
      <p:sp>
        <p:nvSpPr>
          <p:cNvPr id="155" name="Google Shape;155;p17"/>
          <p:cNvSpPr/>
          <p:nvPr/>
        </p:nvSpPr>
        <p:spPr>
          <a:xfrm>
            <a:off x="8046720" y="141732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8183880" y="155448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92400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8183880" y="155448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8732520" y="16002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Weak Automation</a:t>
            </a:r>
            <a:endParaRPr sz="1800"/>
          </a:p>
        </p:txBody>
      </p:sp>
      <p:sp>
        <p:nvSpPr>
          <p:cNvPr id="159" name="Google Shape;159;p17"/>
          <p:cNvSpPr txBox="1"/>
          <p:nvPr/>
        </p:nvSpPr>
        <p:spPr>
          <a:xfrm>
            <a:off x="8229600" y="2148840"/>
            <a:ext cx="32004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Completeness checks and resubmission loops require heavy manual intervention; no automated validation pipeline.</a:t>
            </a:r>
            <a:endParaRPr sz="1600"/>
          </a:p>
        </p:txBody>
      </p:sp>
      <p:sp>
        <p:nvSpPr>
          <p:cNvPr id="160" name="Google Shape;160;p17"/>
          <p:cNvSpPr/>
          <p:nvPr/>
        </p:nvSpPr>
        <p:spPr>
          <a:xfrm>
            <a:off x="457200" y="388620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594360" y="402336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B91C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594360" y="402336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1143000" y="40690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Heavy Manual Review</a:t>
            </a:r>
            <a:endParaRPr sz="1800"/>
          </a:p>
        </p:txBody>
      </p:sp>
      <p:sp>
        <p:nvSpPr>
          <p:cNvPr id="164" name="Google Shape;164;p17"/>
          <p:cNvSpPr txBox="1"/>
          <p:nvPr/>
        </p:nvSpPr>
        <p:spPr>
          <a:xfrm>
            <a:off x="640080" y="4617720"/>
            <a:ext cx="32004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Reviewers must read every handover document in full to produce audit results — extremely time-consuming.</a:t>
            </a:r>
            <a:endParaRPr sz="1600"/>
          </a:p>
        </p:txBody>
      </p:sp>
      <p:sp>
        <p:nvSpPr>
          <p:cNvPr id="165" name="Google Shape;165;p17"/>
          <p:cNvSpPr/>
          <p:nvPr/>
        </p:nvSpPr>
        <p:spPr>
          <a:xfrm>
            <a:off x="4251960" y="388620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4389120" y="402336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9A33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4389120" y="402336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4937760" y="40690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A3312"/>
                </a:solidFill>
                <a:latin typeface="Calibri"/>
                <a:ea typeface="Calibri"/>
                <a:cs typeface="Calibri"/>
                <a:sym typeface="Calibri"/>
              </a:rPr>
              <a:t>Missing Feedback Loop</a:t>
            </a:r>
            <a:endParaRPr sz="1800"/>
          </a:p>
        </p:txBody>
      </p:sp>
      <p:sp>
        <p:nvSpPr>
          <p:cNvPr id="169" name="Google Shape;169;p17"/>
          <p:cNvSpPr txBox="1"/>
          <p:nvPr/>
        </p:nvSpPr>
        <p:spPr>
          <a:xfrm>
            <a:off x="4434840" y="4617720"/>
            <a:ext cx="32004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No mechanism to learn from user corrections or improve AI quality over time.</a:t>
            </a:r>
            <a:endParaRPr sz="1600"/>
          </a:p>
        </p:txBody>
      </p:sp>
      <p:sp>
        <p:nvSpPr>
          <p:cNvPr id="170" name="Google Shape;170;p17"/>
          <p:cNvSpPr/>
          <p:nvPr/>
        </p:nvSpPr>
        <p:spPr>
          <a:xfrm>
            <a:off x="8046720" y="3886200"/>
            <a:ext cx="3612000" cy="219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8183880" y="4023360"/>
            <a:ext cx="411600" cy="411600"/>
          </a:xfrm>
          <a:prstGeom prst="roundRect">
            <a:avLst>
              <a:gd fmla="val 16667" name="adj"/>
            </a:avLst>
          </a:prstGeom>
          <a:solidFill>
            <a:srgbClr val="85470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8183880" y="4023360"/>
            <a:ext cx="41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8732520" y="40690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5470D"/>
                </a:solidFill>
                <a:latin typeface="Calibri"/>
                <a:ea typeface="Calibri"/>
                <a:cs typeface="Calibri"/>
                <a:sym typeface="Calibri"/>
              </a:rPr>
              <a:t>No Expert Matching</a:t>
            </a:r>
            <a:endParaRPr sz="1800"/>
          </a:p>
        </p:txBody>
      </p:sp>
      <p:sp>
        <p:nvSpPr>
          <p:cNvPr id="174" name="Google Shape;174;p17"/>
          <p:cNvSpPr txBox="1"/>
          <p:nvPr/>
        </p:nvSpPr>
        <p:spPr>
          <a:xfrm>
            <a:off x="8229600" y="4617720"/>
            <a:ext cx="32004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Difficult to quickly connect users to the right subject matter expert for audit issues.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Functional Requirements</a:t>
            </a:r>
            <a:endParaRPr/>
          </a:p>
        </p:txBody>
      </p:sp>
      <p:sp>
        <p:nvSpPr>
          <p:cNvPr id="181" name="Google Shape;181;p18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365760" y="137160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457200" y="148132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 txBox="1"/>
          <p:nvPr/>
        </p:nvSpPr>
        <p:spPr>
          <a:xfrm>
            <a:off x="457200" y="148132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FR-1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1188720" y="1481328"/>
            <a:ext cx="265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User Authentication &amp; Access Control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502920" y="192024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Azure Entra ID, role-based access (Vendor / Customer)</a:t>
            </a: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206240" y="137160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4297680" y="148132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4297680" y="148132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FR-2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5029200" y="148132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Document Submission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4343400" y="192024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Upload handover documents from multiple enterprise sources</a:t>
            </a:r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8046720" y="137160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8138160" y="148132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8138160" y="148132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FR-3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8869680" y="148132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Document Processing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8183880" y="192024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Extract text &amp; structure via Azure Content Understanding</a:t>
            </a:r>
            <a:endParaRPr/>
          </a:p>
        </p:txBody>
      </p:sp>
      <p:sp>
        <p:nvSpPr>
          <p:cNvPr id="197" name="Google Shape;197;p18"/>
          <p:cNvSpPr/>
          <p:nvPr/>
        </p:nvSpPr>
        <p:spPr>
          <a:xfrm>
            <a:off x="365760" y="301752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457200" y="312724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 txBox="1"/>
          <p:nvPr/>
        </p:nvSpPr>
        <p:spPr>
          <a:xfrm>
            <a:off x="457200" y="312724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FR-4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1188720" y="312724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AI Audit Generation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502920" y="356616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AI-based pass/fail assessment with detailed comments</a:t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4206240" y="301752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4297680" y="312724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4297680" y="312724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FR-5</a:t>
            </a: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5029200" y="312724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Audit Review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4343400" y="356616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View results, make final accept/reject decisions</a:t>
            </a:r>
            <a:endParaRPr/>
          </a:p>
        </p:txBody>
      </p:sp>
      <p:sp>
        <p:nvSpPr>
          <p:cNvPr id="207" name="Google Shape;207;p18"/>
          <p:cNvSpPr/>
          <p:nvPr/>
        </p:nvSpPr>
        <p:spPr>
          <a:xfrm>
            <a:off x="8046720" y="301752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8138160" y="312724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8138160" y="312724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FR-6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8869680" y="312724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Audit Template Management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8183880" y="3566160"/>
            <a:ext cx="3383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Create, update, activate audit templates</a:t>
            </a:r>
            <a:endParaRPr/>
          </a:p>
        </p:txBody>
      </p:sp>
      <p:sp>
        <p:nvSpPr>
          <p:cNvPr id="212" name="Google Shape;212;p18"/>
          <p:cNvSpPr/>
          <p:nvPr/>
        </p:nvSpPr>
        <p:spPr>
          <a:xfrm>
            <a:off x="365760" y="466344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457200" y="477316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8"/>
          <p:cNvSpPr txBox="1"/>
          <p:nvPr/>
        </p:nvSpPr>
        <p:spPr>
          <a:xfrm>
            <a:off x="457200" y="477316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FR-7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1188720" y="477316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Search &amp; Summaries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502920" y="521208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Natural language query with source references</a:t>
            </a:r>
            <a:endParaRPr/>
          </a:p>
        </p:txBody>
      </p:sp>
      <p:sp>
        <p:nvSpPr>
          <p:cNvPr id="217" name="Google Shape;217;p18"/>
          <p:cNvSpPr/>
          <p:nvPr/>
        </p:nvSpPr>
        <p:spPr>
          <a:xfrm>
            <a:off x="4206240" y="466344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/>
          <p:nvPr/>
        </p:nvSpPr>
        <p:spPr>
          <a:xfrm>
            <a:off x="4297680" y="477316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 txBox="1"/>
          <p:nvPr/>
        </p:nvSpPr>
        <p:spPr>
          <a:xfrm>
            <a:off x="4297680" y="477316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FR-8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5029200" y="477316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Expert Identification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4343400" y="521208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Match documents to subject matter experts via HR directory</a:t>
            </a: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8046720" y="4663440"/>
            <a:ext cx="365760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/>
          <p:nvPr/>
        </p:nvSpPr>
        <p:spPr>
          <a:xfrm>
            <a:off x="8138160" y="4773168"/>
            <a:ext cx="64008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8138160" y="477316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FR-9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8869680" y="4773168"/>
            <a:ext cx="265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Learning from Interactions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8183880" y="5212080"/>
            <a:ext cx="3383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Capture feedback to improve search relevance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9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Non-Functional Requirements</a:t>
            </a:r>
            <a:endParaRPr/>
          </a:p>
        </p:txBody>
      </p:sp>
      <p:sp>
        <p:nvSpPr>
          <p:cNvPr id="233" name="Google Shape;233;p19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365760" y="1371600"/>
            <a:ext cx="27432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365760" y="1371600"/>
            <a:ext cx="2743200" cy="64008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502920" y="1417320"/>
            <a:ext cx="246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NFR-1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1800"/>
          </a:p>
        </p:txBody>
      </p:sp>
      <p:sp>
        <p:nvSpPr>
          <p:cNvPr id="237" name="Google Shape;237;p19"/>
          <p:cNvSpPr txBox="1"/>
          <p:nvPr/>
        </p:nvSpPr>
        <p:spPr>
          <a:xfrm>
            <a:off x="502920" y="214884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502920" y="2377440"/>
            <a:ext cx="2469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First token &lt; 2s (p95)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95% audits &lt; 10 min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End-to-end &lt; 15 min (p99)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502920" y="402336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Solution Approach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502920" y="4297680"/>
            <a:ext cx="2469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Streaming 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+ caching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Two-tier retrieval + precomputation</a:t>
            </a:r>
            <a:endParaRPr/>
          </a:p>
        </p:txBody>
      </p:sp>
      <p:sp>
        <p:nvSpPr>
          <p:cNvPr id="241" name="Google Shape;241;p19"/>
          <p:cNvSpPr/>
          <p:nvPr/>
        </p:nvSpPr>
        <p:spPr>
          <a:xfrm>
            <a:off x="3246120" y="1371600"/>
            <a:ext cx="27432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3246120" y="1371600"/>
            <a:ext cx="2743200" cy="640080"/>
          </a:xfrm>
          <a:prstGeom prst="roundRect">
            <a:avLst>
              <a:gd fmla="val 16667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383280" y="1417320"/>
            <a:ext cx="246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NFR-2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Scalability</a:t>
            </a:r>
            <a:endParaRPr sz="1800"/>
          </a:p>
        </p:txBody>
      </p:sp>
      <p:sp>
        <p:nvSpPr>
          <p:cNvPr id="244" name="Google Shape;244;p19"/>
          <p:cNvSpPr txBox="1"/>
          <p:nvPr/>
        </p:nvSpPr>
        <p:spPr>
          <a:xfrm>
            <a:off x="3383280" y="214884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383280" y="2377440"/>
            <a:ext cx="2469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500 document submissions/hour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50 concurrent queries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p95 latency &lt; 3s under burst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3383280" y="402336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Solution Approach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3383280" y="4297680"/>
            <a:ext cx="2469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Queue-depth autoscaling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Staged pipelines</a:t>
            </a:r>
            <a:endParaRPr/>
          </a:p>
        </p:txBody>
      </p:sp>
      <p:sp>
        <p:nvSpPr>
          <p:cNvPr id="248" name="Google Shape;248;p19"/>
          <p:cNvSpPr/>
          <p:nvPr/>
        </p:nvSpPr>
        <p:spPr>
          <a:xfrm>
            <a:off x="6126480" y="1371600"/>
            <a:ext cx="27432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9"/>
          <p:cNvSpPr/>
          <p:nvPr/>
        </p:nvSpPr>
        <p:spPr>
          <a:xfrm>
            <a:off x="6126480" y="1371600"/>
            <a:ext cx="2743200" cy="640080"/>
          </a:xfrm>
          <a:prstGeom prst="roundRect">
            <a:avLst>
              <a:gd fmla="val 16667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6263640" y="1417320"/>
            <a:ext cx="246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NFR-3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Availability</a:t>
            </a:r>
            <a:endParaRPr sz="1800"/>
          </a:p>
        </p:txBody>
      </p:sp>
      <p:sp>
        <p:nvSpPr>
          <p:cNvPr id="251" name="Google Shape;251;p19"/>
          <p:cNvSpPr txBox="1"/>
          <p:nvPr/>
        </p:nvSpPr>
        <p:spPr>
          <a:xfrm>
            <a:off x="6263640" y="214884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6263640" y="2377440"/>
            <a:ext cx="2469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99.9% monthly uptime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RTO &lt; 30 min, RPO &lt; 15 min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Zero silent data loss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6263640" y="402336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Solution Approach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6263640" y="4297680"/>
            <a:ext cx="2469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Managed, redundant services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Idempotent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retryable tasks</a:t>
            </a:r>
            <a:endParaRPr/>
          </a:p>
        </p:txBody>
      </p:sp>
      <p:sp>
        <p:nvSpPr>
          <p:cNvPr id="255" name="Google Shape;255;p19"/>
          <p:cNvSpPr/>
          <p:nvPr/>
        </p:nvSpPr>
        <p:spPr>
          <a:xfrm>
            <a:off x="9006840" y="1371600"/>
            <a:ext cx="27432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9"/>
          <p:cNvSpPr/>
          <p:nvPr/>
        </p:nvSpPr>
        <p:spPr>
          <a:xfrm>
            <a:off x="9006840" y="1371600"/>
            <a:ext cx="2743200" cy="640080"/>
          </a:xfrm>
          <a:prstGeom prst="roundRect">
            <a:avLst>
              <a:gd fmla="val 16667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9"/>
          <p:cNvSpPr txBox="1"/>
          <p:nvPr/>
        </p:nvSpPr>
        <p:spPr>
          <a:xfrm>
            <a:off x="9144000" y="1417320"/>
            <a:ext cx="246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NFR-4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Security</a:t>
            </a:r>
            <a:endParaRPr sz="1800"/>
          </a:p>
        </p:txBody>
      </p:sp>
      <p:sp>
        <p:nvSpPr>
          <p:cNvPr id="258" name="Google Shape;258;p19"/>
          <p:cNvSpPr txBox="1"/>
          <p:nvPr/>
        </p:nvSpPr>
        <p:spPr>
          <a:xfrm>
            <a:off x="9144000" y="214884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/>
          </a:p>
        </p:txBody>
      </p:sp>
      <p:sp>
        <p:nvSpPr>
          <p:cNvPr id="259" name="Google Shape;259;p19"/>
          <p:cNvSpPr txBox="1"/>
          <p:nvPr/>
        </p:nvSpPr>
        <p:spPr>
          <a:xfrm>
            <a:off x="9144000" y="2377440"/>
            <a:ext cx="2469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Encrypted data in transit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Sensitive fields encrypted at rest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Secret never stored in code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 public service exposure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9144000" y="4023360"/>
            <a:ext cx="246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Solution Approach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9144000" y="4297680"/>
            <a:ext cx="2469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Identity + secrets hygiene</a:t>
            </a:r>
            <a:b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Private networking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0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Constraints &amp; Assumptions</a:t>
            </a:r>
            <a:endParaRPr/>
          </a:p>
        </p:txBody>
      </p:sp>
      <p:sp>
        <p:nvSpPr>
          <p:cNvPr id="268" name="Google Shape;268;p20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/>
          <p:nvPr/>
        </p:nvSpPr>
        <p:spPr>
          <a:xfrm>
            <a:off x="365760" y="1371600"/>
            <a:ext cx="54864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365760" y="1371600"/>
            <a:ext cx="5486400" cy="457200"/>
          </a:xfrm>
          <a:prstGeom prst="roundRect">
            <a:avLst>
              <a:gd fmla="val 16667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0"/>
          <p:cNvSpPr txBox="1"/>
          <p:nvPr/>
        </p:nvSpPr>
        <p:spPr>
          <a:xfrm>
            <a:off x="548640" y="1389888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Constraints</a:t>
            </a:r>
            <a:endParaRPr sz="1800"/>
          </a:p>
        </p:txBody>
      </p:sp>
      <p:sp>
        <p:nvSpPr>
          <p:cNvPr id="272" name="Google Shape;272;p20"/>
          <p:cNvSpPr txBox="1"/>
          <p:nvPr/>
        </p:nvSpPr>
        <p:spPr>
          <a:xfrm>
            <a:off x="548640" y="2011680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Entra ID is the mandatory identity provider</a:t>
            </a:r>
            <a:endParaRPr/>
          </a:p>
        </p:txBody>
      </p:sp>
      <p:sp>
        <p:nvSpPr>
          <p:cNvPr id="273" name="Google Shape;273;p20"/>
          <p:cNvSpPr txBox="1"/>
          <p:nvPr/>
        </p:nvSpPr>
        <p:spPr>
          <a:xfrm>
            <a:off x="548640" y="2560320"/>
            <a:ext cx="512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Supported sources: SharePoint, Confluence, file servers, internal databases</a:t>
            </a:r>
            <a:endParaRPr/>
          </a:p>
        </p:txBody>
      </p:sp>
      <p:sp>
        <p:nvSpPr>
          <p:cNvPr id="274" name="Google Shape;274;p20"/>
          <p:cNvSpPr txBox="1"/>
          <p:nvPr/>
        </p:nvSpPr>
        <p:spPr>
          <a:xfrm>
            <a:off x="548640" y="3108960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Backend: Python— Frontend: JavaScript</a:t>
            </a:r>
            <a:endParaRPr/>
          </a:p>
        </p:txBody>
      </p:sp>
      <p:sp>
        <p:nvSpPr>
          <p:cNvPr id="275" name="Google Shape;275;p20"/>
          <p:cNvSpPr txBox="1"/>
          <p:nvPr/>
        </p:nvSpPr>
        <p:spPr>
          <a:xfrm>
            <a:off x="548640" y="3657599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Browsers: Chrome 130+ and Edge 130+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548640" y="4206240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Go-live within 3 calendar months; phase variance ≤ 10%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548640" y="4754880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Cloud cost cap: USD 5,000/month with alerts at 80/90/100%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548640" y="5303519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No direct modification of source documents during processing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548640" y="5852160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Approved file formats &amp; configured size limits only</a:t>
            </a: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6217920" y="1371600"/>
            <a:ext cx="548640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0"/>
          <p:cNvSpPr/>
          <p:nvPr/>
        </p:nvSpPr>
        <p:spPr>
          <a:xfrm>
            <a:off x="6217920" y="1371600"/>
            <a:ext cx="5486400" cy="4572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6400800" y="1389888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Assumptions</a:t>
            </a:r>
            <a:endParaRPr sz="1800"/>
          </a:p>
        </p:txBody>
      </p:sp>
      <p:sp>
        <p:nvSpPr>
          <p:cNvPr id="283" name="Google Shape;283;p20"/>
          <p:cNvSpPr txBox="1"/>
          <p:nvPr/>
        </p:nvSpPr>
        <p:spPr>
          <a:xfrm>
            <a:off x="6400800" y="2011680"/>
            <a:ext cx="512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Users have valid Azure Entra ID accounts with correct organizational roles</a:t>
            </a:r>
            <a:endParaRPr/>
          </a:p>
        </p:txBody>
      </p:sp>
      <p:sp>
        <p:nvSpPr>
          <p:cNvPr id="284" name="Google Shape;284;p20"/>
          <p:cNvSpPr txBox="1"/>
          <p:nvPr/>
        </p:nvSpPr>
        <p:spPr>
          <a:xfrm>
            <a:off x="6400800" y="2670048"/>
            <a:ext cx="512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Enterprise content sources are available &amp; configured with correct permissions</a:t>
            </a:r>
            <a:endParaRPr/>
          </a:p>
        </p:txBody>
      </p:sp>
      <p:sp>
        <p:nvSpPr>
          <p:cNvPr id="285" name="Google Shape;285;p20"/>
          <p:cNvSpPr txBox="1"/>
          <p:nvPr/>
        </p:nvSpPr>
        <p:spPr>
          <a:xfrm>
            <a:off x="6400800" y="3328416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Documents are in approved formats suitable for text extraction</a:t>
            </a:r>
            <a:endParaRPr/>
          </a:p>
        </p:txBody>
      </p:sp>
      <p:sp>
        <p:nvSpPr>
          <p:cNvPr id="286" name="Google Shape;286;p20"/>
          <p:cNvSpPr txBox="1"/>
          <p:nvPr/>
        </p:nvSpPr>
        <p:spPr>
          <a:xfrm>
            <a:off x="6400800" y="3986784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AI services available with sufficient capacity</a:t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6400800" y="4645152"/>
            <a:ext cx="512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Customer provides authoritative audit templates &amp; expert directory data</a:t>
            </a:r>
            <a:endParaRPr/>
          </a:p>
        </p:txBody>
      </p:sp>
      <p:sp>
        <p:nvSpPr>
          <p:cNvPr id="288" name="Google Shape;288;p20"/>
          <p:cNvSpPr txBox="1"/>
          <p:nvPr/>
        </p:nvSpPr>
        <p:spPr>
          <a:xfrm>
            <a:off x="6400800" y="5303519"/>
            <a:ext cx="512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Users will review AI outputs before final accept/reject decisions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1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Solution Architecture — 4+1 View Model</a:t>
            </a:r>
            <a:endParaRPr/>
          </a:p>
        </p:txBody>
      </p:sp>
      <p:sp>
        <p:nvSpPr>
          <p:cNvPr id="295" name="Google Shape;295;p21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Comprehensive architecture using the 4+1 architectural view model</a:t>
            </a:r>
            <a:endParaRPr sz="1800"/>
          </a:p>
        </p:txBody>
      </p:sp>
      <p:sp>
        <p:nvSpPr>
          <p:cNvPr id="296" name="Google Shape;296;p21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1"/>
          <p:cNvSpPr/>
          <p:nvPr/>
        </p:nvSpPr>
        <p:spPr>
          <a:xfrm>
            <a:off x="274320" y="1463040"/>
            <a:ext cx="2194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175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1"/>
          <p:cNvSpPr/>
          <p:nvPr/>
        </p:nvSpPr>
        <p:spPr>
          <a:xfrm>
            <a:off x="274320" y="1463040"/>
            <a:ext cx="2194560" cy="59436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 txBox="1"/>
          <p:nvPr/>
        </p:nvSpPr>
        <p:spPr>
          <a:xfrm>
            <a:off x="365760" y="1508760"/>
            <a:ext cx="201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+1 Use Case View</a:t>
            </a:r>
            <a:endParaRPr sz="1800"/>
          </a:p>
        </p:txBody>
      </p:sp>
      <p:sp>
        <p:nvSpPr>
          <p:cNvPr id="300" name="Google Shape;300;p21"/>
          <p:cNvSpPr txBox="1"/>
          <p:nvPr/>
        </p:nvSpPr>
        <p:spPr>
          <a:xfrm>
            <a:off x="411480" y="2286000"/>
            <a:ext cx="192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Use Case Diagram</a:t>
            </a:r>
            <a:endParaRPr sz="1600"/>
          </a:p>
        </p:txBody>
      </p:sp>
      <p:sp>
        <p:nvSpPr>
          <p:cNvPr id="301" name="Google Shape;301;p21"/>
          <p:cNvSpPr/>
          <p:nvPr/>
        </p:nvSpPr>
        <p:spPr>
          <a:xfrm>
            <a:off x="411480" y="5120640"/>
            <a:ext cx="1920240" cy="8229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 txBox="1"/>
          <p:nvPr/>
        </p:nvSpPr>
        <p:spPr>
          <a:xfrm>
            <a:off x="457200" y="5166360"/>
            <a:ext cx="1828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Captures WHAT</a:t>
            </a:r>
            <a:b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the system does</a:t>
            </a:r>
            <a:endParaRPr sz="1600"/>
          </a:p>
        </p:txBody>
      </p:sp>
      <p:sp>
        <p:nvSpPr>
          <p:cNvPr id="303" name="Google Shape;303;p21"/>
          <p:cNvSpPr/>
          <p:nvPr/>
        </p:nvSpPr>
        <p:spPr>
          <a:xfrm>
            <a:off x="2606040" y="1463040"/>
            <a:ext cx="2194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1750">
            <a:solidFill>
              <a:srgbClr val="1155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1"/>
          <p:cNvSpPr/>
          <p:nvPr/>
        </p:nvSpPr>
        <p:spPr>
          <a:xfrm>
            <a:off x="2606040" y="1463040"/>
            <a:ext cx="2194560" cy="59436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2697480" y="1508760"/>
            <a:ext cx="201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Logical View</a:t>
            </a:r>
            <a:endParaRPr sz="1800"/>
          </a:p>
        </p:txBody>
      </p:sp>
      <p:sp>
        <p:nvSpPr>
          <p:cNvPr id="306" name="Google Shape;306;p21"/>
          <p:cNvSpPr txBox="1"/>
          <p:nvPr/>
        </p:nvSpPr>
        <p:spPr>
          <a:xfrm>
            <a:off x="2606050" y="2286000"/>
            <a:ext cx="233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 Context Diagram</a:t>
            </a:r>
            <a:endParaRPr sz="1600"/>
          </a:p>
        </p:txBody>
      </p:sp>
      <p:sp>
        <p:nvSpPr>
          <p:cNvPr id="307" name="Google Shape;307;p21"/>
          <p:cNvSpPr/>
          <p:nvPr/>
        </p:nvSpPr>
        <p:spPr>
          <a:xfrm>
            <a:off x="2743200" y="5120640"/>
            <a:ext cx="1920240" cy="8229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1"/>
          <p:cNvSpPr txBox="1"/>
          <p:nvPr/>
        </p:nvSpPr>
        <p:spPr>
          <a:xfrm>
            <a:off x="2788920" y="5166360"/>
            <a:ext cx="1828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Captures HOW</a:t>
            </a:r>
            <a:b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the system is structured</a:t>
            </a:r>
            <a:endParaRPr sz="1600"/>
          </a:p>
        </p:txBody>
      </p:sp>
      <p:sp>
        <p:nvSpPr>
          <p:cNvPr id="309" name="Google Shape;309;p21"/>
          <p:cNvSpPr/>
          <p:nvPr/>
        </p:nvSpPr>
        <p:spPr>
          <a:xfrm>
            <a:off x="4937760" y="1463040"/>
            <a:ext cx="2194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175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4937760" y="1463040"/>
            <a:ext cx="2194560" cy="594360"/>
          </a:xfrm>
          <a:prstGeom prst="roundRect">
            <a:avLst>
              <a:gd fmla="val 16667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 txBox="1"/>
          <p:nvPr/>
        </p:nvSpPr>
        <p:spPr>
          <a:xfrm>
            <a:off x="5029200" y="1508760"/>
            <a:ext cx="201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 View</a:t>
            </a:r>
            <a:endParaRPr sz="1800"/>
          </a:p>
        </p:txBody>
      </p:sp>
      <p:sp>
        <p:nvSpPr>
          <p:cNvPr id="312" name="Google Shape;312;p21"/>
          <p:cNvSpPr txBox="1"/>
          <p:nvPr/>
        </p:nvSpPr>
        <p:spPr>
          <a:xfrm>
            <a:off x="5074920" y="2286000"/>
            <a:ext cx="19203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Activity Diagrams</a:t>
            </a:r>
            <a:b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 key workflows</a:t>
            </a:r>
            <a:endParaRPr b="0" i="0" sz="1600" u="none" cap="none" strike="noStrik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Swim-lane notation</a:t>
            </a:r>
            <a:endParaRPr sz="16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1"/>
          <p:cNvSpPr/>
          <p:nvPr/>
        </p:nvSpPr>
        <p:spPr>
          <a:xfrm>
            <a:off x="5074920" y="5120640"/>
            <a:ext cx="1920240" cy="8229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5120640" y="5166360"/>
            <a:ext cx="1828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Captures HOW</a:t>
            </a:r>
            <a:b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the system behaves</a:t>
            </a:r>
            <a:endParaRPr sz="1600"/>
          </a:p>
        </p:txBody>
      </p:sp>
      <p:sp>
        <p:nvSpPr>
          <p:cNvPr id="315" name="Google Shape;315;p21"/>
          <p:cNvSpPr/>
          <p:nvPr/>
        </p:nvSpPr>
        <p:spPr>
          <a:xfrm>
            <a:off x="7269479" y="1463040"/>
            <a:ext cx="2194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17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7269479" y="1463040"/>
            <a:ext cx="2194560" cy="594360"/>
          </a:xfrm>
          <a:prstGeom prst="roundRect">
            <a:avLst>
              <a:gd fmla="val 16667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1"/>
          <p:cNvSpPr txBox="1"/>
          <p:nvPr/>
        </p:nvSpPr>
        <p:spPr>
          <a:xfrm>
            <a:off x="7360919" y="1508760"/>
            <a:ext cx="201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Development View</a:t>
            </a:r>
            <a:endParaRPr sz="1800"/>
          </a:p>
        </p:txBody>
      </p:sp>
      <p:sp>
        <p:nvSpPr>
          <p:cNvPr id="318" name="Google Shape;318;p21"/>
          <p:cNvSpPr txBox="1"/>
          <p:nvPr/>
        </p:nvSpPr>
        <p:spPr>
          <a:xfrm>
            <a:off x="7406639" y="2286000"/>
            <a:ext cx="1920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Container Diagram</a:t>
            </a:r>
            <a:br>
              <a:rPr lang="en-US" sz="16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4 functional zones</a:t>
            </a:r>
            <a:endParaRPr sz="1600"/>
          </a:p>
        </p:txBody>
      </p:sp>
      <p:sp>
        <p:nvSpPr>
          <p:cNvPr id="319" name="Google Shape;319;p21"/>
          <p:cNvSpPr/>
          <p:nvPr/>
        </p:nvSpPr>
        <p:spPr>
          <a:xfrm>
            <a:off x="7406639" y="5120640"/>
            <a:ext cx="1920240" cy="8229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1"/>
          <p:cNvSpPr txBox="1"/>
          <p:nvPr/>
        </p:nvSpPr>
        <p:spPr>
          <a:xfrm>
            <a:off x="7452359" y="5166360"/>
            <a:ext cx="1828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Captures HOW</a:t>
            </a:r>
            <a:b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the system is built</a:t>
            </a:r>
            <a:endParaRPr sz="1600"/>
          </a:p>
        </p:txBody>
      </p:sp>
      <p:sp>
        <p:nvSpPr>
          <p:cNvPr id="321" name="Google Shape;321;p21"/>
          <p:cNvSpPr/>
          <p:nvPr/>
        </p:nvSpPr>
        <p:spPr>
          <a:xfrm>
            <a:off x="9601200" y="1463040"/>
            <a:ext cx="2194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1750">
            <a:solidFill>
              <a:srgbClr val="9240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1"/>
          <p:cNvSpPr/>
          <p:nvPr/>
        </p:nvSpPr>
        <p:spPr>
          <a:xfrm>
            <a:off x="9601200" y="1463040"/>
            <a:ext cx="2194560" cy="594360"/>
          </a:xfrm>
          <a:prstGeom prst="roundRect">
            <a:avLst>
              <a:gd fmla="val 16667" name="adj"/>
            </a:avLst>
          </a:prstGeom>
          <a:solidFill>
            <a:srgbClr val="92400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 txBox="1"/>
          <p:nvPr/>
        </p:nvSpPr>
        <p:spPr>
          <a:xfrm>
            <a:off x="9692640" y="1508760"/>
            <a:ext cx="201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Physical View</a:t>
            </a:r>
            <a:endParaRPr sz="1800"/>
          </a:p>
        </p:txBody>
      </p:sp>
      <p:sp>
        <p:nvSpPr>
          <p:cNvPr id="324" name="Google Shape;324;p21"/>
          <p:cNvSpPr txBox="1"/>
          <p:nvPr/>
        </p:nvSpPr>
        <p:spPr>
          <a:xfrm>
            <a:off x="9738349" y="2286000"/>
            <a:ext cx="219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Deployment Diagram</a:t>
            </a:r>
            <a:endParaRPr sz="1600"/>
          </a:p>
        </p:txBody>
      </p:sp>
      <p:sp>
        <p:nvSpPr>
          <p:cNvPr id="325" name="Google Shape;325;p21"/>
          <p:cNvSpPr/>
          <p:nvPr/>
        </p:nvSpPr>
        <p:spPr>
          <a:xfrm>
            <a:off x="9738360" y="5120640"/>
            <a:ext cx="1920240" cy="8229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1"/>
          <p:cNvSpPr txBox="1"/>
          <p:nvPr/>
        </p:nvSpPr>
        <p:spPr>
          <a:xfrm>
            <a:off x="9784080" y="5166360"/>
            <a:ext cx="1828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Captures WHERE</a:t>
            </a:r>
            <a:b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the system runs</a:t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2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 Case Diagram</a:t>
            </a:r>
            <a:endParaRPr/>
          </a:p>
        </p:txBody>
      </p:sp>
      <p:sp>
        <p:nvSpPr>
          <p:cNvPr id="333" name="Google Shape;333;p22"/>
          <p:cNvSpPr txBox="1"/>
          <p:nvPr/>
        </p:nvSpPr>
        <p:spPr>
          <a:xfrm>
            <a:off x="548640" y="640080"/>
            <a:ext cx="1097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2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5" name="Google Shape;3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6714" y="1254760"/>
            <a:ext cx="7444940" cy="54508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3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3"/>
          <p:cNvSpPr/>
          <p:nvPr/>
        </p:nvSpPr>
        <p:spPr>
          <a:xfrm>
            <a:off x="546085" y="152400"/>
            <a:ext cx="7890900" cy="2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9589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System Context </a:t>
            </a:r>
            <a:r>
              <a:rPr b="1" lang="en-US" sz="17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3"/>
          <p:cNvSpPr/>
          <p:nvPr/>
        </p:nvSpPr>
        <p:spPr>
          <a:xfrm>
            <a:off x="698481" y="1333500"/>
            <a:ext cx="10794600" cy="5270700"/>
          </a:xfrm>
          <a:prstGeom prst="roundRect">
            <a:avLst>
              <a:gd fmla="val 2410" name="adj"/>
            </a:avLst>
          </a:prstGeom>
          <a:solidFill>
            <a:srgbClr val="FAFAFA"/>
          </a:solidFill>
          <a:ln cap="flat" cmpd="sng" w="6350">
            <a:solidFill>
              <a:srgbClr val="DADF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45" name="Google Shape;345;p23" title="[tobe]system_context_diagram.png"/>
          <p:cNvPicPr preferRelativeResize="0"/>
          <p:nvPr/>
        </p:nvPicPr>
        <p:blipFill rotWithShape="1">
          <a:blip r:embed="rId3">
            <a:alphaModFix/>
          </a:blip>
          <a:srcRect b="21278" l="0" r="0" t="0"/>
          <a:stretch/>
        </p:blipFill>
        <p:spPr>
          <a:xfrm>
            <a:off x="1606074" y="1339850"/>
            <a:ext cx="8979523" cy="5270601"/>
          </a:xfrm>
          <a:prstGeom prst="rect">
            <a:avLst/>
          </a:prstGeom>
          <a:solidFill>
            <a:srgbClr val="FAFAFA"/>
          </a:solidFill>
          <a:ln cap="flat" cmpd="sng" w="6350">
            <a:solidFill>
              <a:srgbClr val="DADFE5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46" name="Google Shape;346;p23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3"/>
          <p:cNvSpPr/>
          <p:nvPr/>
        </p:nvSpPr>
        <p:spPr>
          <a:xfrm>
            <a:off x="546085" y="152400"/>
            <a:ext cx="7890900" cy="2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9589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System Context </a:t>
            </a:r>
            <a:r>
              <a:rPr b="1" lang="en-US" sz="17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</a:t>
            </a: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/>
          <p:nvPr/>
        </p:nvSpPr>
        <p:spPr>
          <a:xfrm>
            <a:off x="546075" y="660400"/>
            <a:ext cx="10510800" cy="2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AS-IS integrated with one external system (Azure Entra ID) · the four gold-bordered systems are the entire TO-BE scope increase</a:t>
            </a:r>
            <a:endParaRPr b="0" i="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4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4"/>
          <p:cNvSpPr/>
          <p:nvPr/>
        </p:nvSpPr>
        <p:spPr>
          <a:xfrm>
            <a:off x="546075" y="152400"/>
            <a:ext cx="35190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Container Diagram — Full View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4"/>
          <p:cNvSpPr/>
          <p:nvPr/>
        </p:nvSpPr>
        <p:spPr>
          <a:xfrm>
            <a:off x="546065" y="660400"/>
            <a:ext cx="63390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Reference for walking through the end-to-end request flow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4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4"/>
          <p:cNvSpPr/>
          <p:nvPr/>
        </p:nvSpPr>
        <p:spPr>
          <a:xfrm>
            <a:off x="698481" y="1333500"/>
            <a:ext cx="10794600" cy="5270700"/>
          </a:xfrm>
          <a:prstGeom prst="roundRect">
            <a:avLst>
              <a:gd fmla="val 2410" name="adj"/>
            </a:avLst>
          </a:prstGeom>
          <a:solidFill>
            <a:srgbClr val="FAFAFA"/>
          </a:solidFill>
          <a:ln cap="flat" cmpd="sng" w="6350">
            <a:solidFill>
              <a:srgbClr val="DADF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9" name="Google Shape;35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0234" y="1466850"/>
            <a:ext cx="7631155" cy="5003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25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5"/>
          <p:cNvSpPr/>
          <p:nvPr/>
        </p:nvSpPr>
        <p:spPr>
          <a:xfrm>
            <a:off x="546085" y="152400"/>
            <a:ext cx="44598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Container Diagram — Functional Zones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5"/>
          <p:cNvSpPr/>
          <p:nvPr/>
        </p:nvSpPr>
        <p:spPr>
          <a:xfrm>
            <a:off x="546069" y="660400"/>
            <a:ext cx="73362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Follow a request across four zones · solid color = AS-IS · gold border = new in TO-BE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5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5"/>
          <p:cNvSpPr/>
          <p:nvPr/>
        </p:nvSpPr>
        <p:spPr>
          <a:xfrm>
            <a:off x="273043" y="1371600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5"/>
          <p:cNvSpPr/>
          <p:nvPr/>
        </p:nvSpPr>
        <p:spPr>
          <a:xfrm>
            <a:off x="368290" y="1397000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5"/>
          <p:cNvSpPr/>
          <p:nvPr/>
        </p:nvSpPr>
        <p:spPr>
          <a:xfrm>
            <a:off x="329239" y="1397000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3A66"/>
              </a:buClr>
              <a:buSzPts val="900"/>
              <a:buFont typeface="Arimo"/>
              <a:buNone/>
            </a:pPr>
            <a:r>
              <a:rPr b="1" i="0" lang="en-US" u="none" cap="none" strike="noStrike">
                <a:solidFill>
                  <a:srgbClr val="0E3A66"/>
                </a:solidFill>
                <a:latin typeface="Arimo"/>
                <a:ea typeface="Arimo"/>
                <a:cs typeface="Arimo"/>
                <a:sym typeface="Arimo"/>
              </a:rPr>
              <a:t>1 · Experience &amp; Access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5"/>
          <p:cNvSpPr/>
          <p:nvPr/>
        </p:nvSpPr>
        <p:spPr>
          <a:xfrm>
            <a:off x="412739" y="201295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25"/>
          <p:cNvSpPr/>
          <p:nvPr/>
        </p:nvSpPr>
        <p:spPr>
          <a:xfrm>
            <a:off x="558785" y="213360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Frontend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5"/>
          <p:cNvSpPr/>
          <p:nvPr/>
        </p:nvSpPr>
        <p:spPr>
          <a:xfrm>
            <a:off x="558785" y="231775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[JavaScript, React]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5"/>
          <p:cNvSpPr/>
          <p:nvPr/>
        </p:nvSpPr>
        <p:spPr>
          <a:xfrm>
            <a:off x="558785" y="247967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Conversational + audit UI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5"/>
          <p:cNvSpPr/>
          <p:nvPr/>
        </p:nvSpPr>
        <p:spPr>
          <a:xfrm>
            <a:off x="412739" y="342900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25"/>
          <p:cNvSpPr/>
          <p:nvPr/>
        </p:nvSpPr>
        <p:spPr>
          <a:xfrm>
            <a:off x="558785" y="354965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Backend Service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5"/>
          <p:cNvSpPr/>
          <p:nvPr/>
        </p:nvSpPr>
        <p:spPr>
          <a:xfrm>
            <a:off x="558785" y="373380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[Python, FastAPI]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5"/>
          <p:cNvSpPr/>
          <p:nvPr/>
        </p:nvSpPr>
        <p:spPr>
          <a:xfrm>
            <a:off x="558785" y="389572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Orchestrates requests, checks role per action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0" name="Google Shape;38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3843" y="1535825"/>
            <a:ext cx="8826236" cy="4700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6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6"/>
          <p:cNvSpPr/>
          <p:nvPr/>
        </p:nvSpPr>
        <p:spPr>
          <a:xfrm>
            <a:off x="546085" y="152400"/>
            <a:ext cx="44598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Container Diagram — Functional Zones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6"/>
          <p:cNvSpPr/>
          <p:nvPr/>
        </p:nvSpPr>
        <p:spPr>
          <a:xfrm>
            <a:off x="546067" y="660400"/>
            <a:ext cx="84963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Follow a request across four zones · solid color = AS-IS · gold border = new in TO-BE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6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6"/>
          <p:cNvSpPr/>
          <p:nvPr/>
        </p:nvSpPr>
        <p:spPr>
          <a:xfrm>
            <a:off x="281659" y="1453783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6"/>
          <p:cNvSpPr/>
          <p:nvPr/>
        </p:nvSpPr>
        <p:spPr>
          <a:xfrm>
            <a:off x="376907" y="1479183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6"/>
          <p:cNvSpPr/>
          <p:nvPr/>
        </p:nvSpPr>
        <p:spPr>
          <a:xfrm>
            <a:off x="337855" y="1479183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900"/>
              <a:buFont typeface="Arimo"/>
              <a:buNone/>
            </a:pPr>
            <a:r>
              <a:rPr b="1" i="0" lang="en-US" u="none" cap="none" strike="noStrike">
                <a:solidFill>
                  <a:srgbClr val="0F766E"/>
                </a:solidFill>
                <a:latin typeface="Arimo"/>
                <a:ea typeface="Arimo"/>
                <a:cs typeface="Arimo"/>
                <a:sym typeface="Arimo"/>
              </a:rPr>
              <a:t>2 · Ingestion &amp; Processing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6"/>
          <p:cNvSpPr/>
          <p:nvPr/>
        </p:nvSpPr>
        <p:spPr>
          <a:xfrm>
            <a:off x="421355" y="2095133"/>
            <a:ext cx="2514600" cy="1079400"/>
          </a:xfrm>
          <a:prstGeom prst="roundRect">
            <a:avLst>
              <a:gd fmla="val 9412" name="adj"/>
            </a:avLst>
          </a:prstGeom>
          <a:solidFill>
            <a:srgbClr val="0F766E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6"/>
          <p:cNvSpPr/>
          <p:nvPr/>
        </p:nvSpPr>
        <p:spPr>
          <a:xfrm>
            <a:off x="2531633" y="2031633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6"/>
          <p:cNvSpPr/>
          <p:nvPr/>
        </p:nvSpPr>
        <p:spPr>
          <a:xfrm>
            <a:off x="2595131" y="2057033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6"/>
          <p:cNvSpPr/>
          <p:nvPr/>
        </p:nvSpPr>
        <p:spPr>
          <a:xfrm>
            <a:off x="573751" y="2222133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Ingestion &amp; Processing Service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6"/>
          <p:cNvSpPr/>
          <p:nvPr/>
        </p:nvSpPr>
        <p:spPr>
          <a:xfrm>
            <a:off x="573751" y="2406283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F2EE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9F2EE"/>
                </a:solidFill>
                <a:latin typeface="Arimo"/>
                <a:ea typeface="Arimo"/>
                <a:cs typeface="Arimo"/>
                <a:sym typeface="Arimo"/>
              </a:rPr>
              <a:t>[Python, Celery]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6"/>
          <p:cNvSpPr/>
          <p:nvPr/>
        </p:nvSpPr>
        <p:spPr>
          <a:xfrm>
            <a:off x="573751" y="2568209"/>
            <a:ext cx="24306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9F2EE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9F2EE"/>
                </a:solidFill>
                <a:latin typeface="Arimo"/>
                <a:ea typeface="Arimo"/>
                <a:cs typeface="Arimo"/>
                <a:sym typeface="Arimo"/>
              </a:rPr>
              <a:t>Extract → chunk → embed → index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/>
          <p:nvPr/>
        </p:nvSpPr>
        <p:spPr>
          <a:xfrm>
            <a:off x="421355" y="3327033"/>
            <a:ext cx="2514600" cy="762000"/>
          </a:xfrm>
          <a:prstGeom prst="roundRect">
            <a:avLst>
              <a:gd fmla="val 13333" name="adj"/>
            </a:avLst>
          </a:prstGeom>
          <a:solidFill>
            <a:srgbClr val="0F766E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2531633" y="3263533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26"/>
          <p:cNvSpPr/>
          <p:nvPr/>
        </p:nvSpPr>
        <p:spPr>
          <a:xfrm>
            <a:off x="2595131" y="3288933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6"/>
          <p:cNvSpPr/>
          <p:nvPr/>
        </p:nvSpPr>
        <p:spPr>
          <a:xfrm>
            <a:off x="573751" y="3441333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Message Broker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6"/>
          <p:cNvSpPr/>
          <p:nvPr/>
        </p:nvSpPr>
        <p:spPr>
          <a:xfrm>
            <a:off x="573751" y="3625483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F2EE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9F2EE"/>
                </a:solidFill>
                <a:latin typeface="Arimo"/>
                <a:ea typeface="Arimo"/>
                <a:cs typeface="Arimo"/>
                <a:sym typeface="Arimo"/>
              </a:rPr>
              <a:t>[Redis] — carries ingestion tasks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6"/>
          <p:cNvSpPr/>
          <p:nvPr/>
        </p:nvSpPr>
        <p:spPr>
          <a:xfrm>
            <a:off x="421355" y="4241433"/>
            <a:ext cx="2514600" cy="952500"/>
          </a:xfrm>
          <a:prstGeom prst="roundRect">
            <a:avLst>
              <a:gd fmla="val 10667" name="adj"/>
            </a:avLst>
          </a:prstGeom>
          <a:solidFill>
            <a:srgbClr val="0F766E"/>
          </a:solidFill>
          <a:ln cap="flat" cmpd="sng" w="19050">
            <a:solidFill>
              <a:srgbClr val="0B57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26"/>
          <p:cNvSpPr/>
          <p:nvPr/>
        </p:nvSpPr>
        <p:spPr>
          <a:xfrm>
            <a:off x="567402" y="4362083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Document Storage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6"/>
          <p:cNvSpPr/>
          <p:nvPr/>
        </p:nvSpPr>
        <p:spPr>
          <a:xfrm>
            <a:off x="567402" y="4546233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F2EE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9F2EE"/>
                </a:solidFill>
                <a:latin typeface="Arimo"/>
                <a:ea typeface="Arimo"/>
                <a:cs typeface="Arimo"/>
                <a:sym typeface="Arimo"/>
              </a:rPr>
              <a:t>[Azure Blob Storage]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6"/>
          <p:cNvSpPr/>
          <p:nvPr/>
        </p:nvSpPr>
        <p:spPr>
          <a:xfrm>
            <a:off x="567402" y="4708159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9F2EE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D9F2EE"/>
                </a:solidFill>
                <a:latin typeface="Arimo"/>
                <a:ea typeface="Arimo"/>
                <a:cs typeface="Arimo"/>
                <a:sym typeface="Arimo"/>
              </a:rPr>
              <a:t>Uploaded handover docs, crawled source files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6"/>
          <p:cNvSpPr/>
          <p:nvPr/>
        </p:nvSpPr>
        <p:spPr>
          <a:xfrm>
            <a:off x="3100984" y="1580783"/>
            <a:ext cx="975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300"/>
              </a:buClr>
              <a:buSzPts val="1100"/>
              <a:buFont typeface="Arimo"/>
              <a:buNone/>
            </a:pPr>
            <a:r>
              <a:rPr b="1" i="0" lang="en-US" sz="1100" u="none" cap="none" strike="noStrike">
                <a:solidFill>
                  <a:srgbClr val="E0A300"/>
                </a:solidFill>
                <a:latin typeface="Arimo"/>
                <a:ea typeface="Arimo"/>
                <a:cs typeface="Arimo"/>
                <a:sym typeface="Arimo"/>
              </a:rPr>
              <a:t>›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9" name="Google Shape;40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3456" y="1453783"/>
            <a:ext cx="6020558" cy="500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7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546085" y="152400"/>
            <a:ext cx="44598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Container Diagram — Functional Zones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546069" y="660400"/>
            <a:ext cx="76821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Follow a request across four zones · solid color = AS-IS · gold border = new in TO-BE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7"/>
          <p:cNvSpPr/>
          <p:nvPr/>
        </p:nvSpPr>
        <p:spPr>
          <a:xfrm>
            <a:off x="273043" y="1371600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368290" y="1397000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7"/>
          <p:cNvSpPr/>
          <p:nvPr/>
        </p:nvSpPr>
        <p:spPr>
          <a:xfrm>
            <a:off x="329239" y="1397000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3A66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0E3A66"/>
                </a:solidFill>
                <a:latin typeface="Arimo"/>
                <a:ea typeface="Arimo"/>
                <a:cs typeface="Arimo"/>
                <a:sym typeface="Arimo"/>
              </a:rPr>
              <a:t>1 · Experience &amp; Access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/>
          <p:nvPr/>
        </p:nvSpPr>
        <p:spPr>
          <a:xfrm>
            <a:off x="412739" y="201295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7"/>
          <p:cNvSpPr/>
          <p:nvPr/>
        </p:nvSpPr>
        <p:spPr>
          <a:xfrm>
            <a:off x="558785" y="213360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Frontend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7"/>
          <p:cNvSpPr/>
          <p:nvPr/>
        </p:nvSpPr>
        <p:spPr>
          <a:xfrm>
            <a:off x="558785" y="231775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[JavaScript, React]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7"/>
          <p:cNvSpPr/>
          <p:nvPr/>
        </p:nvSpPr>
        <p:spPr>
          <a:xfrm>
            <a:off x="558785" y="247967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Conversational + audit UI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7"/>
          <p:cNvSpPr/>
          <p:nvPr/>
        </p:nvSpPr>
        <p:spPr>
          <a:xfrm>
            <a:off x="412739" y="342900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7"/>
          <p:cNvSpPr/>
          <p:nvPr/>
        </p:nvSpPr>
        <p:spPr>
          <a:xfrm>
            <a:off x="558785" y="354965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Backend 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7"/>
          <p:cNvSpPr/>
          <p:nvPr/>
        </p:nvSpPr>
        <p:spPr>
          <a:xfrm>
            <a:off x="558785" y="373380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[Python, FastAPI]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7"/>
          <p:cNvSpPr/>
          <p:nvPr/>
        </p:nvSpPr>
        <p:spPr>
          <a:xfrm>
            <a:off x="558785" y="389572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Orchestrates requests, checks role per action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7"/>
          <p:cNvSpPr/>
          <p:nvPr/>
        </p:nvSpPr>
        <p:spPr>
          <a:xfrm>
            <a:off x="3092368" y="1498600"/>
            <a:ext cx="975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300"/>
              </a:buClr>
              <a:buSzPts val="1100"/>
              <a:buFont typeface="Arimo"/>
              <a:buNone/>
            </a:pPr>
            <a:r>
              <a:rPr b="1" i="0" lang="en-US" sz="1100" u="none" cap="none" strike="noStrike">
                <a:solidFill>
                  <a:srgbClr val="E0A300"/>
                </a:solidFill>
                <a:latin typeface="Arimo"/>
                <a:ea typeface="Arimo"/>
                <a:cs typeface="Arimo"/>
                <a:sym typeface="Arimo"/>
              </a:rPr>
              <a:t>›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7"/>
          <p:cNvSpPr/>
          <p:nvPr/>
        </p:nvSpPr>
        <p:spPr>
          <a:xfrm>
            <a:off x="280043" y="1370000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7"/>
          <p:cNvSpPr/>
          <p:nvPr/>
        </p:nvSpPr>
        <p:spPr>
          <a:xfrm>
            <a:off x="375290" y="1395400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7"/>
          <p:cNvSpPr/>
          <p:nvPr/>
        </p:nvSpPr>
        <p:spPr>
          <a:xfrm>
            <a:off x="336238" y="1395400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00"/>
              <a:buFont typeface="Arimo"/>
              <a:buNone/>
            </a:pPr>
            <a:r>
              <a:rPr b="1" i="0" lang="en-US" sz="1300" u="none" cap="none" strike="noStrike">
                <a:solidFill>
                  <a:srgbClr val="7C3AED"/>
                </a:solidFill>
                <a:latin typeface="Arimo"/>
                <a:ea typeface="Arimo"/>
                <a:cs typeface="Arimo"/>
                <a:sym typeface="Arimo"/>
              </a:rPr>
              <a:t>3 · AI Reasoning &amp; Retrieval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7"/>
          <p:cNvSpPr/>
          <p:nvPr/>
        </p:nvSpPr>
        <p:spPr>
          <a:xfrm>
            <a:off x="419739" y="201135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7C3AED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7"/>
          <p:cNvSpPr/>
          <p:nvPr/>
        </p:nvSpPr>
        <p:spPr>
          <a:xfrm>
            <a:off x="2530016" y="1947850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7"/>
          <p:cNvSpPr/>
          <p:nvPr/>
        </p:nvSpPr>
        <p:spPr>
          <a:xfrm>
            <a:off x="2593514" y="1973250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7"/>
          <p:cNvSpPr/>
          <p:nvPr/>
        </p:nvSpPr>
        <p:spPr>
          <a:xfrm>
            <a:off x="572135" y="2138350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AI Service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7"/>
          <p:cNvSpPr/>
          <p:nvPr/>
        </p:nvSpPr>
        <p:spPr>
          <a:xfrm>
            <a:off x="572135" y="2322500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[Python, RAG]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7"/>
          <p:cNvSpPr/>
          <p:nvPr/>
        </p:nvSpPr>
        <p:spPr>
          <a:xfrm>
            <a:off x="572135" y="2484425"/>
            <a:ext cx="24306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Routes intent, runs RAG over the unified index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7"/>
          <p:cNvSpPr/>
          <p:nvPr/>
        </p:nvSpPr>
        <p:spPr>
          <a:xfrm>
            <a:off x="419739" y="342740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7C3AED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27"/>
          <p:cNvSpPr/>
          <p:nvPr/>
        </p:nvSpPr>
        <p:spPr>
          <a:xfrm>
            <a:off x="2530016" y="3363900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27"/>
          <p:cNvSpPr/>
          <p:nvPr/>
        </p:nvSpPr>
        <p:spPr>
          <a:xfrm>
            <a:off x="2593514" y="3389300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7"/>
          <p:cNvSpPr/>
          <p:nvPr/>
        </p:nvSpPr>
        <p:spPr>
          <a:xfrm>
            <a:off x="572135" y="3554400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Expert Directory Service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7"/>
          <p:cNvSpPr/>
          <p:nvPr/>
        </p:nvSpPr>
        <p:spPr>
          <a:xfrm>
            <a:off x="572135" y="3738550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[Python]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7"/>
          <p:cNvSpPr/>
          <p:nvPr/>
        </p:nvSpPr>
        <p:spPr>
          <a:xfrm>
            <a:off x="572135" y="3900475"/>
            <a:ext cx="24306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Extracts keywords, ranks expert candidates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7"/>
          <p:cNvSpPr/>
          <p:nvPr/>
        </p:nvSpPr>
        <p:spPr>
          <a:xfrm>
            <a:off x="419739" y="484345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7C3AED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7"/>
          <p:cNvSpPr/>
          <p:nvPr/>
        </p:nvSpPr>
        <p:spPr>
          <a:xfrm>
            <a:off x="2530016" y="4779950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27"/>
          <p:cNvSpPr/>
          <p:nvPr/>
        </p:nvSpPr>
        <p:spPr>
          <a:xfrm>
            <a:off x="2593514" y="4805350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7"/>
          <p:cNvSpPr/>
          <p:nvPr/>
        </p:nvSpPr>
        <p:spPr>
          <a:xfrm>
            <a:off x="572135" y="4970450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Search Index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7"/>
          <p:cNvSpPr/>
          <p:nvPr/>
        </p:nvSpPr>
        <p:spPr>
          <a:xfrm>
            <a:off x="572135" y="5154600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[Azure AI Search]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7"/>
          <p:cNvSpPr/>
          <p:nvPr/>
        </p:nvSpPr>
        <p:spPr>
          <a:xfrm>
            <a:off x="572135" y="5316525"/>
            <a:ext cx="24306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EAE0FB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EAE0FB"/>
                </a:solidFill>
                <a:latin typeface="Arimo"/>
                <a:ea typeface="Arimo"/>
                <a:cs typeface="Arimo"/>
                <a:sym typeface="Arimo"/>
              </a:rPr>
              <a:t>Unified vector index, tagged by source system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7"/>
          <p:cNvSpPr/>
          <p:nvPr/>
        </p:nvSpPr>
        <p:spPr>
          <a:xfrm>
            <a:off x="3099367" y="1497000"/>
            <a:ext cx="975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300"/>
              </a:buClr>
              <a:buSzPts val="1100"/>
              <a:buFont typeface="Arimo"/>
              <a:buNone/>
            </a:pPr>
            <a:r>
              <a:rPr b="1" i="0" lang="en-US" sz="1100" u="none" cap="none" strike="noStrike">
                <a:solidFill>
                  <a:srgbClr val="E0A300"/>
                </a:solidFill>
                <a:latin typeface="Arimo"/>
                <a:ea typeface="Arimo"/>
                <a:cs typeface="Arimo"/>
                <a:sym typeface="Arimo"/>
              </a:rPr>
              <a:t>›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3" name="Google Shape;45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5499" y="1385100"/>
            <a:ext cx="7392772" cy="50020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28"/>
          <p:cNvSpPr/>
          <p:nvPr/>
        </p:nvSpPr>
        <p:spPr>
          <a:xfrm>
            <a:off x="0" y="0"/>
            <a:ext cx="12207240" cy="1055418"/>
          </a:xfrm>
          <a:custGeom>
            <a:rect b="b" l="l" r="r" t="t"/>
            <a:pathLst>
              <a:path extrusionOk="0" h="1581150" w="18288000">
                <a:moveTo>
                  <a:pt x="0" y="0"/>
                </a:moveTo>
                <a:lnTo>
                  <a:pt x="18288000" y="0"/>
                </a:lnTo>
                <a:lnTo>
                  <a:pt x="18288000" y="1314450"/>
                </a:lnTo>
                <a:cubicBezTo>
                  <a:pt x="18288000" y="1461744"/>
                  <a:pt x="18168594" y="1581150"/>
                  <a:pt x="18021300" y="1581150"/>
                </a:cubicBezTo>
                <a:lnTo>
                  <a:pt x="266700" y="1581150"/>
                </a:lnTo>
                <a:cubicBezTo>
                  <a:pt x="119406" y="1581150"/>
                  <a:pt x="0" y="1461744"/>
                  <a:pt x="0" y="13144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3A66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8"/>
          <p:cNvSpPr/>
          <p:nvPr/>
        </p:nvSpPr>
        <p:spPr>
          <a:xfrm>
            <a:off x="546085" y="152400"/>
            <a:ext cx="44598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mo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Container Diagram — Functional Zones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8"/>
          <p:cNvSpPr/>
          <p:nvPr/>
        </p:nvSpPr>
        <p:spPr>
          <a:xfrm>
            <a:off x="546068" y="660400"/>
            <a:ext cx="81300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CCDD"/>
              </a:buClr>
              <a:buSzPts val="900"/>
              <a:buFont typeface="Arimo"/>
              <a:buNone/>
            </a:pPr>
            <a:r>
              <a:rPr b="0" i="0" lang="en-US" u="none" cap="none" strike="noStrike">
                <a:solidFill>
                  <a:srgbClr val="BBCCDD"/>
                </a:solidFill>
                <a:latin typeface="Arimo"/>
                <a:ea typeface="Arimo"/>
                <a:cs typeface="Arimo"/>
                <a:sym typeface="Arimo"/>
              </a:rPr>
              <a:t>Follow a request across four zones · solid color = AS-IS · gold border = new in TO-BE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8"/>
          <p:cNvSpPr/>
          <p:nvPr/>
        </p:nvSpPr>
        <p:spPr>
          <a:xfrm>
            <a:off x="0" y="1054100"/>
            <a:ext cx="12191700" cy="50700"/>
          </a:xfrm>
          <a:prstGeom prst="rect">
            <a:avLst/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28"/>
          <p:cNvSpPr/>
          <p:nvPr/>
        </p:nvSpPr>
        <p:spPr>
          <a:xfrm>
            <a:off x="273043" y="1371600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28"/>
          <p:cNvSpPr/>
          <p:nvPr/>
        </p:nvSpPr>
        <p:spPr>
          <a:xfrm>
            <a:off x="368290" y="1397000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8"/>
          <p:cNvSpPr/>
          <p:nvPr/>
        </p:nvSpPr>
        <p:spPr>
          <a:xfrm>
            <a:off x="329239" y="1397000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3A66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0E3A66"/>
                </a:solidFill>
                <a:latin typeface="Arimo"/>
                <a:ea typeface="Arimo"/>
                <a:cs typeface="Arimo"/>
                <a:sym typeface="Arimo"/>
              </a:rPr>
              <a:t>1 · Experience &amp; Access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8"/>
          <p:cNvSpPr/>
          <p:nvPr/>
        </p:nvSpPr>
        <p:spPr>
          <a:xfrm>
            <a:off x="412739" y="201295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28"/>
          <p:cNvSpPr/>
          <p:nvPr/>
        </p:nvSpPr>
        <p:spPr>
          <a:xfrm>
            <a:off x="558785" y="213360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Frontend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8"/>
          <p:cNvSpPr/>
          <p:nvPr/>
        </p:nvSpPr>
        <p:spPr>
          <a:xfrm>
            <a:off x="558785" y="231775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[JavaScript, React]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8"/>
          <p:cNvSpPr/>
          <p:nvPr/>
        </p:nvSpPr>
        <p:spPr>
          <a:xfrm>
            <a:off x="558785" y="247967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Conversational + audit UI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8"/>
          <p:cNvSpPr/>
          <p:nvPr/>
        </p:nvSpPr>
        <p:spPr>
          <a:xfrm>
            <a:off x="412739" y="3429000"/>
            <a:ext cx="2514600" cy="1187400"/>
          </a:xfrm>
          <a:prstGeom prst="roundRect">
            <a:avLst>
              <a:gd fmla="val 8556" name="adj"/>
            </a:avLst>
          </a:prstGeom>
          <a:solidFill>
            <a:srgbClr val="115594"/>
          </a:solidFill>
          <a:ln cap="flat" cmpd="sng" w="19050">
            <a:solidFill>
              <a:srgbClr val="0C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28"/>
          <p:cNvSpPr/>
          <p:nvPr/>
        </p:nvSpPr>
        <p:spPr>
          <a:xfrm>
            <a:off x="558785" y="354965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Backend 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8"/>
          <p:cNvSpPr/>
          <p:nvPr/>
        </p:nvSpPr>
        <p:spPr>
          <a:xfrm>
            <a:off x="558785" y="373380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CCCCCC"/>
                </a:solidFill>
                <a:latin typeface="Arimo"/>
                <a:ea typeface="Arimo"/>
                <a:cs typeface="Arimo"/>
                <a:sym typeface="Arimo"/>
              </a:rPr>
              <a:t>[Python, FastAPI]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8"/>
          <p:cNvSpPr/>
          <p:nvPr/>
        </p:nvSpPr>
        <p:spPr>
          <a:xfrm>
            <a:off x="558785" y="3895725"/>
            <a:ext cx="2444700" cy="1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lnSpc>
                <a:spcPct val="116379"/>
              </a:lnSpc>
              <a:spcBef>
                <a:spcPts val="0"/>
              </a:spcBef>
              <a:spcAft>
                <a:spcPts val="0"/>
              </a:spcAft>
              <a:buClr>
                <a:srgbClr val="DCE6F1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CE6F1"/>
                </a:solidFill>
                <a:latin typeface="Arimo"/>
                <a:ea typeface="Arimo"/>
                <a:cs typeface="Arimo"/>
                <a:sym typeface="Arimo"/>
              </a:rPr>
              <a:t>Orchestrates requests, checks role per action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8"/>
          <p:cNvSpPr/>
          <p:nvPr/>
        </p:nvSpPr>
        <p:spPr>
          <a:xfrm>
            <a:off x="3092368" y="1498600"/>
            <a:ext cx="975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300"/>
              </a:buClr>
              <a:buSzPts val="1100"/>
              <a:buFont typeface="Arimo"/>
              <a:buNone/>
            </a:pPr>
            <a:r>
              <a:rPr b="1" i="0" lang="en-US" sz="1100" u="none" cap="none" strike="noStrike">
                <a:solidFill>
                  <a:srgbClr val="E0A300"/>
                </a:solidFill>
                <a:latin typeface="Arimo"/>
                <a:ea typeface="Arimo"/>
                <a:cs typeface="Arimo"/>
                <a:sym typeface="Arimo"/>
              </a:rPr>
              <a:t>›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8"/>
          <p:cNvSpPr/>
          <p:nvPr/>
        </p:nvSpPr>
        <p:spPr>
          <a:xfrm>
            <a:off x="186345" y="1498600"/>
            <a:ext cx="975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300"/>
              </a:buClr>
              <a:buSzPts val="1100"/>
              <a:buFont typeface="Arimo"/>
              <a:buNone/>
            </a:pPr>
            <a:r>
              <a:rPr b="1" i="0" lang="en-US" sz="1100" u="none" cap="none" strike="noStrike">
                <a:solidFill>
                  <a:srgbClr val="E0A300"/>
                </a:solidFill>
                <a:latin typeface="Arimo"/>
                <a:ea typeface="Arimo"/>
                <a:cs typeface="Arimo"/>
                <a:sym typeface="Arimo"/>
              </a:rPr>
              <a:t>›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8"/>
          <p:cNvSpPr/>
          <p:nvPr/>
        </p:nvSpPr>
        <p:spPr>
          <a:xfrm>
            <a:off x="294292" y="1371600"/>
            <a:ext cx="2787600" cy="5029200"/>
          </a:xfrm>
          <a:prstGeom prst="roundRect">
            <a:avLst>
              <a:gd fmla="val 4556" name="adj"/>
            </a:avLst>
          </a:prstGeom>
          <a:solidFill>
            <a:srgbClr val="96703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28"/>
          <p:cNvSpPr/>
          <p:nvPr/>
        </p:nvSpPr>
        <p:spPr>
          <a:xfrm>
            <a:off x="389540" y="1397000"/>
            <a:ext cx="2603400" cy="381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28"/>
          <p:cNvSpPr/>
          <p:nvPr/>
        </p:nvSpPr>
        <p:spPr>
          <a:xfrm>
            <a:off x="350488" y="1397000"/>
            <a:ext cx="2681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6703F"/>
              </a:buClr>
              <a:buSzPts val="800"/>
              <a:buFont typeface="Arimo"/>
              <a:buNone/>
            </a:pPr>
            <a:r>
              <a:rPr b="1" i="0" lang="en-US" sz="1200" u="none" cap="none" strike="noStrike">
                <a:solidFill>
                  <a:srgbClr val="96703F"/>
                </a:solidFill>
                <a:latin typeface="Arimo"/>
                <a:ea typeface="Arimo"/>
                <a:cs typeface="Arimo"/>
                <a:sym typeface="Arimo"/>
              </a:rPr>
              <a:t>4 · Business Data &amp; Governance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8"/>
          <p:cNvSpPr/>
          <p:nvPr/>
        </p:nvSpPr>
        <p:spPr>
          <a:xfrm>
            <a:off x="433988" y="2012950"/>
            <a:ext cx="2514600" cy="952500"/>
          </a:xfrm>
          <a:prstGeom prst="roundRect">
            <a:avLst>
              <a:gd fmla="val 10667" name="adj"/>
            </a:avLst>
          </a:prstGeom>
          <a:solidFill>
            <a:srgbClr val="96703F"/>
          </a:solidFill>
          <a:ln cap="flat" cmpd="sng" w="19050">
            <a:solidFill>
              <a:srgbClr val="6E52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8"/>
          <p:cNvSpPr/>
          <p:nvPr/>
        </p:nvSpPr>
        <p:spPr>
          <a:xfrm>
            <a:off x="580035" y="2133600"/>
            <a:ext cx="24447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Database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8"/>
          <p:cNvSpPr/>
          <p:nvPr/>
        </p:nvSpPr>
        <p:spPr>
          <a:xfrm>
            <a:off x="580035" y="2317750"/>
            <a:ext cx="2444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E6D3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F1E6D3"/>
                </a:solidFill>
                <a:latin typeface="Arimo"/>
                <a:ea typeface="Arimo"/>
                <a:cs typeface="Arimo"/>
                <a:sym typeface="Arimo"/>
              </a:rPr>
              <a:t>[PostgreSQL] — user data, audit records, templates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8"/>
          <p:cNvSpPr/>
          <p:nvPr/>
        </p:nvSpPr>
        <p:spPr>
          <a:xfrm>
            <a:off x="433988" y="3155950"/>
            <a:ext cx="2514600" cy="952500"/>
          </a:xfrm>
          <a:prstGeom prst="roundRect">
            <a:avLst>
              <a:gd fmla="val 10667" name="adj"/>
            </a:avLst>
          </a:prstGeom>
          <a:solidFill>
            <a:srgbClr val="96703F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28"/>
          <p:cNvSpPr/>
          <p:nvPr/>
        </p:nvSpPr>
        <p:spPr>
          <a:xfrm>
            <a:off x="2544266" y="3092450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28"/>
          <p:cNvSpPr/>
          <p:nvPr/>
        </p:nvSpPr>
        <p:spPr>
          <a:xfrm>
            <a:off x="2607764" y="3117850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8"/>
          <p:cNvSpPr/>
          <p:nvPr/>
        </p:nvSpPr>
        <p:spPr>
          <a:xfrm>
            <a:off x="586384" y="3282950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Feedback &amp; Learning Store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8"/>
          <p:cNvSpPr/>
          <p:nvPr/>
        </p:nvSpPr>
        <p:spPr>
          <a:xfrm>
            <a:off x="586384" y="3467100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E6D3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F1E6D3"/>
                </a:solidFill>
                <a:latin typeface="Arimo"/>
                <a:ea typeface="Arimo"/>
                <a:cs typeface="Arimo"/>
                <a:sym typeface="Arimo"/>
              </a:rPr>
              <a:t>[PostgreSQL] — queries, feedback, corrections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8"/>
          <p:cNvSpPr/>
          <p:nvPr/>
        </p:nvSpPr>
        <p:spPr>
          <a:xfrm>
            <a:off x="433988" y="4298950"/>
            <a:ext cx="2514600" cy="952500"/>
          </a:xfrm>
          <a:prstGeom prst="roundRect">
            <a:avLst>
              <a:gd fmla="val 10667" name="adj"/>
            </a:avLst>
          </a:prstGeom>
          <a:solidFill>
            <a:srgbClr val="96703F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8"/>
          <p:cNvSpPr/>
          <p:nvPr/>
        </p:nvSpPr>
        <p:spPr>
          <a:xfrm>
            <a:off x="2544266" y="4235450"/>
            <a:ext cx="290100" cy="133500"/>
          </a:xfrm>
          <a:prstGeom prst="roundRect">
            <a:avLst>
              <a:gd fmla="val 38095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60950" lIns="60950" spcFirstLastPara="1" rIns="60950" wrap="square" tIns="6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8"/>
          <p:cNvSpPr/>
          <p:nvPr/>
        </p:nvSpPr>
        <p:spPr>
          <a:xfrm>
            <a:off x="2607764" y="4260850"/>
            <a:ext cx="213900" cy="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mo"/>
              <a:buNone/>
            </a:pPr>
            <a:r>
              <a:rPr b="1" i="0" lang="en-US" sz="5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NEW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8"/>
          <p:cNvSpPr/>
          <p:nvPr/>
        </p:nvSpPr>
        <p:spPr>
          <a:xfrm>
            <a:off x="586384" y="4425950"/>
            <a:ext cx="2430600" cy="1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mo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Governance &amp; Audit Log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8"/>
          <p:cNvSpPr/>
          <p:nvPr/>
        </p:nvSpPr>
        <p:spPr>
          <a:xfrm>
            <a:off x="586384" y="4610100"/>
            <a:ext cx="24306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E6D3"/>
              </a:buClr>
              <a:buSzPts val="600"/>
              <a:buFont typeface="Arimo"/>
              <a:buNone/>
            </a:pPr>
            <a:r>
              <a:rPr b="0" i="0" lang="en-US" sz="1200" u="none" cap="none" strike="noStrike">
                <a:solidFill>
                  <a:srgbClr val="F1E6D3"/>
                </a:solidFill>
                <a:latin typeface="Arimo"/>
                <a:ea typeface="Arimo"/>
                <a:cs typeface="Arimo"/>
                <a:sym typeface="Arimo"/>
              </a:rPr>
              <a:t>[PostgreSQL] — logs every Q&amp;A / audit interaction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8"/>
          <p:cNvSpPr/>
          <p:nvPr/>
        </p:nvSpPr>
        <p:spPr>
          <a:xfrm>
            <a:off x="-609584" y="6553200"/>
            <a:ext cx="134109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925" lIns="16925" spcFirstLastPara="1" rIns="16925" wrap="square" tIns="169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6B7280"/>
                </a:solidFill>
                <a:latin typeface="Arimo"/>
                <a:ea typeface="Arimo"/>
                <a:cs typeface="Arimo"/>
                <a:sym typeface="Arimo"/>
              </a:rPr>
              <a:t>Also connects out to Enterprise Content Sources, Azure Content Understanding, Azure OpenAI Service, HR / Org Directory, and Azure Entra ID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3" name="Google Shape;49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9513" y="1371600"/>
            <a:ext cx="5769979" cy="5029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29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9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Activity Diagrams</a:t>
            </a:r>
            <a:endParaRPr/>
          </a:p>
        </p:txBody>
      </p:sp>
      <p:sp>
        <p:nvSpPr>
          <p:cNvPr id="500" name="Google Shape;500;p29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3 critical workflows modeled with swim-lane activity diagrams</a:t>
            </a:r>
            <a:endParaRPr sz="1800"/>
          </a:p>
        </p:txBody>
      </p:sp>
      <p:sp>
        <p:nvSpPr>
          <p:cNvPr id="501" name="Google Shape;501;p29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9"/>
          <p:cNvSpPr/>
          <p:nvPr/>
        </p:nvSpPr>
        <p:spPr>
          <a:xfrm>
            <a:off x="274320" y="1371600"/>
            <a:ext cx="370332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9"/>
          <p:cNvSpPr/>
          <p:nvPr/>
        </p:nvSpPr>
        <p:spPr>
          <a:xfrm>
            <a:off x="274320" y="1371600"/>
            <a:ext cx="3703320" cy="59436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9"/>
          <p:cNvSpPr txBox="1"/>
          <p:nvPr/>
        </p:nvSpPr>
        <p:spPr>
          <a:xfrm>
            <a:off x="411480" y="1417320"/>
            <a:ext cx="342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Flow 1: Submission → Audit</a:t>
            </a:r>
            <a:endParaRPr sz="1600"/>
          </a:p>
        </p:txBody>
      </p:sp>
      <p:sp>
        <p:nvSpPr>
          <p:cNvPr id="505" name="Google Shape;505;p29"/>
          <p:cNvSpPr txBox="1"/>
          <p:nvPr/>
        </p:nvSpPr>
        <p:spPr>
          <a:xfrm>
            <a:off x="411480" y="2103120"/>
            <a:ext cx="342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Vendor prepares &amp; submits → System validates completeness → AI extracts, audits → Notification sent</a:t>
            </a:r>
            <a:endParaRPr sz="1200"/>
          </a:p>
        </p:txBody>
      </p:sp>
      <p:sp>
        <p:nvSpPr>
          <p:cNvPr id="506" name="Google Shape;506;p29"/>
          <p:cNvSpPr/>
          <p:nvPr/>
        </p:nvSpPr>
        <p:spPr>
          <a:xfrm>
            <a:off x="365760" y="283464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9"/>
          <p:cNvSpPr txBox="1"/>
          <p:nvPr/>
        </p:nvSpPr>
        <p:spPr>
          <a:xfrm>
            <a:off x="457200" y="2880360"/>
            <a:ext cx="3337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Vendor: Prepare package → Fill checklist → Submit</a:t>
            </a:r>
            <a:endParaRPr sz="1200"/>
          </a:p>
        </p:txBody>
      </p:sp>
      <p:sp>
        <p:nvSpPr>
          <p:cNvPr id="508" name="Google Shape;508;p29"/>
          <p:cNvSpPr/>
          <p:nvPr/>
        </p:nvSpPr>
        <p:spPr>
          <a:xfrm>
            <a:off x="365760" y="365760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9"/>
          <p:cNvSpPr txBox="1"/>
          <p:nvPr/>
        </p:nvSpPr>
        <p:spPr>
          <a:xfrm>
            <a:off x="457200" y="370332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System: Log → Completeness check → [Incomplete? → Notify → Resubmit loop]</a:t>
            </a:r>
            <a:endParaRPr sz="1200"/>
          </a:p>
        </p:txBody>
      </p:sp>
      <p:sp>
        <p:nvSpPr>
          <p:cNvPr id="510" name="Google Shape;510;p29"/>
          <p:cNvSpPr/>
          <p:nvPr/>
        </p:nvSpPr>
        <p:spPr>
          <a:xfrm>
            <a:off x="365760" y="448056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9"/>
          <p:cNvSpPr txBox="1"/>
          <p:nvPr/>
        </p:nvSpPr>
        <p:spPr>
          <a:xfrm>
            <a:off x="457200" y="452628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System: Process → Extract content → Run AI audit → Generate report</a:t>
            </a:r>
            <a:endParaRPr sz="1200"/>
          </a:p>
        </p:txBody>
      </p:sp>
      <p:sp>
        <p:nvSpPr>
          <p:cNvPr id="512" name="Google Shape;512;p29"/>
          <p:cNvSpPr/>
          <p:nvPr/>
        </p:nvSpPr>
        <p:spPr>
          <a:xfrm>
            <a:off x="365760" y="530352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9"/>
          <p:cNvSpPr txBox="1"/>
          <p:nvPr/>
        </p:nvSpPr>
        <p:spPr>
          <a:xfrm>
            <a:off x="457200" y="5349240"/>
            <a:ext cx="3337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System: Notify vendor &amp; customer</a:t>
            </a:r>
            <a:endParaRPr sz="1200"/>
          </a:p>
        </p:txBody>
      </p:sp>
      <p:sp>
        <p:nvSpPr>
          <p:cNvPr id="514" name="Google Shape;514;p29"/>
          <p:cNvSpPr/>
          <p:nvPr/>
        </p:nvSpPr>
        <p:spPr>
          <a:xfrm>
            <a:off x="4114800" y="1371600"/>
            <a:ext cx="370332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9"/>
          <p:cNvSpPr/>
          <p:nvPr/>
        </p:nvSpPr>
        <p:spPr>
          <a:xfrm>
            <a:off x="4114800" y="1371600"/>
            <a:ext cx="3703320" cy="594360"/>
          </a:xfrm>
          <a:prstGeom prst="roundRect">
            <a:avLst>
              <a:gd fmla="val 16667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9"/>
          <p:cNvSpPr txBox="1"/>
          <p:nvPr/>
        </p:nvSpPr>
        <p:spPr>
          <a:xfrm>
            <a:off x="4251960" y="1417320"/>
            <a:ext cx="342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Flow 2: Reviewer Decision</a:t>
            </a:r>
            <a:endParaRPr sz="1600"/>
          </a:p>
        </p:txBody>
      </p:sp>
      <p:sp>
        <p:nvSpPr>
          <p:cNvPr id="517" name="Google Shape;517;p29"/>
          <p:cNvSpPr txBox="1"/>
          <p:nvPr/>
        </p:nvSpPr>
        <p:spPr>
          <a:xfrm>
            <a:off x="4251960" y="2103120"/>
            <a:ext cx="3429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Customer reviews AI audit → Accept or Reject with evidence-based decision</a:t>
            </a:r>
            <a:endParaRPr sz="1200"/>
          </a:p>
        </p:txBody>
      </p:sp>
      <p:sp>
        <p:nvSpPr>
          <p:cNvPr id="518" name="Google Shape;518;p29"/>
          <p:cNvSpPr/>
          <p:nvPr/>
        </p:nvSpPr>
        <p:spPr>
          <a:xfrm>
            <a:off x="4206240" y="283464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9"/>
          <p:cNvSpPr txBox="1"/>
          <p:nvPr/>
        </p:nvSpPr>
        <p:spPr>
          <a:xfrm>
            <a:off x="4297680" y="288036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Customer: Receive notification → Review findings → Study evidence</a:t>
            </a:r>
            <a:endParaRPr sz="1200"/>
          </a:p>
        </p:txBody>
      </p:sp>
      <p:sp>
        <p:nvSpPr>
          <p:cNvPr id="520" name="Google Shape;520;p29"/>
          <p:cNvSpPr/>
          <p:nvPr/>
        </p:nvSpPr>
        <p:spPr>
          <a:xfrm>
            <a:off x="4206240" y="365760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9"/>
          <p:cNvSpPr txBox="1"/>
          <p:nvPr/>
        </p:nvSpPr>
        <p:spPr>
          <a:xfrm>
            <a:off x="4297680" y="370332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Decision: Accept → Mark approved → Write memo → Log &amp; notify</a:t>
            </a:r>
            <a:endParaRPr sz="1200"/>
          </a:p>
        </p:txBody>
      </p:sp>
      <p:sp>
        <p:nvSpPr>
          <p:cNvPr id="522" name="Google Shape;522;p29"/>
          <p:cNvSpPr/>
          <p:nvPr/>
        </p:nvSpPr>
        <p:spPr>
          <a:xfrm>
            <a:off x="4206240" y="448056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9"/>
          <p:cNvSpPr txBox="1"/>
          <p:nvPr/>
        </p:nvSpPr>
        <p:spPr>
          <a:xfrm>
            <a:off x="4297680" y="452628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Decision: Reject → List fixes → Vendor revises → Resubmit (→ Flow 1)</a:t>
            </a:r>
            <a:endParaRPr sz="1200"/>
          </a:p>
        </p:txBody>
      </p:sp>
      <p:sp>
        <p:nvSpPr>
          <p:cNvPr id="524" name="Google Shape;524;p29"/>
          <p:cNvSpPr/>
          <p:nvPr/>
        </p:nvSpPr>
        <p:spPr>
          <a:xfrm>
            <a:off x="7955280" y="1371600"/>
            <a:ext cx="370332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9"/>
          <p:cNvSpPr/>
          <p:nvPr/>
        </p:nvSpPr>
        <p:spPr>
          <a:xfrm>
            <a:off x="7955280" y="1371600"/>
            <a:ext cx="3703320" cy="594360"/>
          </a:xfrm>
          <a:prstGeom prst="roundRect">
            <a:avLst>
              <a:gd fmla="val 16667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9"/>
          <p:cNvSpPr txBox="1"/>
          <p:nvPr/>
        </p:nvSpPr>
        <p:spPr>
          <a:xfrm>
            <a:off x="8092440" y="1417320"/>
            <a:ext cx="342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Flow 3: Search, Query &amp; Summary</a:t>
            </a:r>
            <a:endParaRPr sz="1600"/>
          </a:p>
        </p:txBody>
      </p:sp>
      <p:sp>
        <p:nvSpPr>
          <p:cNvPr id="527" name="Google Shape;527;p29"/>
          <p:cNvSpPr txBox="1"/>
          <p:nvPr/>
        </p:nvSpPr>
        <p:spPr>
          <a:xfrm>
            <a:off x="8092440" y="2103120"/>
            <a:ext cx="3429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Natural language query → RAG retrieval → AI-generated answer with sources</a:t>
            </a:r>
            <a:endParaRPr sz="1200"/>
          </a:p>
        </p:txBody>
      </p:sp>
      <p:sp>
        <p:nvSpPr>
          <p:cNvPr id="528" name="Google Shape;528;p29"/>
          <p:cNvSpPr/>
          <p:nvPr/>
        </p:nvSpPr>
        <p:spPr>
          <a:xfrm>
            <a:off x="8046720" y="283464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9"/>
          <p:cNvSpPr txBox="1"/>
          <p:nvPr/>
        </p:nvSpPr>
        <p:spPr>
          <a:xfrm>
            <a:off x="8138160" y="2880360"/>
            <a:ext cx="3337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User: Enter NL query</a:t>
            </a:r>
            <a:endParaRPr sz="1200"/>
          </a:p>
        </p:txBody>
      </p:sp>
      <p:sp>
        <p:nvSpPr>
          <p:cNvPr id="530" name="Google Shape;530;p29"/>
          <p:cNvSpPr/>
          <p:nvPr/>
        </p:nvSpPr>
        <p:spPr>
          <a:xfrm>
            <a:off x="8046720" y="365760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9"/>
          <p:cNvSpPr txBox="1"/>
          <p:nvPr/>
        </p:nvSpPr>
        <p:spPr>
          <a:xfrm>
            <a:off x="8138160" y="3703320"/>
            <a:ext cx="3337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System: Interpret → Search index → Rank &amp; filter</a:t>
            </a:r>
            <a:endParaRPr sz="1200"/>
          </a:p>
        </p:txBody>
      </p:sp>
      <p:sp>
        <p:nvSpPr>
          <p:cNvPr id="532" name="Google Shape;532;p29"/>
          <p:cNvSpPr/>
          <p:nvPr/>
        </p:nvSpPr>
        <p:spPr>
          <a:xfrm>
            <a:off x="8046720" y="448056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9"/>
          <p:cNvSpPr txBox="1"/>
          <p:nvPr/>
        </p:nvSpPr>
        <p:spPr>
          <a:xfrm>
            <a:off x="8138160" y="452628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Results found → Generate summary + key points + source links</a:t>
            </a:r>
            <a:endParaRPr sz="1200"/>
          </a:p>
        </p:txBody>
      </p:sp>
      <p:sp>
        <p:nvSpPr>
          <p:cNvPr id="534" name="Google Shape;534;p29"/>
          <p:cNvSpPr/>
          <p:nvPr/>
        </p:nvSpPr>
        <p:spPr>
          <a:xfrm>
            <a:off x="8046720" y="5303520"/>
            <a:ext cx="3520440" cy="68580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CCDD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9"/>
          <p:cNvSpPr txBox="1"/>
          <p:nvPr/>
        </p:nvSpPr>
        <p:spPr>
          <a:xfrm>
            <a:off x="8138160" y="5349240"/>
            <a:ext cx="33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 results → Suggest related topics → Refine query loop</a:t>
            </a:r>
            <a:endParaRPr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0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Diagram</a:t>
            </a:r>
            <a:r>
              <a:rPr b="1" lang="en-US" sz="28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rPr>
              <a:t> — Full View</a:t>
            </a:r>
            <a:endParaRPr sz="2800"/>
          </a:p>
        </p:txBody>
      </p:sp>
      <p:sp>
        <p:nvSpPr>
          <p:cNvPr id="542" name="Google Shape;542;p30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3" name="Google Shape;54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2275" y="1254760"/>
            <a:ext cx="4596484" cy="54508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31"/>
          <p:cNvSpPr/>
          <p:nvPr/>
        </p:nvSpPr>
        <p:spPr>
          <a:xfrm>
            <a:off x="0" y="0"/>
            <a:ext cx="12191700" cy="105150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31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Diagram</a:t>
            </a:r>
            <a:endParaRPr/>
          </a:p>
        </p:txBody>
      </p:sp>
      <p:sp>
        <p:nvSpPr>
          <p:cNvPr id="550" name="Google Shape;550;p31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Azure Cloud · Region: Southeast Asia · VNet 10.1.0.0/16</a:t>
            </a:r>
            <a:endParaRPr sz="1800"/>
          </a:p>
        </p:txBody>
      </p:sp>
      <p:sp>
        <p:nvSpPr>
          <p:cNvPr id="551" name="Google Shape;551;p31"/>
          <p:cNvSpPr/>
          <p:nvPr/>
        </p:nvSpPr>
        <p:spPr>
          <a:xfrm>
            <a:off x="0" y="1051560"/>
            <a:ext cx="12191700" cy="507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1"/>
          <p:cNvSpPr/>
          <p:nvPr/>
        </p:nvSpPr>
        <p:spPr>
          <a:xfrm>
            <a:off x="274320" y="1371600"/>
            <a:ext cx="57606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31"/>
          <p:cNvSpPr/>
          <p:nvPr/>
        </p:nvSpPr>
        <p:spPr>
          <a:xfrm>
            <a:off x="274320" y="1371600"/>
            <a:ext cx="5760600" cy="502800"/>
          </a:xfrm>
          <a:prstGeom prst="roundRect">
            <a:avLst>
              <a:gd fmla="val 16667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1"/>
          <p:cNvSpPr txBox="1"/>
          <p:nvPr/>
        </p:nvSpPr>
        <p:spPr>
          <a:xfrm>
            <a:off x="365760" y="1399032"/>
            <a:ext cx="557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Zone 1: Compute &amp; Access</a:t>
            </a:r>
            <a:endParaRPr/>
          </a:p>
        </p:txBody>
      </p:sp>
      <p:sp>
        <p:nvSpPr>
          <p:cNvPr id="555" name="Google Shape;555;p31"/>
          <p:cNvSpPr txBox="1"/>
          <p:nvPr/>
        </p:nvSpPr>
        <p:spPr>
          <a:xfrm>
            <a:off x="365760" y="1618488"/>
            <a:ext cx="5577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App Service + Static Web Apps + Container Apps</a:t>
            </a:r>
            <a:endParaRPr sz="1200"/>
          </a:p>
        </p:txBody>
      </p:sp>
      <p:sp>
        <p:nvSpPr>
          <p:cNvPr id="556" name="Google Shape;556;p31"/>
          <p:cNvSpPr txBox="1"/>
          <p:nvPr/>
        </p:nvSpPr>
        <p:spPr>
          <a:xfrm>
            <a:off x="457200" y="1965960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Front Door + WAF (public ingress, TLS, DDoS)</a:t>
            </a:r>
            <a:endParaRPr/>
          </a:p>
        </p:txBody>
      </p:sp>
      <p:sp>
        <p:nvSpPr>
          <p:cNvPr id="557" name="Google Shape;557;p31"/>
          <p:cNvSpPr txBox="1"/>
          <p:nvPr/>
        </p:nvSpPr>
        <p:spPr>
          <a:xfrm>
            <a:off x="457200" y="2258568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Static Web Apps → Frontend React SPA</a:t>
            </a:r>
            <a:endParaRPr/>
          </a:p>
        </p:txBody>
      </p:sp>
      <p:sp>
        <p:nvSpPr>
          <p:cNvPr id="558" name="Google Shape;558;p31"/>
          <p:cNvSpPr txBox="1"/>
          <p:nvPr/>
        </p:nvSpPr>
        <p:spPr>
          <a:xfrm>
            <a:off x="457200" y="2551176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App Service (Linux) → Backend API (FastAPI)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457200" y="2843784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Container Apps → Celery workers, AI Service, Expert Service</a:t>
            </a:r>
            <a:endParaRPr/>
          </a:p>
        </p:txBody>
      </p:sp>
      <p:sp>
        <p:nvSpPr>
          <p:cNvPr id="560" name="Google Shape;560;p31"/>
          <p:cNvSpPr/>
          <p:nvPr/>
        </p:nvSpPr>
        <p:spPr>
          <a:xfrm>
            <a:off x="6217920" y="1371600"/>
            <a:ext cx="57606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1155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31"/>
          <p:cNvSpPr/>
          <p:nvPr/>
        </p:nvSpPr>
        <p:spPr>
          <a:xfrm>
            <a:off x="6217920" y="1371600"/>
            <a:ext cx="5760600" cy="50280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31"/>
          <p:cNvSpPr txBox="1"/>
          <p:nvPr/>
        </p:nvSpPr>
        <p:spPr>
          <a:xfrm>
            <a:off x="6309360" y="1399032"/>
            <a:ext cx="557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Zone 2: Data &amp; Governance</a:t>
            </a:r>
            <a:endParaRPr/>
          </a:p>
        </p:txBody>
      </p:sp>
      <p:sp>
        <p:nvSpPr>
          <p:cNvPr id="563" name="Google Shape;563;p31"/>
          <p:cNvSpPr txBox="1"/>
          <p:nvPr/>
        </p:nvSpPr>
        <p:spPr>
          <a:xfrm>
            <a:off x="6309360" y="1618488"/>
            <a:ext cx="5577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Private endpoints in data-subnet 10.1.1.0/24</a:t>
            </a:r>
            <a:endParaRPr sz="1200"/>
          </a:p>
        </p:txBody>
      </p:sp>
      <p:sp>
        <p:nvSpPr>
          <p:cNvPr id="564" name="Google Shape;564;p31"/>
          <p:cNvSpPr txBox="1"/>
          <p:nvPr/>
        </p:nvSpPr>
        <p:spPr>
          <a:xfrm>
            <a:off x="6400800" y="1965960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PostgreSQL Flexible Server (zone-redundant) — App D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/>
          </a:p>
        </p:txBody>
      </p:sp>
      <p:sp>
        <p:nvSpPr>
          <p:cNvPr id="565" name="Google Shape;565;p31"/>
          <p:cNvSpPr txBox="1"/>
          <p:nvPr/>
        </p:nvSpPr>
        <p:spPr>
          <a:xfrm>
            <a:off x="6400800" y="2258568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Cache for Redis — Celery broker + query cache</a:t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6400800" y="2551176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Blob Storage — documents &amp; crawled files</a:t>
            </a:r>
            <a:endParaRPr/>
          </a:p>
        </p:txBody>
      </p:sp>
      <p:sp>
        <p:nvSpPr>
          <p:cNvPr id="567" name="Google Shape;567;p31"/>
          <p:cNvSpPr txBox="1"/>
          <p:nvPr/>
        </p:nvSpPr>
        <p:spPr>
          <a:xfrm>
            <a:off x="6400800" y="2843784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AI Search — unified vector index</a:t>
            </a:r>
            <a:endParaRPr/>
          </a:p>
        </p:txBody>
      </p:sp>
      <p:sp>
        <p:nvSpPr>
          <p:cNvPr id="568" name="Google Shape;568;p31"/>
          <p:cNvSpPr txBox="1"/>
          <p:nvPr/>
        </p:nvSpPr>
        <p:spPr>
          <a:xfrm>
            <a:off x="6400800" y="3136392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Key Vault — secrets via managed identities</a:t>
            </a:r>
            <a:endParaRPr/>
          </a:p>
        </p:txBody>
      </p:sp>
      <p:sp>
        <p:nvSpPr>
          <p:cNvPr id="569" name="Google Shape;569;p31"/>
          <p:cNvSpPr txBox="1"/>
          <p:nvPr/>
        </p:nvSpPr>
        <p:spPr>
          <a:xfrm>
            <a:off x="6400800" y="3429000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Monitor / App Insights — APM + budget alerts</a:t>
            </a:r>
            <a:endParaRPr/>
          </a:p>
        </p:txBody>
      </p:sp>
      <p:sp>
        <p:nvSpPr>
          <p:cNvPr id="570" name="Google Shape;570;p31"/>
          <p:cNvSpPr/>
          <p:nvPr/>
        </p:nvSpPr>
        <p:spPr>
          <a:xfrm>
            <a:off x="274320" y="3977640"/>
            <a:ext cx="57606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31"/>
          <p:cNvSpPr/>
          <p:nvPr/>
        </p:nvSpPr>
        <p:spPr>
          <a:xfrm>
            <a:off x="274320" y="3977640"/>
            <a:ext cx="5760600" cy="502800"/>
          </a:xfrm>
          <a:prstGeom prst="roundRect">
            <a:avLst>
              <a:gd fmla="val 16667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1"/>
          <p:cNvSpPr txBox="1"/>
          <p:nvPr/>
        </p:nvSpPr>
        <p:spPr>
          <a:xfrm>
            <a:off x="365760" y="4005072"/>
            <a:ext cx="557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Zone 3: External Azure Services</a:t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365760" y="4224528"/>
            <a:ext cx="5577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Managed by Microsoft, consumed over private endpoints</a:t>
            </a:r>
            <a:endParaRPr sz="1200"/>
          </a:p>
        </p:txBody>
      </p:sp>
      <p:sp>
        <p:nvSpPr>
          <p:cNvPr id="574" name="Google Shape;574;p31"/>
          <p:cNvSpPr txBox="1"/>
          <p:nvPr/>
        </p:nvSpPr>
        <p:spPr>
          <a:xfrm>
            <a:off x="457200" y="4572000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Content Understanding — text &amp; structure extraction</a:t>
            </a:r>
            <a:endParaRPr/>
          </a:p>
        </p:txBody>
      </p:sp>
      <p:sp>
        <p:nvSpPr>
          <p:cNvPr id="575" name="Google Shape;575;p31"/>
          <p:cNvSpPr txBox="1"/>
          <p:nvPr/>
        </p:nvSpPr>
        <p:spPr>
          <a:xfrm>
            <a:off x="457200" y="4864608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OpenAI Service — LLM inference</a:t>
            </a:r>
            <a:endParaRPr/>
          </a:p>
        </p:txBody>
      </p:sp>
      <p:sp>
        <p:nvSpPr>
          <p:cNvPr id="576" name="Google Shape;576;p31"/>
          <p:cNvSpPr txBox="1"/>
          <p:nvPr/>
        </p:nvSpPr>
        <p:spPr>
          <a:xfrm>
            <a:off x="457200" y="5157216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Azure Entra ID — OAuth2/OIDC identity provider</a:t>
            </a:r>
            <a:endParaRPr/>
          </a:p>
        </p:txBody>
      </p:sp>
      <p:sp>
        <p:nvSpPr>
          <p:cNvPr id="577" name="Google Shape;577;p31"/>
          <p:cNvSpPr/>
          <p:nvPr/>
        </p:nvSpPr>
        <p:spPr>
          <a:xfrm>
            <a:off x="6217920" y="3977640"/>
            <a:ext cx="57606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5555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1"/>
          <p:cNvSpPr/>
          <p:nvPr/>
        </p:nvSpPr>
        <p:spPr>
          <a:xfrm>
            <a:off x="6217920" y="3977640"/>
            <a:ext cx="5760600" cy="502800"/>
          </a:xfrm>
          <a:prstGeom prst="roundRect">
            <a:avLst>
              <a:gd fmla="val 16667" name="adj"/>
            </a:avLst>
          </a:prstGeom>
          <a:solidFill>
            <a:srgbClr val="5555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1"/>
          <p:cNvSpPr txBox="1"/>
          <p:nvPr/>
        </p:nvSpPr>
        <p:spPr>
          <a:xfrm>
            <a:off x="6309360" y="4005072"/>
            <a:ext cx="557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Zone 4: Corporate Network</a:t>
            </a:r>
            <a:endParaRPr/>
          </a:p>
        </p:txBody>
      </p:sp>
      <p:sp>
        <p:nvSpPr>
          <p:cNvPr id="580" name="Google Shape;580;p31"/>
          <p:cNvSpPr txBox="1"/>
          <p:nvPr/>
        </p:nvSpPr>
        <p:spPr>
          <a:xfrm>
            <a:off x="6309360" y="4224528"/>
            <a:ext cx="5577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On-premises, accessed over VPN / private peering</a:t>
            </a:r>
            <a:endParaRPr sz="1200"/>
          </a:p>
        </p:txBody>
      </p:sp>
      <p:sp>
        <p:nvSpPr>
          <p:cNvPr id="581" name="Google Shape;581;p31"/>
          <p:cNvSpPr txBox="1"/>
          <p:nvPr/>
        </p:nvSpPr>
        <p:spPr>
          <a:xfrm>
            <a:off x="6400800" y="4572000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Enterprise Content Sources (SharePoint, Confluence, file servers, DBs)</a:t>
            </a:r>
            <a:endParaRPr/>
          </a:p>
        </p:txBody>
      </p:sp>
      <p:sp>
        <p:nvSpPr>
          <p:cNvPr id="582" name="Google Shape;582;p31"/>
          <p:cNvSpPr txBox="1"/>
          <p:nvPr/>
        </p:nvSpPr>
        <p:spPr>
          <a:xfrm>
            <a:off x="6400800" y="4864608"/>
            <a:ext cx="539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 HR / Org Directory (employee profiles)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32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32"/>
          <p:cNvSpPr txBox="1"/>
          <p:nvPr/>
        </p:nvSpPr>
        <p:spPr>
          <a:xfrm>
            <a:off x="548640" y="1371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Stack</a:t>
            </a:r>
            <a:endParaRPr/>
          </a:p>
        </p:txBody>
      </p:sp>
      <p:sp>
        <p:nvSpPr>
          <p:cNvPr id="589" name="Google Shape;589;p32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Technology choices aligned with Azure ecosystem and project constraints</a:t>
            </a:r>
            <a:endParaRPr sz="1800"/>
          </a:p>
        </p:txBody>
      </p:sp>
      <p:sp>
        <p:nvSpPr>
          <p:cNvPr id="590" name="Google Shape;590;p32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2"/>
          <p:cNvSpPr/>
          <p:nvPr/>
        </p:nvSpPr>
        <p:spPr>
          <a:xfrm>
            <a:off x="228600" y="1371600"/>
            <a:ext cx="224028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2"/>
          <p:cNvSpPr/>
          <p:nvPr/>
        </p:nvSpPr>
        <p:spPr>
          <a:xfrm>
            <a:off x="228600" y="1371600"/>
            <a:ext cx="2240280" cy="50292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32"/>
          <p:cNvSpPr txBox="1"/>
          <p:nvPr/>
        </p:nvSpPr>
        <p:spPr>
          <a:xfrm>
            <a:off x="320040" y="1417320"/>
            <a:ext cx="20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sz="1800"/>
          </a:p>
        </p:txBody>
      </p:sp>
      <p:sp>
        <p:nvSpPr>
          <p:cNvPr id="594" name="Google Shape;594;p32"/>
          <p:cNvSpPr txBox="1"/>
          <p:nvPr/>
        </p:nvSpPr>
        <p:spPr>
          <a:xfrm>
            <a:off x="320040" y="20116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  <a:endParaRPr sz="1600"/>
          </a:p>
        </p:txBody>
      </p:sp>
      <p:sp>
        <p:nvSpPr>
          <p:cNvPr id="595" name="Google Shape;595;p32"/>
          <p:cNvSpPr txBox="1"/>
          <p:nvPr/>
        </p:nvSpPr>
        <p:spPr>
          <a:xfrm>
            <a:off x="320040" y="226771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React (JavaScript)</a:t>
            </a:r>
            <a:endParaRPr sz="1600"/>
          </a:p>
        </p:txBody>
      </p:sp>
      <p:sp>
        <p:nvSpPr>
          <p:cNvPr id="596" name="Google Shape;596;p32"/>
          <p:cNvSpPr txBox="1"/>
          <p:nvPr/>
        </p:nvSpPr>
        <p:spPr>
          <a:xfrm>
            <a:off x="320040" y="274320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Hosting</a:t>
            </a:r>
            <a:endParaRPr sz="1600"/>
          </a:p>
        </p:txBody>
      </p:sp>
      <p:sp>
        <p:nvSpPr>
          <p:cNvPr id="597" name="Google Shape;597;p32"/>
          <p:cNvSpPr txBox="1"/>
          <p:nvPr/>
        </p:nvSpPr>
        <p:spPr>
          <a:xfrm>
            <a:off x="320040" y="299923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Static Web Apps</a:t>
            </a:r>
            <a:endParaRPr sz="1600"/>
          </a:p>
        </p:txBody>
      </p:sp>
      <p:sp>
        <p:nvSpPr>
          <p:cNvPr id="598" name="Google Shape;598;p32"/>
          <p:cNvSpPr txBox="1"/>
          <p:nvPr/>
        </p:nvSpPr>
        <p:spPr>
          <a:xfrm>
            <a:off x="320040" y="347472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 sz="1600"/>
          </a:p>
        </p:txBody>
      </p:sp>
      <p:sp>
        <p:nvSpPr>
          <p:cNvPr id="599" name="Google Shape;599;p32"/>
          <p:cNvSpPr txBox="1"/>
          <p:nvPr/>
        </p:nvSpPr>
        <p:spPr>
          <a:xfrm>
            <a:off x="320040" y="373075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SPA, responsive, Chrome/Edge 130+</a:t>
            </a:r>
            <a:endParaRPr sz="1600"/>
          </a:p>
        </p:txBody>
      </p:sp>
      <p:sp>
        <p:nvSpPr>
          <p:cNvPr id="600" name="Google Shape;600;p32"/>
          <p:cNvSpPr/>
          <p:nvPr/>
        </p:nvSpPr>
        <p:spPr>
          <a:xfrm>
            <a:off x="2606040" y="1371600"/>
            <a:ext cx="224028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32"/>
          <p:cNvSpPr/>
          <p:nvPr/>
        </p:nvSpPr>
        <p:spPr>
          <a:xfrm>
            <a:off x="2606040" y="1371600"/>
            <a:ext cx="2240280" cy="502920"/>
          </a:xfrm>
          <a:prstGeom prst="roundRect">
            <a:avLst>
              <a:gd fmla="val 16667" name="adj"/>
            </a:avLst>
          </a:prstGeom>
          <a:solidFill>
            <a:srgbClr val="0F76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32"/>
          <p:cNvSpPr txBox="1"/>
          <p:nvPr/>
        </p:nvSpPr>
        <p:spPr>
          <a:xfrm>
            <a:off x="2697480" y="1417320"/>
            <a:ext cx="20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1800"/>
          </a:p>
        </p:txBody>
      </p:sp>
      <p:sp>
        <p:nvSpPr>
          <p:cNvPr id="603" name="Google Shape;603;p32"/>
          <p:cNvSpPr txBox="1"/>
          <p:nvPr/>
        </p:nvSpPr>
        <p:spPr>
          <a:xfrm>
            <a:off x="2697480" y="20116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  <a:endParaRPr sz="1600"/>
          </a:p>
        </p:txBody>
      </p:sp>
      <p:sp>
        <p:nvSpPr>
          <p:cNvPr id="604" name="Google Shape;604;p32"/>
          <p:cNvSpPr txBox="1"/>
          <p:nvPr/>
        </p:nvSpPr>
        <p:spPr>
          <a:xfrm>
            <a:off x="2697480" y="226771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Python / FastAPI</a:t>
            </a:r>
            <a:endParaRPr sz="1600"/>
          </a:p>
        </p:txBody>
      </p:sp>
      <p:sp>
        <p:nvSpPr>
          <p:cNvPr id="605" name="Google Shape;605;p32"/>
          <p:cNvSpPr txBox="1"/>
          <p:nvPr/>
        </p:nvSpPr>
        <p:spPr>
          <a:xfrm>
            <a:off x="2697480" y="274320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Hosting</a:t>
            </a:r>
            <a:endParaRPr sz="1600"/>
          </a:p>
        </p:txBody>
      </p:sp>
      <p:sp>
        <p:nvSpPr>
          <p:cNvPr id="606" name="Google Shape;606;p32"/>
          <p:cNvSpPr txBox="1"/>
          <p:nvPr/>
        </p:nvSpPr>
        <p:spPr>
          <a:xfrm>
            <a:off x="2697480" y="299923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App Service (Linux)</a:t>
            </a:r>
            <a:endParaRPr sz="1600"/>
          </a:p>
        </p:txBody>
      </p:sp>
      <p:sp>
        <p:nvSpPr>
          <p:cNvPr id="607" name="Google Shape;607;p32"/>
          <p:cNvSpPr txBox="1"/>
          <p:nvPr/>
        </p:nvSpPr>
        <p:spPr>
          <a:xfrm>
            <a:off x="2697480" y="347472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Auth</a:t>
            </a:r>
            <a:endParaRPr sz="1600"/>
          </a:p>
        </p:txBody>
      </p:sp>
      <p:sp>
        <p:nvSpPr>
          <p:cNvPr id="608" name="Google Shape;608;p32"/>
          <p:cNvSpPr txBox="1"/>
          <p:nvPr/>
        </p:nvSpPr>
        <p:spPr>
          <a:xfrm>
            <a:off x="2697480" y="373075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Entra ID JWT + RBAC middleware</a:t>
            </a:r>
            <a:endParaRPr sz="1600"/>
          </a:p>
        </p:txBody>
      </p:sp>
      <p:sp>
        <p:nvSpPr>
          <p:cNvPr id="609" name="Google Shape;609;p32"/>
          <p:cNvSpPr/>
          <p:nvPr/>
        </p:nvSpPr>
        <p:spPr>
          <a:xfrm>
            <a:off x="4983480" y="1371600"/>
            <a:ext cx="224028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32"/>
          <p:cNvSpPr/>
          <p:nvPr/>
        </p:nvSpPr>
        <p:spPr>
          <a:xfrm>
            <a:off x="4983480" y="1371600"/>
            <a:ext cx="2240280" cy="502920"/>
          </a:xfrm>
          <a:prstGeom prst="roundRect">
            <a:avLst>
              <a:gd fmla="val 16667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32"/>
          <p:cNvSpPr txBox="1"/>
          <p:nvPr/>
        </p:nvSpPr>
        <p:spPr>
          <a:xfrm>
            <a:off x="5074920" y="1417320"/>
            <a:ext cx="20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&amp; Search</a:t>
            </a:r>
            <a:endParaRPr sz="1800"/>
          </a:p>
        </p:txBody>
      </p:sp>
      <p:sp>
        <p:nvSpPr>
          <p:cNvPr id="612" name="Google Shape;612;p32"/>
          <p:cNvSpPr txBox="1"/>
          <p:nvPr/>
        </p:nvSpPr>
        <p:spPr>
          <a:xfrm>
            <a:off x="5074920" y="20116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sz="1600"/>
          </a:p>
        </p:txBody>
      </p:sp>
      <p:sp>
        <p:nvSpPr>
          <p:cNvPr id="613" name="Google Shape;613;p32"/>
          <p:cNvSpPr txBox="1"/>
          <p:nvPr/>
        </p:nvSpPr>
        <p:spPr>
          <a:xfrm>
            <a:off x="5074920" y="226771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OpenAI Service</a:t>
            </a:r>
            <a:endParaRPr sz="1600"/>
          </a:p>
        </p:txBody>
      </p:sp>
      <p:sp>
        <p:nvSpPr>
          <p:cNvPr id="614" name="Google Shape;614;p32"/>
          <p:cNvSpPr txBox="1"/>
          <p:nvPr/>
        </p:nvSpPr>
        <p:spPr>
          <a:xfrm>
            <a:off x="5074920" y="274320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Extraction</a:t>
            </a:r>
            <a:endParaRPr sz="1600"/>
          </a:p>
        </p:txBody>
      </p:sp>
      <p:sp>
        <p:nvSpPr>
          <p:cNvPr id="615" name="Google Shape;615;p32"/>
          <p:cNvSpPr txBox="1"/>
          <p:nvPr/>
        </p:nvSpPr>
        <p:spPr>
          <a:xfrm>
            <a:off x="5074920" y="299923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Content Understanding</a:t>
            </a:r>
            <a:endParaRPr sz="1600"/>
          </a:p>
        </p:txBody>
      </p:sp>
      <p:sp>
        <p:nvSpPr>
          <p:cNvPr id="616" name="Google Shape;616;p32"/>
          <p:cNvSpPr txBox="1"/>
          <p:nvPr/>
        </p:nvSpPr>
        <p:spPr>
          <a:xfrm>
            <a:off x="5074920" y="347472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Search</a:t>
            </a:r>
            <a:endParaRPr sz="1600"/>
          </a:p>
        </p:txBody>
      </p:sp>
      <p:sp>
        <p:nvSpPr>
          <p:cNvPr id="617" name="Google Shape;617;p32"/>
          <p:cNvSpPr txBox="1"/>
          <p:nvPr/>
        </p:nvSpPr>
        <p:spPr>
          <a:xfrm>
            <a:off x="5074920" y="373075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AI Search (vector index)</a:t>
            </a:r>
            <a:endParaRPr sz="1600"/>
          </a:p>
        </p:txBody>
      </p:sp>
      <p:sp>
        <p:nvSpPr>
          <p:cNvPr id="618" name="Google Shape;618;p32"/>
          <p:cNvSpPr txBox="1"/>
          <p:nvPr/>
        </p:nvSpPr>
        <p:spPr>
          <a:xfrm>
            <a:off x="5074920" y="420624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Pattern</a:t>
            </a:r>
            <a:endParaRPr sz="1600"/>
          </a:p>
        </p:txBody>
      </p:sp>
      <p:sp>
        <p:nvSpPr>
          <p:cNvPr id="619" name="Google Shape;619;p32"/>
          <p:cNvSpPr txBox="1"/>
          <p:nvPr/>
        </p:nvSpPr>
        <p:spPr>
          <a:xfrm>
            <a:off x="5074920" y="4462272"/>
            <a:ext cx="20574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RAG — Retrieval Augmented Generation</a:t>
            </a:r>
            <a:endParaRPr sz="1600"/>
          </a:p>
        </p:txBody>
      </p:sp>
      <p:sp>
        <p:nvSpPr>
          <p:cNvPr id="620" name="Google Shape;620;p32"/>
          <p:cNvSpPr/>
          <p:nvPr/>
        </p:nvSpPr>
        <p:spPr>
          <a:xfrm>
            <a:off x="7360920" y="1371600"/>
            <a:ext cx="224028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2"/>
          <p:cNvSpPr/>
          <p:nvPr/>
        </p:nvSpPr>
        <p:spPr>
          <a:xfrm>
            <a:off x="7360920" y="1371600"/>
            <a:ext cx="2240280" cy="502920"/>
          </a:xfrm>
          <a:prstGeom prst="roundRect">
            <a:avLst>
              <a:gd fmla="val 16667" name="adj"/>
            </a:avLst>
          </a:prstGeom>
          <a:solidFill>
            <a:srgbClr val="92400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32"/>
          <p:cNvSpPr txBox="1"/>
          <p:nvPr/>
        </p:nvSpPr>
        <p:spPr>
          <a:xfrm>
            <a:off x="7452360" y="1417320"/>
            <a:ext cx="20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&amp; Messaging</a:t>
            </a:r>
            <a:endParaRPr sz="1800"/>
          </a:p>
        </p:txBody>
      </p:sp>
      <p:sp>
        <p:nvSpPr>
          <p:cNvPr id="623" name="Google Shape;623;p32"/>
          <p:cNvSpPr txBox="1"/>
          <p:nvPr/>
        </p:nvSpPr>
        <p:spPr>
          <a:xfrm>
            <a:off x="7452360" y="20116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 sz="1600"/>
          </a:p>
        </p:txBody>
      </p:sp>
      <p:sp>
        <p:nvSpPr>
          <p:cNvPr id="624" name="Google Shape;624;p32"/>
          <p:cNvSpPr txBox="1"/>
          <p:nvPr/>
        </p:nvSpPr>
        <p:spPr>
          <a:xfrm>
            <a:off x="7452360" y="226771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PostgreSQL Flexible Server</a:t>
            </a:r>
            <a:endParaRPr sz="1600"/>
          </a:p>
        </p:txBody>
      </p:sp>
      <p:sp>
        <p:nvSpPr>
          <p:cNvPr id="625" name="Google Shape;625;p32"/>
          <p:cNvSpPr txBox="1"/>
          <p:nvPr/>
        </p:nvSpPr>
        <p:spPr>
          <a:xfrm>
            <a:off x="7452360" y="274320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Object Storage</a:t>
            </a:r>
            <a:endParaRPr sz="1600"/>
          </a:p>
        </p:txBody>
      </p:sp>
      <p:sp>
        <p:nvSpPr>
          <p:cNvPr id="626" name="Google Shape;626;p32"/>
          <p:cNvSpPr txBox="1"/>
          <p:nvPr/>
        </p:nvSpPr>
        <p:spPr>
          <a:xfrm>
            <a:off x="7452360" y="299923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Blob Storage</a:t>
            </a:r>
            <a:endParaRPr sz="1600"/>
          </a:p>
        </p:txBody>
      </p:sp>
      <p:sp>
        <p:nvSpPr>
          <p:cNvPr id="627" name="Google Shape;627;p32"/>
          <p:cNvSpPr txBox="1"/>
          <p:nvPr/>
        </p:nvSpPr>
        <p:spPr>
          <a:xfrm>
            <a:off x="7452360" y="347472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Cache / Broker</a:t>
            </a:r>
            <a:endParaRPr sz="1600"/>
          </a:p>
        </p:txBody>
      </p:sp>
      <p:sp>
        <p:nvSpPr>
          <p:cNvPr id="628" name="Google Shape;628;p32"/>
          <p:cNvSpPr txBox="1"/>
          <p:nvPr/>
        </p:nvSpPr>
        <p:spPr>
          <a:xfrm>
            <a:off x="7452360" y="373075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Cache for Redis</a:t>
            </a:r>
            <a:endParaRPr sz="1600"/>
          </a:p>
        </p:txBody>
      </p:sp>
      <p:sp>
        <p:nvSpPr>
          <p:cNvPr id="629" name="Google Shape;629;p32"/>
          <p:cNvSpPr txBox="1"/>
          <p:nvPr/>
        </p:nvSpPr>
        <p:spPr>
          <a:xfrm>
            <a:off x="7452360" y="420624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Task Queue</a:t>
            </a:r>
            <a:endParaRPr sz="1600"/>
          </a:p>
        </p:txBody>
      </p:sp>
      <p:sp>
        <p:nvSpPr>
          <p:cNvPr id="630" name="Google Shape;630;p32"/>
          <p:cNvSpPr txBox="1"/>
          <p:nvPr/>
        </p:nvSpPr>
        <p:spPr>
          <a:xfrm>
            <a:off x="7452360" y="446227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Celery (Python)</a:t>
            </a:r>
            <a:endParaRPr sz="1600"/>
          </a:p>
        </p:txBody>
      </p:sp>
      <p:sp>
        <p:nvSpPr>
          <p:cNvPr id="631" name="Google Shape;631;p32"/>
          <p:cNvSpPr/>
          <p:nvPr/>
        </p:nvSpPr>
        <p:spPr>
          <a:xfrm>
            <a:off x="9738360" y="1371600"/>
            <a:ext cx="2240280" cy="5029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2"/>
          <p:cNvSpPr/>
          <p:nvPr/>
        </p:nvSpPr>
        <p:spPr>
          <a:xfrm>
            <a:off x="9738360" y="1371600"/>
            <a:ext cx="2240280" cy="502920"/>
          </a:xfrm>
          <a:prstGeom prst="roundRect">
            <a:avLst>
              <a:gd fmla="val 16667" name="adj"/>
            </a:avLst>
          </a:prstGeom>
          <a:solidFill>
            <a:srgbClr val="4F52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2"/>
          <p:cNvSpPr txBox="1"/>
          <p:nvPr/>
        </p:nvSpPr>
        <p:spPr>
          <a:xfrm>
            <a:off x="9829800" y="1417320"/>
            <a:ext cx="20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Infrastructure</a:t>
            </a:r>
            <a:endParaRPr sz="1800"/>
          </a:p>
        </p:txBody>
      </p:sp>
      <p:sp>
        <p:nvSpPr>
          <p:cNvPr id="634" name="Google Shape;634;p32"/>
          <p:cNvSpPr txBox="1"/>
          <p:nvPr/>
        </p:nvSpPr>
        <p:spPr>
          <a:xfrm>
            <a:off x="9829800" y="20116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Networking</a:t>
            </a:r>
            <a:endParaRPr sz="1600"/>
          </a:p>
        </p:txBody>
      </p:sp>
      <p:sp>
        <p:nvSpPr>
          <p:cNvPr id="635" name="Google Shape;635;p32"/>
          <p:cNvSpPr txBox="1"/>
          <p:nvPr/>
        </p:nvSpPr>
        <p:spPr>
          <a:xfrm>
            <a:off x="9829800" y="226771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VNet + private endpoints</a:t>
            </a:r>
            <a:endParaRPr sz="1600"/>
          </a:p>
        </p:txBody>
      </p:sp>
      <p:sp>
        <p:nvSpPr>
          <p:cNvPr id="636" name="Google Shape;636;p32"/>
          <p:cNvSpPr txBox="1"/>
          <p:nvPr/>
        </p:nvSpPr>
        <p:spPr>
          <a:xfrm>
            <a:off x="9829800" y="274320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Secrets</a:t>
            </a:r>
            <a:endParaRPr sz="1600"/>
          </a:p>
        </p:txBody>
      </p:sp>
      <p:sp>
        <p:nvSpPr>
          <p:cNvPr id="637" name="Google Shape;637;p32"/>
          <p:cNvSpPr txBox="1"/>
          <p:nvPr/>
        </p:nvSpPr>
        <p:spPr>
          <a:xfrm>
            <a:off x="9829800" y="299923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Key Vault</a:t>
            </a:r>
            <a:endParaRPr sz="1600"/>
          </a:p>
        </p:txBody>
      </p:sp>
      <p:sp>
        <p:nvSpPr>
          <p:cNvPr id="638" name="Google Shape;638;p32"/>
          <p:cNvSpPr txBox="1"/>
          <p:nvPr/>
        </p:nvSpPr>
        <p:spPr>
          <a:xfrm>
            <a:off x="9829800" y="347472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Edge</a:t>
            </a:r>
            <a:endParaRPr sz="1600"/>
          </a:p>
        </p:txBody>
      </p:sp>
      <p:sp>
        <p:nvSpPr>
          <p:cNvPr id="639" name="Google Shape;639;p32"/>
          <p:cNvSpPr txBox="1"/>
          <p:nvPr/>
        </p:nvSpPr>
        <p:spPr>
          <a:xfrm>
            <a:off x="9829800" y="373075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Front Door + WAF</a:t>
            </a:r>
            <a:endParaRPr sz="1600"/>
          </a:p>
        </p:txBody>
      </p:sp>
      <p:sp>
        <p:nvSpPr>
          <p:cNvPr id="640" name="Google Shape;640;p32"/>
          <p:cNvSpPr txBox="1"/>
          <p:nvPr/>
        </p:nvSpPr>
        <p:spPr>
          <a:xfrm>
            <a:off x="9829800" y="420624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Monitoring</a:t>
            </a:r>
            <a:endParaRPr sz="1600"/>
          </a:p>
        </p:txBody>
      </p:sp>
      <p:sp>
        <p:nvSpPr>
          <p:cNvPr id="641" name="Google Shape;641;p32"/>
          <p:cNvSpPr txBox="1"/>
          <p:nvPr/>
        </p:nvSpPr>
        <p:spPr>
          <a:xfrm>
            <a:off x="9829800" y="446227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App Insights + budget alerts</a:t>
            </a:r>
            <a:endParaRPr sz="1600"/>
          </a:p>
        </p:txBody>
      </p:sp>
      <p:sp>
        <p:nvSpPr>
          <p:cNvPr id="642" name="Google Shape;642;p32"/>
          <p:cNvSpPr txBox="1"/>
          <p:nvPr/>
        </p:nvSpPr>
        <p:spPr>
          <a:xfrm>
            <a:off x="9829800" y="493776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IaC</a:t>
            </a:r>
            <a:endParaRPr sz="1600"/>
          </a:p>
        </p:txBody>
      </p:sp>
      <p:sp>
        <p:nvSpPr>
          <p:cNvPr id="643" name="Google Shape;643;p32"/>
          <p:cNvSpPr txBox="1"/>
          <p:nvPr/>
        </p:nvSpPr>
        <p:spPr>
          <a:xfrm>
            <a:off x="9829800" y="5193792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Bicep / Terraform</a:t>
            </a:r>
            <a:endParaRPr sz="1600"/>
          </a:p>
        </p:txBody>
      </p:sp>
      <p:sp>
        <p:nvSpPr>
          <p:cNvPr id="644" name="Google Shape;644;p32"/>
          <p:cNvSpPr txBox="1"/>
          <p:nvPr/>
        </p:nvSpPr>
        <p:spPr>
          <a:xfrm>
            <a:off x="9829800" y="5669280"/>
            <a:ext cx="205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CI/CD</a:t>
            </a:r>
            <a:endParaRPr sz="1600"/>
          </a:p>
        </p:txBody>
      </p:sp>
      <p:sp>
        <p:nvSpPr>
          <p:cNvPr id="645" name="Google Shape;645;p32"/>
          <p:cNvSpPr txBox="1"/>
          <p:nvPr/>
        </p:nvSpPr>
        <p:spPr>
          <a:xfrm>
            <a:off x="9829800" y="5925312"/>
            <a:ext cx="2057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GitHub Actions / Azure DevOps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33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3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Solution Benefits</a:t>
            </a:r>
            <a:endParaRPr/>
          </a:p>
        </p:txBody>
      </p:sp>
      <p:sp>
        <p:nvSpPr>
          <p:cNvPr id="652" name="Google Shape;652;p33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How TO-BE addresses every AS-IS pain point</a:t>
            </a:r>
            <a:endParaRPr sz="1800"/>
          </a:p>
        </p:txBody>
      </p:sp>
      <p:sp>
        <p:nvSpPr>
          <p:cNvPr id="653" name="Google Shape;653;p33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33"/>
          <p:cNvSpPr/>
          <p:nvPr/>
        </p:nvSpPr>
        <p:spPr>
          <a:xfrm>
            <a:off x="365760" y="137160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33"/>
          <p:cNvSpPr/>
          <p:nvPr/>
        </p:nvSpPr>
        <p:spPr>
          <a:xfrm>
            <a:off x="457200" y="146304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3"/>
          <p:cNvSpPr txBox="1"/>
          <p:nvPr/>
        </p:nvSpPr>
        <p:spPr>
          <a:xfrm>
            <a:off x="502920" y="148132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Limited Scope</a:t>
            </a:r>
            <a:endParaRPr sz="1600"/>
          </a:p>
        </p:txBody>
      </p:sp>
      <p:sp>
        <p:nvSpPr>
          <p:cNvPr id="657" name="Google Shape;657;p33"/>
          <p:cNvSpPr/>
          <p:nvPr/>
        </p:nvSpPr>
        <p:spPr>
          <a:xfrm>
            <a:off x="457200" y="187452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33"/>
          <p:cNvSpPr txBox="1"/>
          <p:nvPr/>
        </p:nvSpPr>
        <p:spPr>
          <a:xfrm>
            <a:off x="502920" y="189280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End-to-end Document Intelligence</a:t>
            </a:r>
            <a:endParaRPr sz="1600"/>
          </a:p>
        </p:txBody>
      </p:sp>
      <p:sp>
        <p:nvSpPr>
          <p:cNvPr id="659" name="Google Shape;659;p33"/>
          <p:cNvSpPr txBox="1"/>
          <p:nvPr/>
        </p:nvSpPr>
        <p:spPr>
          <a:xfrm>
            <a:off x="502920" y="2377440"/>
            <a:ext cx="33375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Expands beyond basic submission/review to support processing, audit, search, and knowledge assistance in one unified workflow.</a:t>
            </a:r>
            <a:endParaRPr sz="1600"/>
          </a:p>
        </p:txBody>
      </p:sp>
      <p:sp>
        <p:nvSpPr>
          <p:cNvPr id="660" name="Google Shape;660;p33"/>
          <p:cNvSpPr/>
          <p:nvPr/>
        </p:nvSpPr>
        <p:spPr>
          <a:xfrm>
            <a:off x="4160520" y="137160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33"/>
          <p:cNvSpPr/>
          <p:nvPr/>
        </p:nvSpPr>
        <p:spPr>
          <a:xfrm>
            <a:off x="4251960" y="146304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33"/>
          <p:cNvSpPr txBox="1"/>
          <p:nvPr/>
        </p:nvSpPr>
        <p:spPr>
          <a:xfrm>
            <a:off x="4297680" y="148132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No Multi-Source</a:t>
            </a:r>
            <a:endParaRPr sz="1600"/>
          </a:p>
        </p:txBody>
      </p:sp>
      <p:sp>
        <p:nvSpPr>
          <p:cNvPr id="663" name="Google Shape;663;p33"/>
          <p:cNvSpPr/>
          <p:nvPr/>
        </p:nvSpPr>
        <p:spPr>
          <a:xfrm>
            <a:off x="4251960" y="187452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3"/>
          <p:cNvSpPr txBox="1"/>
          <p:nvPr/>
        </p:nvSpPr>
        <p:spPr>
          <a:xfrm>
            <a:off x="4297680" y="189280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Unified Enterprise Access</a:t>
            </a:r>
            <a:endParaRPr sz="1600"/>
          </a:p>
        </p:txBody>
      </p:sp>
      <p:sp>
        <p:nvSpPr>
          <p:cNvPr id="665" name="Google Shape;665;p33"/>
          <p:cNvSpPr txBox="1"/>
          <p:nvPr/>
        </p:nvSpPr>
        <p:spPr>
          <a:xfrm>
            <a:off x="4297680" y="2377440"/>
            <a:ext cx="3337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Combines documents from SharePoint, Confluence, file servers, and databases into a single searchable knowledge layer.</a:t>
            </a:r>
            <a:endParaRPr sz="1600"/>
          </a:p>
        </p:txBody>
      </p:sp>
      <p:sp>
        <p:nvSpPr>
          <p:cNvPr id="666" name="Google Shape;666;p33"/>
          <p:cNvSpPr/>
          <p:nvPr/>
        </p:nvSpPr>
        <p:spPr>
          <a:xfrm>
            <a:off x="7955280" y="137160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3"/>
          <p:cNvSpPr/>
          <p:nvPr/>
        </p:nvSpPr>
        <p:spPr>
          <a:xfrm>
            <a:off x="8046720" y="146304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3"/>
          <p:cNvSpPr txBox="1"/>
          <p:nvPr/>
        </p:nvSpPr>
        <p:spPr>
          <a:xfrm>
            <a:off x="8092440" y="148132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Weak Automation</a:t>
            </a:r>
            <a:endParaRPr sz="1600"/>
          </a:p>
        </p:txBody>
      </p:sp>
      <p:sp>
        <p:nvSpPr>
          <p:cNvPr id="669" name="Google Shape;669;p33"/>
          <p:cNvSpPr/>
          <p:nvPr/>
        </p:nvSpPr>
        <p:spPr>
          <a:xfrm>
            <a:off x="8046720" y="187452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3"/>
          <p:cNvSpPr txBox="1"/>
          <p:nvPr/>
        </p:nvSpPr>
        <p:spPr>
          <a:xfrm>
            <a:off x="8092440" y="189280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Automated Quality Assurance</a:t>
            </a:r>
            <a:endParaRPr sz="1600"/>
          </a:p>
        </p:txBody>
      </p:sp>
      <p:sp>
        <p:nvSpPr>
          <p:cNvPr id="671" name="Google Shape;671;p33"/>
          <p:cNvSpPr txBox="1"/>
          <p:nvPr/>
        </p:nvSpPr>
        <p:spPr>
          <a:xfrm>
            <a:off x="8092440" y="2377440"/>
            <a:ext cx="3337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Checks completeness, identifies gaps, and guides resubmission — reducing manual rework by catching issues earlier.</a:t>
            </a:r>
            <a:endParaRPr sz="1600"/>
          </a:p>
        </p:txBody>
      </p:sp>
      <p:sp>
        <p:nvSpPr>
          <p:cNvPr id="672" name="Google Shape;672;p33"/>
          <p:cNvSpPr/>
          <p:nvPr/>
        </p:nvSpPr>
        <p:spPr>
          <a:xfrm>
            <a:off x="365760" y="393192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3"/>
          <p:cNvSpPr/>
          <p:nvPr/>
        </p:nvSpPr>
        <p:spPr>
          <a:xfrm>
            <a:off x="457200" y="402336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3"/>
          <p:cNvSpPr txBox="1"/>
          <p:nvPr/>
        </p:nvSpPr>
        <p:spPr>
          <a:xfrm>
            <a:off x="502920" y="404164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Heavy Manual Review</a:t>
            </a:r>
            <a:endParaRPr sz="1600"/>
          </a:p>
        </p:txBody>
      </p:sp>
      <p:sp>
        <p:nvSpPr>
          <p:cNvPr id="675" name="Google Shape;675;p33"/>
          <p:cNvSpPr/>
          <p:nvPr/>
        </p:nvSpPr>
        <p:spPr>
          <a:xfrm>
            <a:off x="457200" y="443484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33"/>
          <p:cNvSpPr txBox="1"/>
          <p:nvPr/>
        </p:nvSpPr>
        <p:spPr>
          <a:xfrm>
            <a:off x="502920" y="445312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Lower Reviewer Effort</a:t>
            </a:r>
            <a:endParaRPr sz="1600"/>
          </a:p>
        </p:txBody>
      </p:sp>
      <p:sp>
        <p:nvSpPr>
          <p:cNvPr id="677" name="Google Shape;677;p33"/>
          <p:cNvSpPr txBox="1"/>
          <p:nvPr/>
        </p:nvSpPr>
        <p:spPr>
          <a:xfrm>
            <a:off x="502920" y="4937760"/>
            <a:ext cx="3337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AI summarizes results, surfaces risks, and lets reviewers focus on exceptions rather than repetitive document reading.</a:t>
            </a:r>
            <a:endParaRPr sz="1600"/>
          </a:p>
        </p:txBody>
      </p:sp>
      <p:sp>
        <p:nvSpPr>
          <p:cNvPr id="678" name="Google Shape;678;p33"/>
          <p:cNvSpPr/>
          <p:nvPr/>
        </p:nvSpPr>
        <p:spPr>
          <a:xfrm>
            <a:off x="4160520" y="393192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3"/>
          <p:cNvSpPr/>
          <p:nvPr/>
        </p:nvSpPr>
        <p:spPr>
          <a:xfrm>
            <a:off x="4251960" y="402336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3"/>
          <p:cNvSpPr txBox="1"/>
          <p:nvPr/>
        </p:nvSpPr>
        <p:spPr>
          <a:xfrm>
            <a:off x="4297680" y="404164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Missing Feedback Loop</a:t>
            </a:r>
            <a:endParaRPr sz="1600"/>
          </a:p>
        </p:txBody>
      </p:sp>
      <p:sp>
        <p:nvSpPr>
          <p:cNvPr id="681" name="Google Shape;681;p33"/>
          <p:cNvSpPr/>
          <p:nvPr/>
        </p:nvSpPr>
        <p:spPr>
          <a:xfrm>
            <a:off x="4251960" y="443484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3"/>
          <p:cNvSpPr txBox="1"/>
          <p:nvPr/>
        </p:nvSpPr>
        <p:spPr>
          <a:xfrm>
            <a:off x="4297680" y="445312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Continuous AI Improvement</a:t>
            </a:r>
            <a:endParaRPr sz="1600"/>
          </a:p>
        </p:txBody>
      </p:sp>
      <p:sp>
        <p:nvSpPr>
          <p:cNvPr id="683" name="Google Shape;683;p33"/>
          <p:cNvSpPr txBox="1"/>
          <p:nvPr/>
        </p:nvSpPr>
        <p:spPr>
          <a:xfrm>
            <a:off x="4297680" y="4937760"/>
            <a:ext cx="3337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Learns from user interactions and corrections to refine future search results and audit recommendations.</a:t>
            </a:r>
            <a:endParaRPr sz="1600"/>
          </a:p>
        </p:txBody>
      </p:sp>
      <p:sp>
        <p:nvSpPr>
          <p:cNvPr id="684" name="Google Shape;684;p33"/>
          <p:cNvSpPr/>
          <p:nvPr/>
        </p:nvSpPr>
        <p:spPr>
          <a:xfrm>
            <a:off x="7955280" y="3931920"/>
            <a:ext cx="361188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3"/>
          <p:cNvSpPr/>
          <p:nvPr/>
        </p:nvSpPr>
        <p:spPr>
          <a:xfrm>
            <a:off x="8046720" y="4023360"/>
            <a:ext cx="3429000" cy="320040"/>
          </a:xfrm>
          <a:prstGeom prst="roundRect">
            <a:avLst>
              <a:gd fmla="val 16667" name="adj"/>
            </a:avLst>
          </a:prstGeom>
          <a:solidFill>
            <a:srgbClr val="F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3"/>
          <p:cNvSpPr txBox="1"/>
          <p:nvPr/>
        </p:nvSpPr>
        <p:spPr>
          <a:xfrm>
            <a:off x="8092440" y="4041648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✗  No Expert Matching</a:t>
            </a:r>
            <a:endParaRPr sz="1600"/>
          </a:p>
        </p:txBody>
      </p:sp>
      <p:sp>
        <p:nvSpPr>
          <p:cNvPr id="687" name="Google Shape;687;p33"/>
          <p:cNvSpPr/>
          <p:nvPr/>
        </p:nvSpPr>
        <p:spPr>
          <a:xfrm>
            <a:off x="8046720" y="4434840"/>
            <a:ext cx="3429000" cy="3657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3"/>
          <p:cNvSpPr txBox="1"/>
          <p:nvPr/>
        </p:nvSpPr>
        <p:spPr>
          <a:xfrm>
            <a:off x="8092440" y="4453127"/>
            <a:ext cx="333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✓  Faster SME Matching</a:t>
            </a:r>
            <a:endParaRPr sz="1600"/>
          </a:p>
        </p:txBody>
      </p:sp>
      <p:sp>
        <p:nvSpPr>
          <p:cNvPr id="689" name="Google Shape;689;p33"/>
          <p:cNvSpPr txBox="1"/>
          <p:nvPr/>
        </p:nvSpPr>
        <p:spPr>
          <a:xfrm>
            <a:off x="8092440" y="4937760"/>
            <a:ext cx="3337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Extracts domain keywords from documents and matches against HR profiles — reducing decision delays.</a:t>
            </a:r>
            <a:endParaRPr sz="1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34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34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Estimation — Development Effort</a:t>
            </a:r>
            <a:endParaRPr/>
          </a:p>
        </p:txBody>
      </p:sp>
      <p:sp>
        <p:nvSpPr>
          <p:cNvPr id="696" name="Google Shape;696;p34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Team: 5 members (1 PM, 2 Backend, 1 Frontend, 1 QA) · Timeline: 3 months</a:t>
            </a:r>
            <a:endParaRPr sz="1800"/>
          </a:p>
        </p:txBody>
      </p:sp>
      <p:sp>
        <p:nvSpPr>
          <p:cNvPr id="697" name="Google Shape;697;p34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4"/>
          <p:cNvSpPr/>
          <p:nvPr/>
        </p:nvSpPr>
        <p:spPr>
          <a:xfrm>
            <a:off x="365760" y="137160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34"/>
          <p:cNvSpPr txBox="1"/>
          <p:nvPr/>
        </p:nvSpPr>
        <p:spPr>
          <a:xfrm>
            <a:off x="457200" y="13716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Task</a:t>
            </a:r>
            <a:endParaRPr sz="1800"/>
          </a:p>
        </p:txBody>
      </p:sp>
      <p:sp>
        <p:nvSpPr>
          <p:cNvPr id="700" name="Google Shape;700;p34"/>
          <p:cNvSpPr txBox="1"/>
          <p:nvPr/>
        </p:nvSpPr>
        <p:spPr>
          <a:xfrm>
            <a:off x="4480560" y="137160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Man-Days</a:t>
            </a:r>
            <a:endParaRPr sz="1800"/>
          </a:p>
        </p:txBody>
      </p:sp>
      <p:sp>
        <p:nvSpPr>
          <p:cNvPr id="701" name="Google Shape;701;p34"/>
          <p:cNvSpPr/>
          <p:nvPr/>
        </p:nvSpPr>
        <p:spPr>
          <a:xfrm>
            <a:off x="365760" y="173736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34"/>
          <p:cNvSpPr txBox="1"/>
          <p:nvPr/>
        </p:nvSpPr>
        <p:spPr>
          <a:xfrm>
            <a:off x="457200" y="173736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Project Setup &amp; Infra</a:t>
            </a:r>
            <a:endParaRPr sz="1800"/>
          </a:p>
        </p:txBody>
      </p:sp>
      <p:sp>
        <p:nvSpPr>
          <p:cNvPr id="703" name="Google Shape;703;p34"/>
          <p:cNvSpPr txBox="1"/>
          <p:nvPr/>
        </p:nvSpPr>
        <p:spPr>
          <a:xfrm>
            <a:off x="4480560" y="173736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1800"/>
          </a:p>
        </p:txBody>
      </p:sp>
      <p:sp>
        <p:nvSpPr>
          <p:cNvPr id="704" name="Google Shape;704;p34"/>
          <p:cNvSpPr/>
          <p:nvPr/>
        </p:nvSpPr>
        <p:spPr>
          <a:xfrm>
            <a:off x="365760" y="210312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4"/>
          <p:cNvSpPr txBox="1"/>
          <p:nvPr/>
        </p:nvSpPr>
        <p:spPr>
          <a:xfrm>
            <a:off x="457200" y="210312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Auth &amp; Authorization</a:t>
            </a:r>
            <a:endParaRPr sz="1800"/>
          </a:p>
        </p:txBody>
      </p:sp>
      <p:sp>
        <p:nvSpPr>
          <p:cNvPr id="706" name="Google Shape;706;p34"/>
          <p:cNvSpPr txBox="1"/>
          <p:nvPr/>
        </p:nvSpPr>
        <p:spPr>
          <a:xfrm>
            <a:off x="4480560" y="210312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800"/>
          </a:p>
        </p:txBody>
      </p:sp>
      <p:sp>
        <p:nvSpPr>
          <p:cNvPr id="707" name="Google Shape;707;p34"/>
          <p:cNvSpPr/>
          <p:nvPr/>
        </p:nvSpPr>
        <p:spPr>
          <a:xfrm>
            <a:off x="365760" y="246888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4"/>
          <p:cNvSpPr txBox="1"/>
          <p:nvPr/>
        </p:nvSpPr>
        <p:spPr>
          <a:xfrm>
            <a:off x="457200" y="246888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Frontend (React SPA)</a:t>
            </a:r>
            <a:endParaRPr sz="1800"/>
          </a:p>
        </p:txBody>
      </p:sp>
      <p:sp>
        <p:nvSpPr>
          <p:cNvPr id="709" name="Google Shape;709;p34"/>
          <p:cNvSpPr txBox="1"/>
          <p:nvPr/>
        </p:nvSpPr>
        <p:spPr>
          <a:xfrm>
            <a:off x="4480560" y="246888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56</a:t>
            </a:r>
            <a:endParaRPr sz="1800"/>
          </a:p>
        </p:txBody>
      </p:sp>
      <p:sp>
        <p:nvSpPr>
          <p:cNvPr id="710" name="Google Shape;710;p34"/>
          <p:cNvSpPr/>
          <p:nvPr/>
        </p:nvSpPr>
        <p:spPr>
          <a:xfrm>
            <a:off x="365760" y="283464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4"/>
          <p:cNvSpPr txBox="1"/>
          <p:nvPr/>
        </p:nvSpPr>
        <p:spPr>
          <a:xfrm>
            <a:off x="457200" y="283464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Backend API (FastAPI)</a:t>
            </a:r>
            <a:endParaRPr sz="1800"/>
          </a:p>
        </p:txBody>
      </p:sp>
      <p:sp>
        <p:nvSpPr>
          <p:cNvPr id="712" name="Google Shape;712;p34"/>
          <p:cNvSpPr txBox="1"/>
          <p:nvPr/>
        </p:nvSpPr>
        <p:spPr>
          <a:xfrm>
            <a:off x="4480560" y="283464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46</a:t>
            </a:r>
            <a:endParaRPr sz="1800"/>
          </a:p>
        </p:txBody>
      </p:sp>
      <p:sp>
        <p:nvSpPr>
          <p:cNvPr id="713" name="Google Shape;713;p34"/>
          <p:cNvSpPr/>
          <p:nvPr/>
        </p:nvSpPr>
        <p:spPr>
          <a:xfrm>
            <a:off x="365760" y="320040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4"/>
          <p:cNvSpPr txBox="1"/>
          <p:nvPr/>
        </p:nvSpPr>
        <p:spPr>
          <a:xfrm>
            <a:off x="457200" y="32004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Doc Processing Pipeline</a:t>
            </a:r>
            <a:endParaRPr sz="1800"/>
          </a:p>
        </p:txBody>
      </p:sp>
      <p:sp>
        <p:nvSpPr>
          <p:cNvPr id="715" name="Google Shape;715;p34"/>
          <p:cNvSpPr txBox="1"/>
          <p:nvPr/>
        </p:nvSpPr>
        <p:spPr>
          <a:xfrm>
            <a:off x="4480560" y="320040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34</a:t>
            </a:r>
            <a:endParaRPr sz="1800"/>
          </a:p>
        </p:txBody>
      </p:sp>
      <p:sp>
        <p:nvSpPr>
          <p:cNvPr id="716" name="Google Shape;716;p34"/>
          <p:cNvSpPr/>
          <p:nvPr/>
        </p:nvSpPr>
        <p:spPr>
          <a:xfrm>
            <a:off x="365760" y="356616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4"/>
          <p:cNvSpPr txBox="1"/>
          <p:nvPr/>
        </p:nvSpPr>
        <p:spPr>
          <a:xfrm>
            <a:off x="457200" y="356616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AI Search &amp; Knowledge</a:t>
            </a:r>
            <a:endParaRPr sz="1800"/>
          </a:p>
        </p:txBody>
      </p:sp>
      <p:sp>
        <p:nvSpPr>
          <p:cNvPr id="718" name="Google Shape;718;p34"/>
          <p:cNvSpPr txBox="1"/>
          <p:nvPr/>
        </p:nvSpPr>
        <p:spPr>
          <a:xfrm>
            <a:off x="4480560" y="356616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sz="1800"/>
          </a:p>
        </p:txBody>
      </p:sp>
      <p:sp>
        <p:nvSpPr>
          <p:cNvPr id="719" name="Google Shape;719;p34"/>
          <p:cNvSpPr/>
          <p:nvPr/>
        </p:nvSpPr>
        <p:spPr>
          <a:xfrm>
            <a:off x="365760" y="393192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4"/>
          <p:cNvSpPr txBox="1"/>
          <p:nvPr/>
        </p:nvSpPr>
        <p:spPr>
          <a:xfrm>
            <a:off x="457200" y="393192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Expert Identification</a:t>
            </a:r>
            <a:endParaRPr sz="1800"/>
          </a:p>
        </p:txBody>
      </p:sp>
      <p:sp>
        <p:nvSpPr>
          <p:cNvPr id="721" name="Google Shape;721;p34"/>
          <p:cNvSpPr txBox="1"/>
          <p:nvPr/>
        </p:nvSpPr>
        <p:spPr>
          <a:xfrm>
            <a:off x="4480560" y="393192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800"/>
          </a:p>
        </p:txBody>
      </p:sp>
      <p:sp>
        <p:nvSpPr>
          <p:cNvPr id="722" name="Google Shape;722;p34"/>
          <p:cNvSpPr/>
          <p:nvPr/>
        </p:nvSpPr>
        <p:spPr>
          <a:xfrm>
            <a:off x="365760" y="429768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4"/>
          <p:cNvSpPr txBox="1"/>
          <p:nvPr/>
        </p:nvSpPr>
        <p:spPr>
          <a:xfrm>
            <a:off x="457200" y="429768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Learning from Interactions</a:t>
            </a:r>
            <a:endParaRPr sz="1800"/>
          </a:p>
        </p:txBody>
      </p:sp>
      <p:sp>
        <p:nvSpPr>
          <p:cNvPr id="724" name="Google Shape;724;p34"/>
          <p:cNvSpPr txBox="1"/>
          <p:nvPr/>
        </p:nvSpPr>
        <p:spPr>
          <a:xfrm>
            <a:off x="4480560" y="429768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800"/>
          </a:p>
        </p:txBody>
      </p:sp>
      <p:sp>
        <p:nvSpPr>
          <p:cNvPr id="725" name="Google Shape;725;p34"/>
          <p:cNvSpPr/>
          <p:nvPr/>
        </p:nvSpPr>
        <p:spPr>
          <a:xfrm>
            <a:off x="365760" y="466344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4"/>
          <p:cNvSpPr txBox="1"/>
          <p:nvPr/>
        </p:nvSpPr>
        <p:spPr>
          <a:xfrm>
            <a:off x="457200" y="466344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Non-Functional (NFR)</a:t>
            </a:r>
            <a:endParaRPr sz="1800"/>
          </a:p>
        </p:txBody>
      </p:sp>
      <p:sp>
        <p:nvSpPr>
          <p:cNvPr id="727" name="Google Shape;727;p34"/>
          <p:cNvSpPr txBox="1"/>
          <p:nvPr/>
        </p:nvSpPr>
        <p:spPr>
          <a:xfrm>
            <a:off x="4480560" y="466344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sz="1800"/>
          </a:p>
        </p:txBody>
      </p:sp>
      <p:sp>
        <p:nvSpPr>
          <p:cNvPr id="728" name="Google Shape;728;p34"/>
          <p:cNvSpPr/>
          <p:nvPr/>
        </p:nvSpPr>
        <p:spPr>
          <a:xfrm>
            <a:off x="365760" y="502920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34"/>
          <p:cNvSpPr txBox="1"/>
          <p:nvPr/>
        </p:nvSpPr>
        <p:spPr>
          <a:xfrm>
            <a:off x="457200" y="50292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  <a:endParaRPr sz="1800"/>
          </a:p>
        </p:txBody>
      </p:sp>
      <p:sp>
        <p:nvSpPr>
          <p:cNvPr id="730" name="Google Shape;730;p34"/>
          <p:cNvSpPr txBox="1"/>
          <p:nvPr/>
        </p:nvSpPr>
        <p:spPr>
          <a:xfrm>
            <a:off x="4480560" y="502920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800"/>
          </a:p>
        </p:txBody>
      </p:sp>
      <p:sp>
        <p:nvSpPr>
          <p:cNvPr id="731" name="Google Shape;731;p34"/>
          <p:cNvSpPr/>
          <p:nvPr/>
        </p:nvSpPr>
        <p:spPr>
          <a:xfrm>
            <a:off x="365760" y="539496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4"/>
          <p:cNvSpPr txBox="1"/>
          <p:nvPr/>
        </p:nvSpPr>
        <p:spPr>
          <a:xfrm>
            <a:off x="457200" y="539496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Deploy, Docs &amp; Training</a:t>
            </a:r>
            <a:endParaRPr sz="1800"/>
          </a:p>
        </p:txBody>
      </p:sp>
      <p:sp>
        <p:nvSpPr>
          <p:cNvPr id="733" name="Google Shape;733;p34"/>
          <p:cNvSpPr txBox="1"/>
          <p:nvPr/>
        </p:nvSpPr>
        <p:spPr>
          <a:xfrm>
            <a:off x="4480560" y="539496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1800"/>
          </a:p>
        </p:txBody>
      </p:sp>
      <p:sp>
        <p:nvSpPr>
          <p:cNvPr id="734" name="Google Shape;734;p34"/>
          <p:cNvSpPr/>
          <p:nvPr/>
        </p:nvSpPr>
        <p:spPr>
          <a:xfrm>
            <a:off x="365760" y="5760720"/>
            <a:ext cx="5486400" cy="3657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4"/>
          <p:cNvSpPr txBox="1"/>
          <p:nvPr/>
        </p:nvSpPr>
        <p:spPr>
          <a:xfrm>
            <a:off x="457200" y="576072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800"/>
          </a:p>
        </p:txBody>
      </p:sp>
      <p:sp>
        <p:nvSpPr>
          <p:cNvPr id="736" name="Google Shape;736;p34"/>
          <p:cNvSpPr txBox="1"/>
          <p:nvPr/>
        </p:nvSpPr>
        <p:spPr>
          <a:xfrm>
            <a:off x="4480560" y="5760720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276</a:t>
            </a:r>
            <a:endParaRPr sz="1800"/>
          </a:p>
        </p:txBody>
      </p:sp>
      <p:sp>
        <p:nvSpPr>
          <p:cNvPr id="737" name="Google Shape;737;p34"/>
          <p:cNvSpPr/>
          <p:nvPr/>
        </p:nvSpPr>
        <p:spPr>
          <a:xfrm>
            <a:off x="6400800" y="1371600"/>
            <a:ext cx="5303520" cy="7315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1155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4"/>
          <p:cNvSpPr txBox="1"/>
          <p:nvPr/>
        </p:nvSpPr>
        <p:spPr>
          <a:xfrm>
            <a:off x="6537960" y="141732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Risk Buffers</a:t>
            </a:r>
            <a:endParaRPr sz="1800"/>
          </a:p>
        </p:txBody>
      </p:sp>
      <p:sp>
        <p:nvSpPr>
          <p:cNvPr id="739" name="Google Shape;739;p34"/>
          <p:cNvSpPr txBox="1"/>
          <p:nvPr/>
        </p:nvSpPr>
        <p:spPr>
          <a:xfrm>
            <a:off x="6537960" y="1719072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r>
              <a:rPr b="1" lang="en-US" sz="1800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 Man-Days</a:t>
            </a:r>
            <a:endParaRPr sz="1800"/>
          </a:p>
        </p:txBody>
      </p:sp>
      <p:sp>
        <p:nvSpPr>
          <p:cNvPr id="740" name="Google Shape;740;p34"/>
          <p:cNvSpPr/>
          <p:nvPr/>
        </p:nvSpPr>
        <p:spPr>
          <a:xfrm>
            <a:off x="6400800" y="2240280"/>
            <a:ext cx="5303520" cy="7315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4"/>
          <p:cNvSpPr txBox="1"/>
          <p:nvPr/>
        </p:nvSpPr>
        <p:spPr>
          <a:xfrm>
            <a:off x="6537960" y="22860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Total Man-Days</a:t>
            </a:r>
            <a:endParaRPr sz="1800"/>
          </a:p>
        </p:txBody>
      </p:sp>
      <p:sp>
        <p:nvSpPr>
          <p:cNvPr id="742" name="Google Shape;742;p34"/>
          <p:cNvSpPr txBox="1"/>
          <p:nvPr/>
        </p:nvSpPr>
        <p:spPr>
          <a:xfrm>
            <a:off x="6537960" y="2587752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304</a:t>
            </a:r>
            <a:endParaRPr sz="1800"/>
          </a:p>
        </p:txBody>
      </p:sp>
      <p:sp>
        <p:nvSpPr>
          <p:cNvPr id="743" name="Google Shape;743;p34"/>
          <p:cNvSpPr/>
          <p:nvPr/>
        </p:nvSpPr>
        <p:spPr>
          <a:xfrm>
            <a:off x="6400800" y="3108960"/>
            <a:ext cx="5303520" cy="7315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E0A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4"/>
          <p:cNvSpPr txBox="1"/>
          <p:nvPr/>
        </p:nvSpPr>
        <p:spPr>
          <a:xfrm>
            <a:off x="6537960" y="31546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Cost Per Man-Days</a:t>
            </a:r>
            <a:endParaRPr sz="1800"/>
          </a:p>
        </p:txBody>
      </p:sp>
      <p:sp>
        <p:nvSpPr>
          <p:cNvPr id="745" name="Google Shape;745;p34"/>
          <p:cNvSpPr txBox="1"/>
          <p:nvPr/>
        </p:nvSpPr>
        <p:spPr>
          <a:xfrm>
            <a:off x="6537960" y="3456432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$2000</a:t>
            </a:r>
            <a:endParaRPr sz="1800"/>
          </a:p>
        </p:txBody>
      </p:sp>
      <p:sp>
        <p:nvSpPr>
          <p:cNvPr id="746" name="Google Shape;746;p34"/>
          <p:cNvSpPr/>
          <p:nvPr/>
        </p:nvSpPr>
        <p:spPr>
          <a:xfrm>
            <a:off x="6400800" y="3977639"/>
            <a:ext cx="5303520" cy="7315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4"/>
          <p:cNvSpPr txBox="1"/>
          <p:nvPr/>
        </p:nvSpPr>
        <p:spPr>
          <a:xfrm>
            <a:off x="6537960" y="4023359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800"/>
          </a:p>
        </p:txBody>
      </p:sp>
      <p:sp>
        <p:nvSpPr>
          <p:cNvPr id="748" name="Google Shape;748;p34"/>
          <p:cNvSpPr txBox="1"/>
          <p:nvPr/>
        </p:nvSpPr>
        <p:spPr>
          <a:xfrm>
            <a:off x="6537960" y="4325111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$608,000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35"/>
          <p:cNvSpPr/>
          <p:nvPr/>
        </p:nvSpPr>
        <p:spPr>
          <a:xfrm>
            <a:off x="0" y="0"/>
            <a:ext cx="12191695" cy="105156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35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Estimation — Infrastructure Cost</a:t>
            </a:r>
            <a:endParaRPr/>
          </a:p>
        </p:txBody>
      </p:sp>
      <p:sp>
        <p:nvSpPr>
          <p:cNvPr id="755" name="Google Shape;755;p35"/>
          <p:cNvSpPr txBox="1"/>
          <p:nvPr/>
        </p:nvSpPr>
        <p:spPr>
          <a:xfrm>
            <a:off x="548640" y="64008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Platform: Azure Cloud</a:t>
            </a:r>
            <a:r>
              <a:rPr b="0" i="0" lang="en-US" sz="18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 · Production cap: $5,000/month</a:t>
            </a:r>
            <a:endParaRPr sz="1800"/>
          </a:p>
        </p:txBody>
      </p:sp>
      <p:sp>
        <p:nvSpPr>
          <p:cNvPr id="756" name="Google Shape;756;p35"/>
          <p:cNvSpPr/>
          <p:nvPr/>
        </p:nvSpPr>
        <p:spPr>
          <a:xfrm>
            <a:off x="0" y="1051560"/>
            <a:ext cx="12191695" cy="508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35"/>
          <p:cNvSpPr txBox="1"/>
          <p:nvPr/>
        </p:nvSpPr>
        <p:spPr>
          <a:xfrm>
            <a:off x="365760" y="1234440"/>
            <a:ext cx="5486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Development Phase (3 months)</a:t>
            </a:r>
            <a:endParaRPr sz="1800"/>
          </a:p>
        </p:txBody>
      </p:sp>
      <p:sp>
        <p:nvSpPr>
          <p:cNvPr id="758" name="Google Shape;758;p35"/>
          <p:cNvSpPr/>
          <p:nvPr/>
        </p:nvSpPr>
        <p:spPr>
          <a:xfrm>
            <a:off x="365760" y="1554480"/>
            <a:ext cx="5486400" cy="32004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35"/>
          <p:cNvSpPr txBox="1"/>
          <p:nvPr/>
        </p:nvSpPr>
        <p:spPr>
          <a:xfrm>
            <a:off x="457200" y="15544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Component</a:t>
            </a:r>
            <a:endParaRPr sz="1800"/>
          </a:p>
        </p:txBody>
      </p:sp>
      <p:sp>
        <p:nvSpPr>
          <p:cNvPr id="760" name="Google Shape;760;p35"/>
          <p:cNvSpPr txBox="1"/>
          <p:nvPr/>
        </p:nvSpPr>
        <p:spPr>
          <a:xfrm>
            <a:off x="3200400" y="1554480"/>
            <a:ext cx="118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Monthly (USD)</a:t>
            </a:r>
            <a:endParaRPr sz="1800"/>
          </a:p>
        </p:txBody>
      </p:sp>
      <p:sp>
        <p:nvSpPr>
          <p:cNvPr id="761" name="Google Shape;761;p35"/>
          <p:cNvSpPr txBox="1"/>
          <p:nvPr/>
        </p:nvSpPr>
        <p:spPr>
          <a:xfrm>
            <a:off x="4572000" y="1554480"/>
            <a:ext cx="118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3-Month (USD)</a:t>
            </a:r>
            <a:endParaRPr sz="1800"/>
          </a:p>
        </p:txBody>
      </p:sp>
      <p:sp>
        <p:nvSpPr>
          <p:cNvPr id="762" name="Google Shape;762;p35"/>
          <p:cNvSpPr/>
          <p:nvPr/>
        </p:nvSpPr>
        <p:spPr>
          <a:xfrm>
            <a:off x="365760" y="1874520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35"/>
          <p:cNvSpPr txBox="1"/>
          <p:nvPr/>
        </p:nvSpPr>
        <p:spPr>
          <a:xfrm>
            <a:off x="457200" y="187452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AI Search</a:t>
            </a:r>
            <a:endParaRPr sz="1800"/>
          </a:p>
        </p:txBody>
      </p:sp>
      <p:sp>
        <p:nvSpPr>
          <p:cNvPr id="764" name="Google Shape;764;p35"/>
          <p:cNvSpPr txBox="1"/>
          <p:nvPr/>
        </p:nvSpPr>
        <p:spPr>
          <a:xfrm>
            <a:off x="3200400" y="1874520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$120</a:t>
            </a:r>
            <a:endParaRPr sz="1800"/>
          </a:p>
        </p:txBody>
      </p:sp>
      <p:sp>
        <p:nvSpPr>
          <p:cNvPr id="765" name="Google Shape;765;p35"/>
          <p:cNvSpPr txBox="1"/>
          <p:nvPr/>
        </p:nvSpPr>
        <p:spPr>
          <a:xfrm>
            <a:off x="4572000" y="1874520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$360</a:t>
            </a:r>
            <a:endParaRPr sz="1800"/>
          </a:p>
        </p:txBody>
      </p:sp>
      <p:sp>
        <p:nvSpPr>
          <p:cNvPr id="766" name="Google Shape;766;p35"/>
          <p:cNvSpPr/>
          <p:nvPr/>
        </p:nvSpPr>
        <p:spPr>
          <a:xfrm>
            <a:off x="365760" y="2167128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35"/>
          <p:cNvSpPr txBox="1"/>
          <p:nvPr/>
        </p:nvSpPr>
        <p:spPr>
          <a:xfrm>
            <a:off x="457200" y="2167128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OpenAI (dev/test)</a:t>
            </a:r>
            <a:endParaRPr sz="1800"/>
          </a:p>
        </p:txBody>
      </p:sp>
      <p:sp>
        <p:nvSpPr>
          <p:cNvPr id="768" name="Google Shape;768;p35"/>
          <p:cNvSpPr txBox="1"/>
          <p:nvPr/>
        </p:nvSpPr>
        <p:spPr>
          <a:xfrm>
            <a:off x="3200400" y="2167128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$900</a:t>
            </a:r>
            <a:endParaRPr sz="1800"/>
          </a:p>
        </p:txBody>
      </p:sp>
      <p:sp>
        <p:nvSpPr>
          <p:cNvPr id="769" name="Google Shape;769;p35"/>
          <p:cNvSpPr txBox="1"/>
          <p:nvPr/>
        </p:nvSpPr>
        <p:spPr>
          <a:xfrm>
            <a:off x="4572000" y="2167128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$2,700</a:t>
            </a:r>
            <a:endParaRPr sz="1800"/>
          </a:p>
        </p:txBody>
      </p:sp>
      <p:sp>
        <p:nvSpPr>
          <p:cNvPr id="770" name="Google Shape;770;p35"/>
          <p:cNvSpPr/>
          <p:nvPr/>
        </p:nvSpPr>
        <p:spPr>
          <a:xfrm>
            <a:off x="365760" y="2459736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35"/>
          <p:cNvSpPr txBox="1"/>
          <p:nvPr/>
        </p:nvSpPr>
        <p:spPr>
          <a:xfrm>
            <a:off x="457200" y="2459736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PostgreSQL Flexible Server</a:t>
            </a:r>
            <a:endParaRPr sz="1800"/>
          </a:p>
        </p:txBody>
      </p:sp>
      <p:sp>
        <p:nvSpPr>
          <p:cNvPr id="772" name="Google Shape;772;p35"/>
          <p:cNvSpPr txBox="1"/>
          <p:nvPr/>
        </p:nvSpPr>
        <p:spPr>
          <a:xfrm>
            <a:off x="3200400" y="2459736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$150</a:t>
            </a:r>
            <a:endParaRPr sz="1800"/>
          </a:p>
        </p:txBody>
      </p:sp>
      <p:sp>
        <p:nvSpPr>
          <p:cNvPr id="773" name="Google Shape;773;p35"/>
          <p:cNvSpPr txBox="1"/>
          <p:nvPr/>
        </p:nvSpPr>
        <p:spPr>
          <a:xfrm>
            <a:off x="4572000" y="2459736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$450</a:t>
            </a:r>
            <a:endParaRPr sz="1800"/>
          </a:p>
        </p:txBody>
      </p:sp>
      <p:sp>
        <p:nvSpPr>
          <p:cNvPr id="774" name="Google Shape;774;p35"/>
          <p:cNvSpPr/>
          <p:nvPr/>
        </p:nvSpPr>
        <p:spPr>
          <a:xfrm>
            <a:off x="365760" y="2752344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5"/>
          <p:cNvSpPr txBox="1"/>
          <p:nvPr/>
        </p:nvSpPr>
        <p:spPr>
          <a:xfrm>
            <a:off x="457200" y="2752344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Blob Storage + Files</a:t>
            </a:r>
            <a:endParaRPr sz="1800"/>
          </a:p>
        </p:txBody>
      </p:sp>
      <p:sp>
        <p:nvSpPr>
          <p:cNvPr id="776" name="Google Shape;776;p35"/>
          <p:cNvSpPr txBox="1"/>
          <p:nvPr/>
        </p:nvSpPr>
        <p:spPr>
          <a:xfrm>
            <a:off x="3200400" y="2752344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$35</a:t>
            </a:r>
            <a:endParaRPr sz="1800"/>
          </a:p>
        </p:txBody>
      </p:sp>
      <p:sp>
        <p:nvSpPr>
          <p:cNvPr id="777" name="Google Shape;777;p35"/>
          <p:cNvSpPr txBox="1"/>
          <p:nvPr/>
        </p:nvSpPr>
        <p:spPr>
          <a:xfrm>
            <a:off x="4572000" y="2752344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$105</a:t>
            </a:r>
            <a:endParaRPr sz="1800"/>
          </a:p>
        </p:txBody>
      </p:sp>
      <p:sp>
        <p:nvSpPr>
          <p:cNvPr id="778" name="Google Shape;778;p35"/>
          <p:cNvSpPr/>
          <p:nvPr/>
        </p:nvSpPr>
        <p:spPr>
          <a:xfrm>
            <a:off x="365760" y="3044952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5"/>
          <p:cNvSpPr txBox="1"/>
          <p:nvPr/>
        </p:nvSpPr>
        <p:spPr>
          <a:xfrm>
            <a:off x="457200" y="3044952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Cache for Redis</a:t>
            </a:r>
            <a:endParaRPr sz="1800"/>
          </a:p>
        </p:txBody>
      </p:sp>
      <p:sp>
        <p:nvSpPr>
          <p:cNvPr id="780" name="Google Shape;780;p35"/>
          <p:cNvSpPr txBox="1"/>
          <p:nvPr/>
        </p:nvSpPr>
        <p:spPr>
          <a:xfrm>
            <a:off x="3200400" y="3044952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$70</a:t>
            </a:r>
            <a:endParaRPr sz="1800"/>
          </a:p>
        </p:txBody>
      </p:sp>
      <p:sp>
        <p:nvSpPr>
          <p:cNvPr id="781" name="Google Shape;781;p35"/>
          <p:cNvSpPr txBox="1"/>
          <p:nvPr/>
        </p:nvSpPr>
        <p:spPr>
          <a:xfrm>
            <a:off x="4572000" y="3044952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$210</a:t>
            </a:r>
            <a:endParaRPr sz="1800"/>
          </a:p>
        </p:txBody>
      </p:sp>
      <p:sp>
        <p:nvSpPr>
          <p:cNvPr id="782" name="Google Shape;782;p35"/>
          <p:cNvSpPr/>
          <p:nvPr/>
        </p:nvSpPr>
        <p:spPr>
          <a:xfrm>
            <a:off x="365760" y="3337560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5"/>
          <p:cNvSpPr txBox="1"/>
          <p:nvPr/>
        </p:nvSpPr>
        <p:spPr>
          <a:xfrm>
            <a:off x="457200" y="333756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Monitor / App Insights</a:t>
            </a:r>
            <a:endParaRPr sz="1800"/>
          </a:p>
        </p:txBody>
      </p:sp>
      <p:sp>
        <p:nvSpPr>
          <p:cNvPr id="784" name="Google Shape;784;p35"/>
          <p:cNvSpPr txBox="1"/>
          <p:nvPr/>
        </p:nvSpPr>
        <p:spPr>
          <a:xfrm>
            <a:off x="3200400" y="3337560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$90</a:t>
            </a:r>
            <a:endParaRPr sz="1800"/>
          </a:p>
        </p:txBody>
      </p:sp>
      <p:sp>
        <p:nvSpPr>
          <p:cNvPr id="785" name="Google Shape;785;p35"/>
          <p:cNvSpPr txBox="1"/>
          <p:nvPr/>
        </p:nvSpPr>
        <p:spPr>
          <a:xfrm>
            <a:off x="4572000" y="3337560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$270</a:t>
            </a:r>
            <a:endParaRPr sz="1800"/>
          </a:p>
        </p:txBody>
      </p:sp>
      <p:sp>
        <p:nvSpPr>
          <p:cNvPr id="786" name="Google Shape;786;p35"/>
          <p:cNvSpPr/>
          <p:nvPr/>
        </p:nvSpPr>
        <p:spPr>
          <a:xfrm>
            <a:off x="365760" y="3630168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5"/>
          <p:cNvSpPr txBox="1"/>
          <p:nvPr/>
        </p:nvSpPr>
        <p:spPr>
          <a:xfrm>
            <a:off x="457200" y="3630168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Key Vault, VNet, DNS</a:t>
            </a:r>
            <a:endParaRPr sz="1800"/>
          </a:p>
        </p:txBody>
      </p:sp>
      <p:sp>
        <p:nvSpPr>
          <p:cNvPr id="788" name="Google Shape;788;p35"/>
          <p:cNvSpPr txBox="1"/>
          <p:nvPr/>
        </p:nvSpPr>
        <p:spPr>
          <a:xfrm>
            <a:off x="3200400" y="3630168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$60</a:t>
            </a:r>
            <a:endParaRPr sz="1800"/>
          </a:p>
        </p:txBody>
      </p:sp>
      <p:sp>
        <p:nvSpPr>
          <p:cNvPr id="789" name="Google Shape;789;p35"/>
          <p:cNvSpPr txBox="1"/>
          <p:nvPr/>
        </p:nvSpPr>
        <p:spPr>
          <a:xfrm>
            <a:off x="4572000" y="3630168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$180</a:t>
            </a:r>
            <a:endParaRPr sz="1800"/>
          </a:p>
        </p:txBody>
      </p:sp>
      <p:sp>
        <p:nvSpPr>
          <p:cNvPr id="790" name="Google Shape;790;p35"/>
          <p:cNvSpPr/>
          <p:nvPr/>
        </p:nvSpPr>
        <p:spPr>
          <a:xfrm>
            <a:off x="365760" y="3922776"/>
            <a:ext cx="548640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35"/>
          <p:cNvSpPr txBox="1"/>
          <p:nvPr/>
        </p:nvSpPr>
        <p:spPr>
          <a:xfrm>
            <a:off x="457200" y="3922776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CI/CD &amp; tooling</a:t>
            </a:r>
            <a:endParaRPr sz="1800"/>
          </a:p>
        </p:txBody>
      </p:sp>
      <p:sp>
        <p:nvSpPr>
          <p:cNvPr id="792" name="Google Shape;792;p35"/>
          <p:cNvSpPr txBox="1"/>
          <p:nvPr/>
        </p:nvSpPr>
        <p:spPr>
          <a:xfrm>
            <a:off x="3200400" y="3922776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$80</a:t>
            </a:r>
            <a:endParaRPr sz="1800"/>
          </a:p>
        </p:txBody>
      </p:sp>
      <p:sp>
        <p:nvSpPr>
          <p:cNvPr id="793" name="Google Shape;793;p35"/>
          <p:cNvSpPr txBox="1"/>
          <p:nvPr/>
        </p:nvSpPr>
        <p:spPr>
          <a:xfrm>
            <a:off x="4572000" y="3922776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$240</a:t>
            </a:r>
            <a:endParaRPr sz="1800"/>
          </a:p>
        </p:txBody>
      </p:sp>
      <p:sp>
        <p:nvSpPr>
          <p:cNvPr id="794" name="Google Shape;794;p35"/>
          <p:cNvSpPr/>
          <p:nvPr/>
        </p:nvSpPr>
        <p:spPr>
          <a:xfrm>
            <a:off x="365760" y="4215384"/>
            <a:ext cx="548640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5"/>
          <p:cNvSpPr txBox="1"/>
          <p:nvPr/>
        </p:nvSpPr>
        <p:spPr>
          <a:xfrm>
            <a:off x="457200" y="4215384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800"/>
          </a:p>
        </p:txBody>
      </p:sp>
      <p:sp>
        <p:nvSpPr>
          <p:cNvPr id="796" name="Google Shape;796;p35"/>
          <p:cNvSpPr txBox="1"/>
          <p:nvPr/>
        </p:nvSpPr>
        <p:spPr>
          <a:xfrm>
            <a:off x="3200400" y="4215384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$1,505</a:t>
            </a:r>
            <a:endParaRPr sz="1800"/>
          </a:p>
        </p:txBody>
      </p:sp>
      <p:sp>
        <p:nvSpPr>
          <p:cNvPr id="797" name="Google Shape;797;p35"/>
          <p:cNvSpPr txBox="1"/>
          <p:nvPr/>
        </p:nvSpPr>
        <p:spPr>
          <a:xfrm>
            <a:off x="4572000" y="4215384"/>
            <a:ext cx="118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$4,515</a:t>
            </a:r>
            <a:endParaRPr sz="1800"/>
          </a:p>
        </p:txBody>
      </p:sp>
      <p:sp>
        <p:nvSpPr>
          <p:cNvPr id="798" name="Google Shape;798;p35"/>
          <p:cNvSpPr txBox="1"/>
          <p:nvPr/>
        </p:nvSpPr>
        <p:spPr>
          <a:xfrm>
            <a:off x="6400800" y="1234440"/>
            <a:ext cx="5486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A66"/>
                </a:solidFill>
                <a:latin typeface="Calibri"/>
                <a:ea typeface="Calibri"/>
                <a:cs typeface="Calibri"/>
                <a:sym typeface="Calibri"/>
              </a:rPr>
              <a:t>Production Phase (steady state)</a:t>
            </a:r>
            <a:endParaRPr sz="1800"/>
          </a:p>
        </p:txBody>
      </p:sp>
      <p:sp>
        <p:nvSpPr>
          <p:cNvPr id="799" name="Google Shape;799;p35"/>
          <p:cNvSpPr/>
          <p:nvPr/>
        </p:nvSpPr>
        <p:spPr>
          <a:xfrm>
            <a:off x="6400800" y="1554480"/>
            <a:ext cx="5303520" cy="320040"/>
          </a:xfrm>
          <a:prstGeom prst="roundRect">
            <a:avLst>
              <a:gd fmla="val 16667" name="adj"/>
            </a:avLst>
          </a:prstGeom>
          <a:solidFill>
            <a:srgbClr val="0E3A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35"/>
          <p:cNvSpPr txBox="1"/>
          <p:nvPr/>
        </p:nvSpPr>
        <p:spPr>
          <a:xfrm>
            <a:off x="6492240" y="155448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Component</a:t>
            </a:r>
            <a:endParaRPr sz="1800"/>
          </a:p>
        </p:txBody>
      </p:sp>
      <p:sp>
        <p:nvSpPr>
          <p:cNvPr id="801" name="Google Shape;801;p35"/>
          <p:cNvSpPr txBox="1"/>
          <p:nvPr/>
        </p:nvSpPr>
        <p:spPr>
          <a:xfrm>
            <a:off x="9875520" y="1554480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Monthly (USD)</a:t>
            </a:r>
            <a:endParaRPr sz="1800"/>
          </a:p>
        </p:txBody>
      </p:sp>
      <p:sp>
        <p:nvSpPr>
          <p:cNvPr id="802" name="Google Shape;802;p35"/>
          <p:cNvSpPr/>
          <p:nvPr/>
        </p:nvSpPr>
        <p:spPr>
          <a:xfrm>
            <a:off x="6400800" y="1874520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35"/>
          <p:cNvSpPr txBox="1"/>
          <p:nvPr/>
        </p:nvSpPr>
        <p:spPr>
          <a:xfrm>
            <a:off x="6492240" y="187452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AI Search (standard)</a:t>
            </a:r>
            <a:endParaRPr sz="1800"/>
          </a:p>
        </p:txBody>
      </p:sp>
      <p:sp>
        <p:nvSpPr>
          <p:cNvPr id="804" name="Google Shape;804;p35"/>
          <p:cNvSpPr txBox="1"/>
          <p:nvPr/>
        </p:nvSpPr>
        <p:spPr>
          <a:xfrm>
            <a:off x="9875520" y="1874520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$350</a:t>
            </a:r>
            <a:endParaRPr sz="1800"/>
          </a:p>
        </p:txBody>
      </p:sp>
      <p:sp>
        <p:nvSpPr>
          <p:cNvPr id="805" name="Google Shape;805;p35"/>
          <p:cNvSpPr/>
          <p:nvPr/>
        </p:nvSpPr>
        <p:spPr>
          <a:xfrm>
            <a:off x="6400800" y="2167128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35"/>
          <p:cNvSpPr txBox="1"/>
          <p:nvPr/>
        </p:nvSpPr>
        <p:spPr>
          <a:xfrm>
            <a:off x="6492240" y="2167128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Azure OpenAI (production)</a:t>
            </a:r>
            <a:endParaRPr sz="1800"/>
          </a:p>
        </p:txBody>
      </p:sp>
      <p:sp>
        <p:nvSpPr>
          <p:cNvPr id="807" name="Google Shape;807;p35"/>
          <p:cNvSpPr txBox="1"/>
          <p:nvPr/>
        </p:nvSpPr>
        <p:spPr>
          <a:xfrm>
            <a:off x="9875520" y="2167128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$2,500</a:t>
            </a:r>
            <a:endParaRPr sz="1800"/>
          </a:p>
        </p:txBody>
      </p:sp>
      <p:sp>
        <p:nvSpPr>
          <p:cNvPr id="808" name="Google Shape;808;p35"/>
          <p:cNvSpPr/>
          <p:nvPr/>
        </p:nvSpPr>
        <p:spPr>
          <a:xfrm>
            <a:off x="6400800" y="2459736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35"/>
          <p:cNvSpPr txBox="1"/>
          <p:nvPr/>
        </p:nvSpPr>
        <p:spPr>
          <a:xfrm>
            <a:off x="6492240" y="2459736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PostgreSQL Flexible Server</a:t>
            </a:r>
            <a:endParaRPr sz="1800"/>
          </a:p>
        </p:txBody>
      </p:sp>
      <p:sp>
        <p:nvSpPr>
          <p:cNvPr id="810" name="Google Shape;810;p35"/>
          <p:cNvSpPr txBox="1"/>
          <p:nvPr/>
        </p:nvSpPr>
        <p:spPr>
          <a:xfrm>
            <a:off x="9875520" y="2459736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$350</a:t>
            </a:r>
            <a:endParaRPr sz="1800"/>
          </a:p>
        </p:txBody>
      </p:sp>
      <p:sp>
        <p:nvSpPr>
          <p:cNvPr id="811" name="Google Shape;811;p35"/>
          <p:cNvSpPr/>
          <p:nvPr/>
        </p:nvSpPr>
        <p:spPr>
          <a:xfrm>
            <a:off x="6400800" y="2752344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5"/>
          <p:cNvSpPr txBox="1"/>
          <p:nvPr/>
        </p:nvSpPr>
        <p:spPr>
          <a:xfrm>
            <a:off x="6492240" y="2752344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Blob Storage + Files</a:t>
            </a:r>
            <a:endParaRPr sz="1800"/>
          </a:p>
        </p:txBody>
      </p:sp>
      <p:sp>
        <p:nvSpPr>
          <p:cNvPr id="813" name="Google Shape;813;p35"/>
          <p:cNvSpPr txBox="1"/>
          <p:nvPr/>
        </p:nvSpPr>
        <p:spPr>
          <a:xfrm>
            <a:off x="9875520" y="2752344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$120</a:t>
            </a:r>
            <a:endParaRPr sz="1800"/>
          </a:p>
        </p:txBody>
      </p:sp>
      <p:sp>
        <p:nvSpPr>
          <p:cNvPr id="814" name="Google Shape;814;p35"/>
          <p:cNvSpPr/>
          <p:nvPr/>
        </p:nvSpPr>
        <p:spPr>
          <a:xfrm>
            <a:off x="6400800" y="3044952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5"/>
          <p:cNvSpPr txBox="1"/>
          <p:nvPr/>
        </p:nvSpPr>
        <p:spPr>
          <a:xfrm>
            <a:off x="6492240" y="3044952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Cache for Redis</a:t>
            </a:r>
            <a:endParaRPr sz="1800"/>
          </a:p>
        </p:txBody>
      </p:sp>
      <p:sp>
        <p:nvSpPr>
          <p:cNvPr id="816" name="Google Shape;816;p35"/>
          <p:cNvSpPr txBox="1"/>
          <p:nvPr/>
        </p:nvSpPr>
        <p:spPr>
          <a:xfrm>
            <a:off x="9875520" y="3044952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$150</a:t>
            </a:r>
            <a:endParaRPr sz="1800"/>
          </a:p>
        </p:txBody>
      </p:sp>
      <p:sp>
        <p:nvSpPr>
          <p:cNvPr id="817" name="Google Shape;817;p35"/>
          <p:cNvSpPr/>
          <p:nvPr/>
        </p:nvSpPr>
        <p:spPr>
          <a:xfrm>
            <a:off x="6400800" y="3337560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5"/>
          <p:cNvSpPr txBox="1"/>
          <p:nvPr/>
        </p:nvSpPr>
        <p:spPr>
          <a:xfrm>
            <a:off x="6492240" y="333756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Monitor / App Insights</a:t>
            </a:r>
            <a:endParaRPr sz="1800"/>
          </a:p>
        </p:txBody>
      </p:sp>
      <p:sp>
        <p:nvSpPr>
          <p:cNvPr id="819" name="Google Shape;819;p35"/>
          <p:cNvSpPr txBox="1"/>
          <p:nvPr/>
        </p:nvSpPr>
        <p:spPr>
          <a:xfrm>
            <a:off x="9875520" y="3337560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$200</a:t>
            </a:r>
            <a:endParaRPr sz="1800"/>
          </a:p>
        </p:txBody>
      </p:sp>
      <p:sp>
        <p:nvSpPr>
          <p:cNvPr id="820" name="Google Shape;820;p35"/>
          <p:cNvSpPr/>
          <p:nvPr/>
        </p:nvSpPr>
        <p:spPr>
          <a:xfrm>
            <a:off x="6400800" y="3630168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E8F0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5"/>
          <p:cNvSpPr txBox="1"/>
          <p:nvPr/>
        </p:nvSpPr>
        <p:spPr>
          <a:xfrm>
            <a:off x="6492240" y="3630168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Key Vault, VNet, DNS</a:t>
            </a:r>
            <a:endParaRPr sz="1800"/>
          </a:p>
        </p:txBody>
      </p:sp>
      <p:sp>
        <p:nvSpPr>
          <p:cNvPr id="822" name="Google Shape;822;p35"/>
          <p:cNvSpPr txBox="1"/>
          <p:nvPr/>
        </p:nvSpPr>
        <p:spPr>
          <a:xfrm>
            <a:off x="9875520" y="3630168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$150</a:t>
            </a:r>
            <a:endParaRPr sz="1800"/>
          </a:p>
        </p:txBody>
      </p:sp>
      <p:sp>
        <p:nvSpPr>
          <p:cNvPr id="823" name="Google Shape;823;p35"/>
          <p:cNvSpPr/>
          <p:nvPr/>
        </p:nvSpPr>
        <p:spPr>
          <a:xfrm>
            <a:off x="6400800" y="3922776"/>
            <a:ext cx="5303520" cy="2926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35"/>
          <p:cNvSpPr txBox="1"/>
          <p:nvPr/>
        </p:nvSpPr>
        <p:spPr>
          <a:xfrm>
            <a:off x="6492240" y="3922776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Alerting &amp; autoscale</a:t>
            </a:r>
            <a:endParaRPr sz="1800"/>
          </a:p>
        </p:txBody>
      </p:sp>
      <p:sp>
        <p:nvSpPr>
          <p:cNvPr id="825" name="Google Shape;825;p35"/>
          <p:cNvSpPr txBox="1"/>
          <p:nvPr/>
        </p:nvSpPr>
        <p:spPr>
          <a:xfrm>
            <a:off x="9875520" y="3922776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$100</a:t>
            </a:r>
            <a:endParaRPr sz="1800"/>
          </a:p>
        </p:txBody>
      </p:sp>
      <p:sp>
        <p:nvSpPr>
          <p:cNvPr id="826" name="Google Shape;826;p35"/>
          <p:cNvSpPr/>
          <p:nvPr/>
        </p:nvSpPr>
        <p:spPr>
          <a:xfrm>
            <a:off x="6400800" y="4215384"/>
            <a:ext cx="5303520" cy="320040"/>
          </a:xfrm>
          <a:prstGeom prst="roundRect">
            <a:avLst>
              <a:gd fmla="val 16667" name="adj"/>
            </a:avLst>
          </a:prstGeom>
          <a:solidFill>
            <a:srgbClr val="1155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5"/>
          <p:cNvSpPr txBox="1"/>
          <p:nvPr/>
        </p:nvSpPr>
        <p:spPr>
          <a:xfrm>
            <a:off x="6492240" y="4215384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800"/>
          </a:p>
        </p:txBody>
      </p:sp>
      <p:sp>
        <p:nvSpPr>
          <p:cNvPr id="828" name="Google Shape;828;p35"/>
          <p:cNvSpPr txBox="1"/>
          <p:nvPr/>
        </p:nvSpPr>
        <p:spPr>
          <a:xfrm>
            <a:off x="9875520" y="4215384"/>
            <a:ext cx="164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$3,920/mo</a:t>
            </a:r>
            <a:endParaRPr sz="1800"/>
          </a:p>
        </p:txBody>
      </p:sp>
      <p:sp>
        <p:nvSpPr>
          <p:cNvPr id="829" name="Google Shape;829;p35"/>
          <p:cNvSpPr/>
          <p:nvPr/>
        </p:nvSpPr>
        <p:spPr>
          <a:xfrm>
            <a:off x="365760" y="4764024"/>
            <a:ext cx="11338560" cy="45720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5"/>
          <p:cNvSpPr txBox="1"/>
          <p:nvPr/>
        </p:nvSpPr>
        <p:spPr>
          <a:xfrm>
            <a:off x="548640" y="4809744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Production: ~$3,920/month — within $5,000 cap</a:t>
            </a:r>
            <a:endParaRPr sz="1800"/>
          </a:p>
        </p:txBody>
      </p:sp>
      <p:sp>
        <p:nvSpPr>
          <p:cNvPr id="831" name="Google Shape;831;p35"/>
          <p:cNvSpPr/>
          <p:nvPr/>
        </p:nvSpPr>
        <p:spPr>
          <a:xfrm>
            <a:off x="365760" y="5495544"/>
            <a:ext cx="27432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1155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5"/>
          <p:cNvSpPr txBox="1"/>
          <p:nvPr/>
        </p:nvSpPr>
        <p:spPr>
          <a:xfrm>
            <a:off x="457200" y="5586984"/>
            <a:ext cx="256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Development Labor</a:t>
            </a:r>
            <a:endParaRPr sz="1800"/>
          </a:p>
        </p:txBody>
      </p:sp>
      <p:sp>
        <p:nvSpPr>
          <p:cNvPr id="833" name="Google Shape;833;p35"/>
          <p:cNvSpPr txBox="1"/>
          <p:nvPr/>
        </p:nvSpPr>
        <p:spPr>
          <a:xfrm>
            <a:off x="457200" y="5907024"/>
            <a:ext cx="2560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15594"/>
                </a:solidFill>
                <a:latin typeface="Calibri"/>
                <a:ea typeface="Calibri"/>
                <a:cs typeface="Calibri"/>
                <a:sym typeface="Calibri"/>
              </a:rPr>
              <a:t>$608,000</a:t>
            </a:r>
            <a:endParaRPr sz="3000"/>
          </a:p>
        </p:txBody>
      </p:sp>
      <p:sp>
        <p:nvSpPr>
          <p:cNvPr id="834" name="Google Shape;834;p35"/>
          <p:cNvSpPr/>
          <p:nvPr/>
        </p:nvSpPr>
        <p:spPr>
          <a:xfrm>
            <a:off x="3291840" y="5495544"/>
            <a:ext cx="27432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5"/>
          <p:cNvSpPr txBox="1"/>
          <p:nvPr/>
        </p:nvSpPr>
        <p:spPr>
          <a:xfrm>
            <a:off x="3383280" y="5586984"/>
            <a:ext cx="256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Dev Infrastructure (3mo)</a:t>
            </a:r>
            <a:endParaRPr sz="1800"/>
          </a:p>
        </p:txBody>
      </p:sp>
      <p:sp>
        <p:nvSpPr>
          <p:cNvPr id="836" name="Google Shape;836;p35"/>
          <p:cNvSpPr txBox="1"/>
          <p:nvPr/>
        </p:nvSpPr>
        <p:spPr>
          <a:xfrm>
            <a:off x="3383280" y="5907024"/>
            <a:ext cx="2560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$4,515</a:t>
            </a:r>
            <a:endParaRPr sz="3000"/>
          </a:p>
        </p:txBody>
      </p:sp>
      <p:sp>
        <p:nvSpPr>
          <p:cNvPr id="837" name="Google Shape;837;p35"/>
          <p:cNvSpPr/>
          <p:nvPr/>
        </p:nvSpPr>
        <p:spPr>
          <a:xfrm>
            <a:off x="6217920" y="5495544"/>
            <a:ext cx="27432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5"/>
          <p:cNvSpPr txBox="1"/>
          <p:nvPr/>
        </p:nvSpPr>
        <p:spPr>
          <a:xfrm>
            <a:off x="6309360" y="5586984"/>
            <a:ext cx="256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Production Infra/mo</a:t>
            </a:r>
            <a:endParaRPr sz="1800"/>
          </a:p>
        </p:txBody>
      </p:sp>
      <p:sp>
        <p:nvSpPr>
          <p:cNvPr id="839" name="Google Shape;839;p35"/>
          <p:cNvSpPr txBox="1"/>
          <p:nvPr/>
        </p:nvSpPr>
        <p:spPr>
          <a:xfrm>
            <a:off x="6309360" y="5907024"/>
            <a:ext cx="2560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$3,920</a:t>
            </a:r>
            <a:endParaRPr sz="3000"/>
          </a:p>
        </p:txBody>
      </p:sp>
      <p:sp>
        <p:nvSpPr>
          <p:cNvPr id="840" name="Google Shape;840;p35"/>
          <p:cNvSpPr/>
          <p:nvPr/>
        </p:nvSpPr>
        <p:spPr>
          <a:xfrm>
            <a:off x="9144000" y="5495544"/>
            <a:ext cx="27432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35"/>
          <p:cNvSpPr txBox="1"/>
          <p:nvPr/>
        </p:nvSpPr>
        <p:spPr>
          <a:xfrm>
            <a:off x="9235440" y="5586984"/>
            <a:ext cx="256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Total Project</a:t>
            </a:r>
            <a:endParaRPr sz="1800"/>
          </a:p>
        </p:txBody>
      </p:sp>
      <p:sp>
        <p:nvSpPr>
          <p:cNvPr id="842" name="Google Shape;842;p35"/>
          <p:cNvSpPr txBox="1"/>
          <p:nvPr/>
        </p:nvSpPr>
        <p:spPr>
          <a:xfrm>
            <a:off x="9235440" y="5907024"/>
            <a:ext cx="2560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~$6</a:t>
            </a:r>
            <a:r>
              <a:rPr b="1" lang="en-US" sz="30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b="1" i="0" lang="en-US" sz="3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,515</a:t>
            </a:r>
            <a:endParaRPr sz="3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3A66"/>
        </a:solidFill>
      </p:bgPr>
    </p:bg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36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36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b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 &amp; A</a:t>
            </a:r>
            <a:endParaRPr/>
          </a:p>
        </p:txBody>
      </p:sp>
      <p:sp>
        <p:nvSpPr>
          <p:cNvPr id="849" name="Google Shape;849;p36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BBCCDD"/>
                </a:solidFill>
                <a:latin typeface="Calibri"/>
                <a:ea typeface="Calibri"/>
                <a:cs typeface="Calibri"/>
                <a:sym typeface="Calibri"/>
              </a:rPr>
              <a:t>We welcome your questions</a:t>
            </a:r>
            <a:endParaRPr/>
          </a:p>
        </p:txBody>
      </p:sp>
      <p:sp>
        <p:nvSpPr>
          <p:cNvPr id="850" name="Google Shape;850;p36"/>
          <p:cNvSpPr/>
          <p:nvPr/>
        </p:nvSpPr>
        <p:spPr>
          <a:xfrm>
            <a:off x="5029200" y="4846320"/>
            <a:ext cx="2103120" cy="38100"/>
          </a:xfrm>
          <a:prstGeom prst="roundRect">
            <a:avLst>
              <a:gd fmla="val 16667" name="adj"/>
            </a:avLst>
          </a:prstGeom>
          <a:solidFill>
            <a:srgbClr val="E0A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3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A300"/>
                </a:solidFill>
                <a:latin typeface="Calibri"/>
                <a:ea typeface="Calibri"/>
                <a:cs typeface="Calibri"/>
                <a:sym typeface="Calibri"/>
              </a:rPr>
              <a:t>Group 6 — FPT Software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