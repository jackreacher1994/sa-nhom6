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1675"/>
  <p:notesSz cx="6858000" cy="9144000"/>
  <p:embeddedFontLst>
    <p:embeddedFont>
      <p:font typeface="Arim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1ed39cf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61ed39cf9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1e1218ab_1_26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61e1218ab_1_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61e1218ab_1_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1ed39cf9_4_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f61ed39cf9_4_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61ed39cf9_4_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61ed39cf9_4_1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61ed39cf9_4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61ed39cf9_4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1ed39cf9_4_3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61ed39cf9_4_3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61ed39cf9_4_3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61ed39cf9_4_63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f61ed39cf9_4_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61ed39cf9_4_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61ed39cf9_4_106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f61ed39cf9_4_1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61ed39cf9_4_1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61ed39cf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61ed39cf9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61ed39cf9_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61ed39cf9_6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61ed39cf9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f61ed39cf9_6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61ed39cf9_4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f61ed39cf9_4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6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Document Audit &amp;</a:t>
            </a:r>
            <a:b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Assistant System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Technical Proposal &amp; Solution Architecture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5029200" y="4206240"/>
            <a:ext cx="2103120" cy="381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Group 6 — FPT Software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9AABB"/>
                </a:solidFill>
                <a:latin typeface="Calibri"/>
                <a:ea typeface="Calibri"/>
                <a:cs typeface="Calibri"/>
                <a:sym typeface="Calibri"/>
              </a:rPr>
              <a:t>August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What challenges does the customer face today?</a:t>
            </a:r>
            <a:endParaRPr sz="1800"/>
          </a:p>
        </p:txBody>
      </p:sp>
      <p:sp>
        <p:nvSpPr>
          <p:cNvPr id="98" name="Google Shape;98;p15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266" y="1254760"/>
            <a:ext cx="6961085" cy="545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1520" y="1417320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914400" y="151790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914400" y="15179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1554480" y="155448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Problem Statement &amp; Customer Challenges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9601200" y="15544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731520" y="2221992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914400" y="2322576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914400" y="2322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554480" y="235915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Requirements: Functional, Non-Functional, Constraints &amp; Assumptions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601200" y="235915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31520" y="3026664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914400" y="3127248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554480" y="3163824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Solution Architecture — 4+1 View Model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01200" y="31638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31520" y="3831336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14400" y="393192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554480" y="396849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Solution Benefits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01200" y="396849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731520" y="4636008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14400" y="4736592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14400" y="4736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554480" y="477316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Estimation: Development Effort &amp; Infrastructure Cost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01200" y="47731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31520" y="5440680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14400" y="554126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5541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554480" y="55778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601200" y="5577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What challenges does the customer face today?</a:t>
            </a:r>
            <a:endParaRPr sz="1800"/>
          </a:p>
        </p:txBody>
      </p:sp>
      <p:sp>
        <p:nvSpPr>
          <p:cNvPr id="144" name="Google Shape;144;p17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5720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9436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9436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4300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Limited Scope</a:t>
            </a:r>
            <a:endParaRPr sz="1800"/>
          </a:p>
        </p:txBody>
      </p:sp>
      <p:sp>
        <p:nvSpPr>
          <p:cNvPr id="149" name="Google Shape;149;p17"/>
          <p:cNvSpPr txBox="1"/>
          <p:nvPr/>
        </p:nvSpPr>
        <p:spPr>
          <a:xfrm>
            <a:off x="64008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Current system only handles document submission and review — no knowledge assistant, no discovery, no summarization.</a:t>
            </a:r>
            <a:endParaRPr sz="1600"/>
          </a:p>
        </p:txBody>
      </p:sp>
      <p:sp>
        <p:nvSpPr>
          <p:cNvPr id="150" name="Google Shape;150;p17"/>
          <p:cNvSpPr/>
          <p:nvPr/>
        </p:nvSpPr>
        <p:spPr>
          <a:xfrm>
            <a:off x="425196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38912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38912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93776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6B08"/>
                </a:solidFill>
                <a:latin typeface="Calibri"/>
                <a:ea typeface="Calibri"/>
                <a:cs typeface="Calibri"/>
                <a:sym typeface="Calibri"/>
              </a:rPr>
              <a:t>No Multi-Source Ingestion</a:t>
            </a:r>
            <a:endParaRPr sz="1800"/>
          </a:p>
        </p:txBody>
      </p:sp>
      <p:sp>
        <p:nvSpPr>
          <p:cNvPr id="154" name="Google Shape;154;p17"/>
          <p:cNvSpPr txBox="1"/>
          <p:nvPr/>
        </p:nvSpPr>
        <p:spPr>
          <a:xfrm>
            <a:off x="443484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Enterprise sources (SharePoint, Confluence, file servers, databases) are siloed — not unified for search or audit.</a:t>
            </a:r>
            <a:endParaRPr sz="1600"/>
          </a:p>
        </p:txBody>
      </p:sp>
      <p:sp>
        <p:nvSpPr>
          <p:cNvPr id="155" name="Google Shape;155;p17"/>
          <p:cNvSpPr/>
          <p:nvPr/>
        </p:nvSpPr>
        <p:spPr>
          <a:xfrm>
            <a:off x="804672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18388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18388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73252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Weak Automation</a:t>
            </a:r>
            <a:endParaRPr sz="1800"/>
          </a:p>
        </p:txBody>
      </p:sp>
      <p:sp>
        <p:nvSpPr>
          <p:cNvPr id="159" name="Google Shape;159;p17"/>
          <p:cNvSpPr txBox="1"/>
          <p:nvPr/>
        </p:nvSpPr>
        <p:spPr>
          <a:xfrm>
            <a:off x="822960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Completeness checks and resubmission loops require heavy manual intervention; no automated validation pipeline.</a:t>
            </a:r>
            <a:endParaRPr sz="1600"/>
          </a:p>
        </p:txBody>
      </p:sp>
      <p:sp>
        <p:nvSpPr>
          <p:cNvPr id="160" name="Google Shape;160;p17"/>
          <p:cNvSpPr/>
          <p:nvPr/>
        </p:nvSpPr>
        <p:spPr>
          <a:xfrm>
            <a:off x="45720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9436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9436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4300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Heavy Manual Review</a:t>
            </a:r>
            <a:endParaRPr sz="1800"/>
          </a:p>
        </p:txBody>
      </p:sp>
      <p:sp>
        <p:nvSpPr>
          <p:cNvPr id="164" name="Google Shape;164;p17"/>
          <p:cNvSpPr txBox="1"/>
          <p:nvPr/>
        </p:nvSpPr>
        <p:spPr>
          <a:xfrm>
            <a:off x="640080" y="461772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Reviewers must read every handover document in full to produce audit results — extremely time-consuming.</a:t>
            </a:r>
            <a:endParaRPr sz="1600"/>
          </a:p>
        </p:txBody>
      </p:sp>
      <p:sp>
        <p:nvSpPr>
          <p:cNvPr id="165" name="Google Shape;165;p17"/>
          <p:cNvSpPr/>
          <p:nvPr/>
        </p:nvSpPr>
        <p:spPr>
          <a:xfrm>
            <a:off x="425196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38912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9A33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38912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93776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A3312"/>
                </a:solidFill>
                <a:latin typeface="Calibri"/>
                <a:ea typeface="Calibri"/>
                <a:cs typeface="Calibri"/>
                <a:sym typeface="Calibri"/>
              </a:rPr>
              <a:t>Missing Feedback Loop</a:t>
            </a:r>
            <a:endParaRPr sz="1800"/>
          </a:p>
        </p:txBody>
      </p:sp>
      <p:sp>
        <p:nvSpPr>
          <p:cNvPr id="169" name="Google Shape;169;p17"/>
          <p:cNvSpPr txBox="1"/>
          <p:nvPr/>
        </p:nvSpPr>
        <p:spPr>
          <a:xfrm>
            <a:off x="4434840" y="4617720"/>
            <a:ext cx="320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mechanism to learn from user corrections or improve AI quality over time.</a:t>
            </a:r>
            <a:endParaRPr sz="1600"/>
          </a:p>
        </p:txBody>
      </p:sp>
      <p:sp>
        <p:nvSpPr>
          <p:cNvPr id="170" name="Google Shape;170;p17"/>
          <p:cNvSpPr/>
          <p:nvPr/>
        </p:nvSpPr>
        <p:spPr>
          <a:xfrm>
            <a:off x="804672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18388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8547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18388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73252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5470D"/>
                </a:solidFill>
                <a:latin typeface="Calibri"/>
                <a:ea typeface="Calibri"/>
                <a:cs typeface="Calibri"/>
                <a:sym typeface="Calibri"/>
              </a:rPr>
              <a:t>No Expert Matching</a:t>
            </a:r>
            <a:endParaRPr sz="1800"/>
          </a:p>
        </p:txBody>
      </p:sp>
      <p:sp>
        <p:nvSpPr>
          <p:cNvPr id="174" name="Google Shape;174;p17"/>
          <p:cNvSpPr txBox="1"/>
          <p:nvPr/>
        </p:nvSpPr>
        <p:spPr>
          <a:xfrm>
            <a:off x="8229600" y="4617720"/>
            <a:ext cx="320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Difficult to quickly connect users to the right subject matter expert for audit issues.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6576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720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45720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FR-1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188720" y="1481328"/>
            <a:ext cx="265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User Authentication &amp; Access Control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0292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Azure Entra ID, role-based access (Vendor / Customer)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20624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29768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29768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FR-2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029200" y="148132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Document Submission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34340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Upload handover documents from multiple enterprise sources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804672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13816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13816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FR-3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69680" y="148132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Document Processing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18388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Extract text &amp; structure via Azure Content Understanding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36576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5720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45720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FR-4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18872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AI Audit Generation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02920" y="356616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AI-based pass/fail assessment with detailed comments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20624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29768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29768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FR-5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02920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Audit Review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4343400" y="356616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View results, make final accept/reject decisions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804672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13816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813816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FR-6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886968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Audit Template Management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183880" y="3566160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Create, update, activate audit templates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36576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5720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45720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FR-7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18872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Search &amp; Summaries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50292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Natural language query with source references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420624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29768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429768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FR-8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02920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Expert Identification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34340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Match documents to subject matter experts via HR directory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804672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3816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813816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FR-9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86968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Learning from Interactions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18388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Capture feedback to improve search relevance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6576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6576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0292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NFR-1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800"/>
          </a:p>
        </p:txBody>
      </p:sp>
      <p:sp>
        <p:nvSpPr>
          <p:cNvPr id="237" name="Google Shape;237;p19"/>
          <p:cNvSpPr txBox="1"/>
          <p:nvPr/>
        </p:nvSpPr>
        <p:spPr>
          <a:xfrm>
            <a:off x="50292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502920" y="237744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token &lt; 2s (p95)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95% audits &lt; 10 min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End-to-end &lt; 15 min (p99)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50292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502920" y="429768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Streaming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 caching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Two-tier retrieval + precomputation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324612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24612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38328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NFR-2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800"/>
          </a:p>
        </p:txBody>
      </p:sp>
      <p:sp>
        <p:nvSpPr>
          <p:cNvPr id="244" name="Google Shape;244;p19"/>
          <p:cNvSpPr txBox="1"/>
          <p:nvPr/>
        </p:nvSpPr>
        <p:spPr>
          <a:xfrm>
            <a:off x="338328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383280" y="2377440"/>
            <a:ext cx="24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500 document submissions/hour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 concurrent queries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p95 latency &lt; 3s under burst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338328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338328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Queue-depth autoscaling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Staged pipelines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612648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12648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6364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NFR-3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Availability</a:t>
            </a:r>
            <a:endParaRPr sz="1800"/>
          </a:p>
        </p:txBody>
      </p:sp>
      <p:sp>
        <p:nvSpPr>
          <p:cNvPr id="251" name="Google Shape;251;p19"/>
          <p:cNvSpPr txBox="1"/>
          <p:nvPr/>
        </p:nvSpPr>
        <p:spPr>
          <a:xfrm>
            <a:off x="626364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263640" y="237744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99.9% monthly uptime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RTO &lt; 30 min, RPO &lt; 15 min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 silent data loss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26364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26364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Managed, redundant services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Idempotent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retryable tasks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900684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900684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914400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NFR-4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800"/>
          </a:p>
        </p:txBody>
      </p:sp>
      <p:sp>
        <p:nvSpPr>
          <p:cNvPr id="258" name="Google Shape;258;p19"/>
          <p:cNvSpPr txBox="1"/>
          <p:nvPr/>
        </p:nvSpPr>
        <p:spPr>
          <a:xfrm>
            <a:off x="914400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9144000" y="2377440"/>
            <a:ext cx="2469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Encrypted data in transit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Sensitive fields encrypted at rest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Secret never stored in code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public service exposure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914400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914400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Identity + secrets hygiene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Private networking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&amp; Assumptions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65760" y="1371600"/>
            <a:ext cx="54864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5760" y="1371600"/>
            <a:ext cx="5486400" cy="4572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48640" y="1389888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sz="1800"/>
          </a:p>
        </p:txBody>
      </p:sp>
      <p:sp>
        <p:nvSpPr>
          <p:cNvPr id="272" name="Google Shape;272;p20"/>
          <p:cNvSpPr txBox="1"/>
          <p:nvPr/>
        </p:nvSpPr>
        <p:spPr>
          <a:xfrm>
            <a:off x="548640" y="201168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Entra ID is the mandatory identity provider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548640" y="2560320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Supported sources: SharePoint, Confluence, file servers, internal databases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548640" y="310896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Backend: Python— Frontend: JavaScript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48640" y="365759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Browsers: Chrome 130+ and Edge 130+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48640" y="420624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Go-live within 3 calendar months; phase variance ≤ 10%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48640" y="475488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Cloud cost cap: USD 5,000/month with alerts at 80/90/100%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48640" y="530351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No direct modification of source documents during processing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48640" y="585216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Approved file formats &amp; configured size limits only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6217920" y="1371600"/>
            <a:ext cx="54864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217920" y="1371600"/>
            <a:ext cx="54864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400800" y="1389888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sz="1800"/>
          </a:p>
        </p:txBody>
      </p:sp>
      <p:sp>
        <p:nvSpPr>
          <p:cNvPr id="283" name="Google Shape;283;p20"/>
          <p:cNvSpPr txBox="1"/>
          <p:nvPr/>
        </p:nvSpPr>
        <p:spPr>
          <a:xfrm>
            <a:off x="6400800" y="2011680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Users have valid Azure Entra ID accounts with correct organizational roles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6400800" y="2670048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Enterprise content sources are available &amp; configured with correct permissions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6400800" y="3328416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Documents are in approved formats suitable for text extraction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400800" y="3986784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AI services available with sufficient capacity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400800" y="4645152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Customer provides authoritative audit templates &amp; expert directory data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400800" y="530351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Users will review AI outputs before final accept/reject decisions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Architecture — 4+1 View Model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Comprehensive architecture using the 4+1 architectural view model</a:t>
            </a:r>
            <a:endParaRPr sz="1800"/>
          </a:p>
        </p:txBody>
      </p:sp>
      <p:sp>
        <p:nvSpPr>
          <p:cNvPr id="296" name="Google Shape;296;p21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7432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27432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6576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 Use Case View</a:t>
            </a:r>
            <a:endParaRPr sz="1800"/>
          </a:p>
        </p:txBody>
      </p:sp>
      <p:sp>
        <p:nvSpPr>
          <p:cNvPr id="300" name="Google Shape;300;p21"/>
          <p:cNvSpPr txBox="1"/>
          <p:nvPr/>
        </p:nvSpPr>
        <p:spPr>
          <a:xfrm>
            <a:off x="411480" y="2286000"/>
            <a:ext cx="19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 sz="1600"/>
          </a:p>
        </p:txBody>
      </p:sp>
      <p:sp>
        <p:nvSpPr>
          <p:cNvPr id="301" name="Google Shape;301;p21"/>
          <p:cNvSpPr/>
          <p:nvPr/>
        </p:nvSpPr>
        <p:spPr>
          <a:xfrm>
            <a:off x="41148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57200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WHAT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does</a:t>
            </a:r>
            <a:endParaRPr sz="1600"/>
          </a:p>
        </p:txBody>
      </p:sp>
      <p:sp>
        <p:nvSpPr>
          <p:cNvPr id="303" name="Google Shape;303;p21"/>
          <p:cNvSpPr/>
          <p:nvPr/>
        </p:nvSpPr>
        <p:spPr>
          <a:xfrm>
            <a:off x="260604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260604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269748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View</a:t>
            </a:r>
            <a:endParaRPr sz="1800"/>
          </a:p>
        </p:txBody>
      </p:sp>
      <p:sp>
        <p:nvSpPr>
          <p:cNvPr id="306" name="Google Shape;306;p21"/>
          <p:cNvSpPr txBox="1"/>
          <p:nvPr/>
        </p:nvSpPr>
        <p:spPr>
          <a:xfrm>
            <a:off x="2606050" y="2286000"/>
            <a:ext cx="23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Context Diagram</a:t>
            </a:r>
            <a:endParaRPr sz="1600"/>
          </a:p>
        </p:txBody>
      </p:sp>
      <p:sp>
        <p:nvSpPr>
          <p:cNvPr id="307" name="Google Shape;307;p21"/>
          <p:cNvSpPr/>
          <p:nvPr/>
        </p:nvSpPr>
        <p:spPr>
          <a:xfrm>
            <a:off x="274320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788920" y="5166360"/>
            <a:ext cx="182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is structured</a:t>
            </a:r>
            <a:endParaRPr sz="1600"/>
          </a:p>
        </p:txBody>
      </p:sp>
      <p:sp>
        <p:nvSpPr>
          <p:cNvPr id="309" name="Google Shape;309;p21"/>
          <p:cNvSpPr/>
          <p:nvPr/>
        </p:nvSpPr>
        <p:spPr>
          <a:xfrm>
            <a:off x="493776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93776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02920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View</a:t>
            </a:r>
            <a:endParaRPr sz="1800"/>
          </a:p>
        </p:txBody>
      </p:sp>
      <p:sp>
        <p:nvSpPr>
          <p:cNvPr id="312" name="Google Shape;312;p21"/>
          <p:cNvSpPr txBox="1"/>
          <p:nvPr/>
        </p:nvSpPr>
        <p:spPr>
          <a:xfrm>
            <a:off x="5074920" y="2286000"/>
            <a:ext cx="1920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Activity Diagrams</a:t>
            </a:r>
            <a:b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key workflows</a:t>
            </a:r>
            <a:endParaRPr b="0" i="0" sz="16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Swim-lane notation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07492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120640" y="5166360"/>
            <a:ext cx="182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behaves</a:t>
            </a:r>
            <a:endParaRPr sz="1600"/>
          </a:p>
        </p:txBody>
      </p:sp>
      <p:sp>
        <p:nvSpPr>
          <p:cNvPr id="315" name="Google Shape;315;p21"/>
          <p:cNvSpPr/>
          <p:nvPr/>
        </p:nvSpPr>
        <p:spPr>
          <a:xfrm>
            <a:off x="7269479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7269479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7360919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View</a:t>
            </a:r>
            <a:endParaRPr sz="1800"/>
          </a:p>
        </p:txBody>
      </p:sp>
      <p:sp>
        <p:nvSpPr>
          <p:cNvPr id="318" name="Google Shape;318;p21"/>
          <p:cNvSpPr txBox="1"/>
          <p:nvPr/>
        </p:nvSpPr>
        <p:spPr>
          <a:xfrm>
            <a:off x="7406639" y="2286000"/>
            <a:ext cx="19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Container Diagram</a:t>
            </a:r>
            <a:b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functional zones</a:t>
            </a:r>
            <a:endParaRPr sz="1600"/>
          </a:p>
        </p:txBody>
      </p:sp>
      <p:sp>
        <p:nvSpPr>
          <p:cNvPr id="319" name="Google Shape;319;p21"/>
          <p:cNvSpPr/>
          <p:nvPr/>
        </p:nvSpPr>
        <p:spPr>
          <a:xfrm>
            <a:off x="7406639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7452359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is built</a:t>
            </a:r>
            <a:endParaRPr sz="1600"/>
          </a:p>
        </p:txBody>
      </p:sp>
      <p:sp>
        <p:nvSpPr>
          <p:cNvPr id="321" name="Google Shape;321;p21"/>
          <p:cNvSpPr/>
          <p:nvPr/>
        </p:nvSpPr>
        <p:spPr>
          <a:xfrm>
            <a:off x="960120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60120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969264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View</a:t>
            </a:r>
            <a:endParaRPr sz="1800"/>
          </a:p>
        </p:txBody>
      </p:sp>
      <p:sp>
        <p:nvSpPr>
          <p:cNvPr id="324" name="Google Shape;324;p21"/>
          <p:cNvSpPr txBox="1"/>
          <p:nvPr/>
        </p:nvSpPr>
        <p:spPr>
          <a:xfrm>
            <a:off x="9738349" y="228600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 sz="1600"/>
          </a:p>
        </p:txBody>
      </p:sp>
      <p:sp>
        <p:nvSpPr>
          <p:cNvPr id="325" name="Google Shape;325;p21"/>
          <p:cNvSpPr/>
          <p:nvPr/>
        </p:nvSpPr>
        <p:spPr>
          <a:xfrm>
            <a:off x="973836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9784080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WHERE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runs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548640" y="64008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714" y="1254760"/>
            <a:ext cx="7444940" cy="545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546085" y="152400"/>
            <a:ext cx="789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958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Context </a:t>
            </a:r>
            <a:r>
              <a:rPr b="1"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698481" y="1333500"/>
            <a:ext cx="10794600" cy="5270700"/>
          </a:xfrm>
          <a:prstGeom prst="roundRect">
            <a:avLst>
              <a:gd fmla="val 2410" name="adj"/>
            </a:avLst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23" title="[tobe]system_context_diagram.png"/>
          <p:cNvPicPr preferRelativeResize="0"/>
          <p:nvPr/>
        </p:nvPicPr>
        <p:blipFill rotWithShape="1">
          <a:blip r:embed="rId3">
            <a:alphaModFix/>
          </a:blip>
          <a:srcRect b="21278" l="0" r="0" t="0"/>
          <a:stretch/>
        </p:blipFill>
        <p:spPr>
          <a:xfrm>
            <a:off x="1606074" y="1339850"/>
            <a:ext cx="8979523" cy="5270601"/>
          </a:xfrm>
          <a:prstGeom prst="rect">
            <a:avLst/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" name="Google Shape;346;p23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546085" y="152400"/>
            <a:ext cx="789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958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Context </a:t>
            </a:r>
            <a:r>
              <a:rPr b="1"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546075" y="660400"/>
            <a:ext cx="10510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AS-IS integrated with one external system (Azure Entra ID) · the four gold-bordered systems are the entire TO-BE scope increase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546075" y="152400"/>
            <a:ext cx="3519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Full 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46065" y="660400"/>
            <a:ext cx="6339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Reference for walking through the end-to-end request flow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698481" y="1333500"/>
            <a:ext cx="10794600" cy="5270700"/>
          </a:xfrm>
          <a:prstGeom prst="roundRect">
            <a:avLst>
              <a:gd fmla="val 2410" name="adj"/>
            </a:avLst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0234" y="1466850"/>
            <a:ext cx="7631155" cy="5003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546069" y="660400"/>
            <a:ext cx="7336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843" y="1535825"/>
            <a:ext cx="8826236" cy="4700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46067" y="660400"/>
            <a:ext cx="84963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281659" y="1453783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376907" y="1479183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337855" y="1479183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Arimo"/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Arimo"/>
                <a:ea typeface="Arimo"/>
                <a:cs typeface="Arimo"/>
                <a:sym typeface="Arimo"/>
              </a:rPr>
              <a:t>2 · Ingestion &amp; Processing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421355" y="2095133"/>
            <a:ext cx="2514600" cy="1079400"/>
          </a:xfrm>
          <a:prstGeom prst="roundRect">
            <a:avLst>
              <a:gd fmla="val 9412" name="adj"/>
            </a:avLst>
          </a:prstGeom>
          <a:solidFill>
            <a:srgbClr val="0F766E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2531633" y="2031633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2595131" y="2057033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73751" y="2222133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Ingestion &amp; Processing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573751" y="2406283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[Python, Celery]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573751" y="2568209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Extract → chunk → embed →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421355" y="3327033"/>
            <a:ext cx="2514600" cy="762000"/>
          </a:xfrm>
          <a:prstGeom prst="roundRect">
            <a:avLst>
              <a:gd fmla="val 13333" name="adj"/>
            </a:avLst>
          </a:prstGeom>
          <a:solidFill>
            <a:srgbClr val="0F766E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2531633" y="3263533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2595131" y="3288933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573751" y="3441333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Message Broker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573751" y="3625483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[Redis] — carries ingestion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421355" y="4241433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0F766E"/>
          </a:solidFill>
          <a:ln cap="flat" cmpd="sng" w="19050">
            <a:solidFill>
              <a:srgbClr val="0B5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567402" y="4362083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Document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67402" y="4546233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[Azure Blob Storage]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567402" y="4708159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Uploaded handover docs, crawled source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3100984" y="1580783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456" y="1453783"/>
            <a:ext cx="6020558" cy="50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546069" y="660400"/>
            <a:ext cx="76821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3092368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280043" y="13700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375290" y="13954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336238" y="13954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mo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mo"/>
                <a:ea typeface="Arimo"/>
                <a:cs typeface="Arimo"/>
                <a:sym typeface="Arimo"/>
              </a:rPr>
              <a:t>3 · AI Reasoning &amp;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419739" y="20113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2530016" y="19478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2593514" y="19732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572135" y="21383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572135" y="23225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[Python, RAG]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72135" y="248442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Routes intent, runs RAG over the unified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419739" y="34274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2530016" y="336390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2593514" y="338930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572135" y="355440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Expert Directory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572135" y="373855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[Python]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572135" y="390047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Extracts keywords, ranks expert candidates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419739" y="48434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/>
          <p:nvPr/>
        </p:nvSpPr>
        <p:spPr>
          <a:xfrm>
            <a:off x="2530016" y="47799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2593514" y="48053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572135" y="49704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Search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572135" y="51546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[Azure AI Search]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572135" y="531652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Unified vector index, tagged by source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3099367" y="14970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499" y="1385100"/>
            <a:ext cx="7392772" cy="500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8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46068" y="660400"/>
            <a:ext cx="8130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3092368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186345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294292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96703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38954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350488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6703F"/>
              </a:buClr>
              <a:buSzPts val="800"/>
              <a:buFont typeface="Arimo"/>
              <a:buNone/>
            </a:pPr>
            <a:r>
              <a:rPr b="1" i="0" lang="en-US" sz="1200" u="none" cap="none" strike="noStrike">
                <a:solidFill>
                  <a:srgbClr val="96703F"/>
                </a:solidFill>
                <a:latin typeface="Arimo"/>
                <a:ea typeface="Arimo"/>
                <a:cs typeface="Arimo"/>
                <a:sym typeface="Arimo"/>
              </a:rPr>
              <a:t>4 · Business Data &amp;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433988" y="2012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19050">
            <a:solidFill>
              <a:srgbClr val="6E5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58003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58003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user data, audit records, templates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433988" y="3155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2544266" y="30924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2607764" y="31178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586384" y="32829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Feedback &amp; Learning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586384" y="34671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queries, feedback, corrections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433988" y="4298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2544266" y="42354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2607764" y="42608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586384" y="44259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Governance &amp; Audit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586384" y="46101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logs every Q&amp;A / audit interaction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-609584" y="6553200"/>
            <a:ext cx="134109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Also connects out to Enterprise Content Sources, Azure Content Understanding, Azure OpenAI Service, HR / Org Directory, and Azure Entra ID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513" y="1371600"/>
            <a:ext cx="5769979" cy="502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3 critical workflows modeled with swim-lane activity diagrams</a:t>
            </a:r>
            <a:endParaRPr sz="1800"/>
          </a:p>
        </p:txBody>
      </p:sp>
      <p:sp>
        <p:nvSpPr>
          <p:cNvPr id="501" name="Google Shape;501;p29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27432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27432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41148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1: Submission → Audit</a:t>
            </a:r>
            <a:endParaRPr sz="1600"/>
          </a:p>
        </p:txBody>
      </p:sp>
      <p:sp>
        <p:nvSpPr>
          <p:cNvPr id="505" name="Google Shape;505;p29"/>
          <p:cNvSpPr txBox="1"/>
          <p:nvPr/>
        </p:nvSpPr>
        <p:spPr>
          <a:xfrm>
            <a:off x="411480" y="210312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Vendor prepares &amp; submits → System validates completeness → AI extracts, audits → Notification sent</a:t>
            </a:r>
            <a:endParaRPr sz="1200"/>
          </a:p>
        </p:txBody>
      </p:sp>
      <p:sp>
        <p:nvSpPr>
          <p:cNvPr id="506" name="Google Shape;506;p29"/>
          <p:cNvSpPr/>
          <p:nvPr/>
        </p:nvSpPr>
        <p:spPr>
          <a:xfrm>
            <a:off x="36576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457200" y="288036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Vendor: Prepare package → Fill checklist → Submit</a:t>
            </a:r>
            <a:endParaRPr sz="1200"/>
          </a:p>
        </p:txBody>
      </p:sp>
      <p:sp>
        <p:nvSpPr>
          <p:cNvPr id="508" name="Google Shape;508;p29"/>
          <p:cNvSpPr/>
          <p:nvPr/>
        </p:nvSpPr>
        <p:spPr>
          <a:xfrm>
            <a:off x="36576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9"/>
          <p:cNvSpPr txBox="1"/>
          <p:nvPr/>
        </p:nvSpPr>
        <p:spPr>
          <a:xfrm>
            <a:off x="457200" y="370332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Log → Completeness check → [Incomplete? → Notify → Resubmit loop]</a:t>
            </a:r>
            <a:endParaRPr sz="1200"/>
          </a:p>
        </p:txBody>
      </p:sp>
      <p:sp>
        <p:nvSpPr>
          <p:cNvPr id="510" name="Google Shape;510;p29"/>
          <p:cNvSpPr/>
          <p:nvPr/>
        </p:nvSpPr>
        <p:spPr>
          <a:xfrm>
            <a:off x="36576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45720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Process → Extract content → Run AI audit → Generate report</a:t>
            </a:r>
            <a:endParaRPr sz="1200"/>
          </a:p>
        </p:txBody>
      </p:sp>
      <p:sp>
        <p:nvSpPr>
          <p:cNvPr id="512" name="Google Shape;512;p29"/>
          <p:cNvSpPr/>
          <p:nvPr/>
        </p:nvSpPr>
        <p:spPr>
          <a:xfrm>
            <a:off x="365760" y="530352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457200" y="534924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Notify vendor &amp; customer</a:t>
            </a:r>
            <a:endParaRPr sz="1200"/>
          </a:p>
        </p:txBody>
      </p:sp>
      <p:sp>
        <p:nvSpPr>
          <p:cNvPr id="514" name="Google Shape;514;p29"/>
          <p:cNvSpPr/>
          <p:nvPr/>
        </p:nvSpPr>
        <p:spPr>
          <a:xfrm>
            <a:off x="411480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411480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425196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2: Reviewer Decision</a:t>
            </a:r>
            <a:endParaRPr sz="1600"/>
          </a:p>
        </p:txBody>
      </p:sp>
      <p:sp>
        <p:nvSpPr>
          <p:cNvPr id="517" name="Google Shape;517;p29"/>
          <p:cNvSpPr txBox="1"/>
          <p:nvPr/>
        </p:nvSpPr>
        <p:spPr>
          <a:xfrm>
            <a:off x="4251960" y="2103120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Customer reviews AI audit → Accept or Reject with evidence-based decision</a:t>
            </a:r>
            <a:endParaRPr sz="1200"/>
          </a:p>
        </p:txBody>
      </p:sp>
      <p:sp>
        <p:nvSpPr>
          <p:cNvPr id="518" name="Google Shape;518;p29"/>
          <p:cNvSpPr/>
          <p:nvPr/>
        </p:nvSpPr>
        <p:spPr>
          <a:xfrm>
            <a:off x="420624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4297680" y="288036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Customer: Receive notification → Review findings → Study evidence</a:t>
            </a:r>
            <a:endParaRPr sz="1200"/>
          </a:p>
        </p:txBody>
      </p:sp>
      <p:sp>
        <p:nvSpPr>
          <p:cNvPr id="520" name="Google Shape;520;p29"/>
          <p:cNvSpPr/>
          <p:nvPr/>
        </p:nvSpPr>
        <p:spPr>
          <a:xfrm>
            <a:off x="420624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4297680" y="370332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Decision: Accept → Mark approved → Write memo → Log &amp; notify</a:t>
            </a:r>
            <a:endParaRPr sz="1200"/>
          </a:p>
        </p:txBody>
      </p:sp>
      <p:sp>
        <p:nvSpPr>
          <p:cNvPr id="522" name="Google Shape;522;p29"/>
          <p:cNvSpPr/>
          <p:nvPr/>
        </p:nvSpPr>
        <p:spPr>
          <a:xfrm>
            <a:off x="420624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429768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Decision: Reject → List fixes → Vendor revises → Resubmit (→ Flow 1)</a:t>
            </a:r>
            <a:endParaRPr sz="1200"/>
          </a:p>
        </p:txBody>
      </p:sp>
      <p:sp>
        <p:nvSpPr>
          <p:cNvPr id="524" name="Google Shape;524;p29"/>
          <p:cNvSpPr/>
          <p:nvPr/>
        </p:nvSpPr>
        <p:spPr>
          <a:xfrm>
            <a:off x="795528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795528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809244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3: Search, Query &amp; Summary</a:t>
            </a:r>
            <a:endParaRPr sz="1600"/>
          </a:p>
        </p:txBody>
      </p:sp>
      <p:sp>
        <p:nvSpPr>
          <p:cNvPr id="527" name="Google Shape;527;p29"/>
          <p:cNvSpPr txBox="1"/>
          <p:nvPr/>
        </p:nvSpPr>
        <p:spPr>
          <a:xfrm>
            <a:off x="8092440" y="2103120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Natural language query → RAG retrieval → AI-generated answer with sources</a:t>
            </a:r>
            <a:endParaRPr sz="1200"/>
          </a:p>
        </p:txBody>
      </p:sp>
      <p:sp>
        <p:nvSpPr>
          <p:cNvPr id="528" name="Google Shape;528;p29"/>
          <p:cNvSpPr/>
          <p:nvPr/>
        </p:nvSpPr>
        <p:spPr>
          <a:xfrm>
            <a:off x="804672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8138160" y="288036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User: Enter NL query</a:t>
            </a:r>
            <a:endParaRPr sz="1200"/>
          </a:p>
        </p:txBody>
      </p:sp>
      <p:sp>
        <p:nvSpPr>
          <p:cNvPr id="530" name="Google Shape;530;p29"/>
          <p:cNvSpPr/>
          <p:nvPr/>
        </p:nvSpPr>
        <p:spPr>
          <a:xfrm>
            <a:off x="804672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8138160" y="370332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Interpret → Search index → Rank &amp; filter</a:t>
            </a:r>
            <a:endParaRPr sz="1200"/>
          </a:p>
        </p:txBody>
      </p:sp>
      <p:sp>
        <p:nvSpPr>
          <p:cNvPr id="532" name="Google Shape;532;p29"/>
          <p:cNvSpPr/>
          <p:nvPr/>
        </p:nvSpPr>
        <p:spPr>
          <a:xfrm>
            <a:off x="804672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813816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found → Generate summary + key points + source links</a:t>
            </a:r>
            <a:endParaRPr sz="1200"/>
          </a:p>
        </p:txBody>
      </p:sp>
      <p:sp>
        <p:nvSpPr>
          <p:cNvPr id="534" name="Google Shape;534;p29"/>
          <p:cNvSpPr/>
          <p:nvPr/>
        </p:nvSpPr>
        <p:spPr>
          <a:xfrm>
            <a:off x="8046720" y="530352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 txBox="1"/>
          <p:nvPr/>
        </p:nvSpPr>
        <p:spPr>
          <a:xfrm>
            <a:off x="8138160" y="534924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results → Suggest related topics → Refine query loop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1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30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177" y="1254660"/>
            <a:ext cx="3965773" cy="5450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2" name="Google Shape;552;p31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869" y="1254660"/>
            <a:ext cx="6324583" cy="5450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32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219" y="1254660"/>
            <a:ext cx="6365702" cy="545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3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r>
              <a:rPr b="1" lang="en-US" sz="2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— Full View</a:t>
            </a:r>
            <a:endParaRPr sz="2800"/>
          </a:p>
        </p:txBody>
      </p:sp>
      <p:sp>
        <p:nvSpPr>
          <p:cNvPr id="569" name="Google Shape;569;p33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275" y="1254760"/>
            <a:ext cx="4596484" cy="545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4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/>
          </a:p>
        </p:txBody>
      </p:sp>
      <p:sp>
        <p:nvSpPr>
          <p:cNvPr id="577" name="Google Shape;577;p34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Azure Cloud · Region: Southeast Asia · VNet 10.1.0.0/16</a:t>
            </a:r>
            <a:endParaRPr sz="1800"/>
          </a:p>
        </p:txBody>
      </p:sp>
      <p:sp>
        <p:nvSpPr>
          <p:cNvPr id="578" name="Google Shape;578;p34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274320" y="137160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274320" y="137160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4"/>
          <p:cNvSpPr txBox="1"/>
          <p:nvPr/>
        </p:nvSpPr>
        <p:spPr>
          <a:xfrm>
            <a:off x="365760" y="139903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1: Compute &amp; Access</a:t>
            </a:r>
            <a:endParaRPr/>
          </a:p>
        </p:txBody>
      </p:sp>
      <p:sp>
        <p:nvSpPr>
          <p:cNvPr id="582" name="Google Shape;582;p34"/>
          <p:cNvSpPr txBox="1"/>
          <p:nvPr/>
        </p:nvSpPr>
        <p:spPr>
          <a:xfrm>
            <a:off x="365760" y="161848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App Service + Static Web Apps + Container Apps</a:t>
            </a:r>
            <a:endParaRPr sz="1200"/>
          </a:p>
        </p:txBody>
      </p:sp>
      <p:sp>
        <p:nvSpPr>
          <p:cNvPr id="583" name="Google Shape;583;p34"/>
          <p:cNvSpPr txBox="1"/>
          <p:nvPr/>
        </p:nvSpPr>
        <p:spPr>
          <a:xfrm>
            <a:off x="457200" y="196596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Front Door + WAF (public ingress, TLS, DDoS)</a:t>
            </a:r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457200" y="225856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Static Web Apps → Frontend React SPA</a:t>
            </a:r>
            <a:endParaRPr/>
          </a:p>
        </p:txBody>
      </p:sp>
      <p:sp>
        <p:nvSpPr>
          <p:cNvPr id="585" name="Google Shape;585;p34"/>
          <p:cNvSpPr txBox="1"/>
          <p:nvPr/>
        </p:nvSpPr>
        <p:spPr>
          <a:xfrm>
            <a:off x="457200" y="255117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App Service (Linux) → Backend API (FastAPI)</a:t>
            </a:r>
            <a:endParaRPr/>
          </a:p>
        </p:txBody>
      </p:sp>
      <p:sp>
        <p:nvSpPr>
          <p:cNvPr id="586" name="Google Shape;586;p34"/>
          <p:cNvSpPr txBox="1"/>
          <p:nvPr/>
        </p:nvSpPr>
        <p:spPr>
          <a:xfrm>
            <a:off x="457200" y="2843784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Container Apps → Celery workers, AI Service, Expert Service</a:t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6217920" y="137160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6217920" y="137160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6309360" y="139903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2: Data &amp; Governance</a:t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6309360" y="161848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Private endpoints in data-subnet 10.1.1.0/24</a:t>
            </a:r>
            <a:endParaRPr sz="1200"/>
          </a:p>
        </p:txBody>
      </p:sp>
      <p:sp>
        <p:nvSpPr>
          <p:cNvPr id="591" name="Google Shape;591;p34"/>
          <p:cNvSpPr txBox="1"/>
          <p:nvPr/>
        </p:nvSpPr>
        <p:spPr>
          <a:xfrm>
            <a:off x="6400800" y="196596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PostgreSQL Flexible Server (zone-redundant) — App D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92" name="Google Shape;592;p34"/>
          <p:cNvSpPr txBox="1"/>
          <p:nvPr/>
        </p:nvSpPr>
        <p:spPr>
          <a:xfrm>
            <a:off x="6400800" y="225856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Cache for Redis — Celery broker + query cache</a:t>
            </a:r>
            <a:endParaRPr/>
          </a:p>
        </p:txBody>
      </p:sp>
      <p:sp>
        <p:nvSpPr>
          <p:cNvPr id="593" name="Google Shape;593;p34"/>
          <p:cNvSpPr txBox="1"/>
          <p:nvPr/>
        </p:nvSpPr>
        <p:spPr>
          <a:xfrm>
            <a:off x="6400800" y="255117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Blob Storage — documents &amp; crawled files</a:t>
            </a:r>
            <a:endParaRPr/>
          </a:p>
        </p:txBody>
      </p:sp>
      <p:sp>
        <p:nvSpPr>
          <p:cNvPr id="594" name="Google Shape;594;p34"/>
          <p:cNvSpPr txBox="1"/>
          <p:nvPr/>
        </p:nvSpPr>
        <p:spPr>
          <a:xfrm>
            <a:off x="6400800" y="2843784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AI Search — unified vector index</a:t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6400800" y="3136392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Key Vault — secrets via managed identities</a:t>
            </a:r>
            <a:endParaRPr/>
          </a:p>
        </p:txBody>
      </p:sp>
      <p:sp>
        <p:nvSpPr>
          <p:cNvPr id="596" name="Google Shape;596;p34"/>
          <p:cNvSpPr txBox="1"/>
          <p:nvPr/>
        </p:nvSpPr>
        <p:spPr>
          <a:xfrm>
            <a:off x="6400800" y="3429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Monitor / App Insights — APM + budget alerts</a:t>
            </a:r>
            <a:endParaRPr/>
          </a:p>
        </p:txBody>
      </p:sp>
      <p:sp>
        <p:nvSpPr>
          <p:cNvPr id="597" name="Google Shape;597;p34"/>
          <p:cNvSpPr/>
          <p:nvPr/>
        </p:nvSpPr>
        <p:spPr>
          <a:xfrm>
            <a:off x="274320" y="397764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274320" y="397764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4"/>
          <p:cNvSpPr txBox="1"/>
          <p:nvPr/>
        </p:nvSpPr>
        <p:spPr>
          <a:xfrm>
            <a:off x="365760" y="400507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3: External Azure Services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365760" y="422452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Managed by Microsoft, consumed over private endpoints</a:t>
            </a:r>
            <a:endParaRPr sz="1200"/>
          </a:p>
        </p:txBody>
      </p:sp>
      <p:sp>
        <p:nvSpPr>
          <p:cNvPr id="601" name="Google Shape;601;p34"/>
          <p:cNvSpPr txBox="1"/>
          <p:nvPr/>
        </p:nvSpPr>
        <p:spPr>
          <a:xfrm>
            <a:off x="457200" y="4572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Content Understanding — text &amp; structure extraction</a:t>
            </a:r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457200" y="486460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OpenAI Service — LLM inference</a:t>
            </a:r>
            <a:endParaRPr/>
          </a:p>
        </p:txBody>
      </p:sp>
      <p:sp>
        <p:nvSpPr>
          <p:cNvPr id="603" name="Google Shape;603;p34"/>
          <p:cNvSpPr txBox="1"/>
          <p:nvPr/>
        </p:nvSpPr>
        <p:spPr>
          <a:xfrm>
            <a:off x="457200" y="515721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Entra ID — OAuth2/OIDC identity provider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6217920" y="397764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6217920" y="397764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5555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6309360" y="400507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4: Corporate Network</a:t>
            </a:r>
            <a:endParaRPr/>
          </a:p>
        </p:txBody>
      </p:sp>
      <p:sp>
        <p:nvSpPr>
          <p:cNvPr id="607" name="Google Shape;607;p34"/>
          <p:cNvSpPr txBox="1"/>
          <p:nvPr/>
        </p:nvSpPr>
        <p:spPr>
          <a:xfrm>
            <a:off x="6309360" y="422452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On-premises, accessed over VPN / private peering</a:t>
            </a:r>
            <a:endParaRPr sz="1200"/>
          </a:p>
        </p:txBody>
      </p:sp>
      <p:sp>
        <p:nvSpPr>
          <p:cNvPr id="608" name="Google Shape;608;p34"/>
          <p:cNvSpPr txBox="1"/>
          <p:nvPr/>
        </p:nvSpPr>
        <p:spPr>
          <a:xfrm>
            <a:off x="6400800" y="4572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Enterprise Content Sources (SharePoint, Confluence, file servers, DBs)</a:t>
            </a:r>
            <a:endParaRPr/>
          </a:p>
        </p:txBody>
      </p:sp>
      <p:sp>
        <p:nvSpPr>
          <p:cNvPr id="609" name="Google Shape;609;p34"/>
          <p:cNvSpPr txBox="1"/>
          <p:nvPr/>
        </p:nvSpPr>
        <p:spPr>
          <a:xfrm>
            <a:off x="6400800" y="486460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HR / Org Directory (employee profiles)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5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5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Stack</a:t>
            </a:r>
            <a:endParaRPr/>
          </a:p>
        </p:txBody>
      </p:sp>
      <p:sp>
        <p:nvSpPr>
          <p:cNvPr id="616" name="Google Shape;616;p35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Technology choices aligned with Azure ecosystem and project constraints</a:t>
            </a:r>
            <a:endParaRPr sz="1800"/>
          </a:p>
        </p:txBody>
      </p:sp>
      <p:sp>
        <p:nvSpPr>
          <p:cNvPr id="617" name="Google Shape;617;p35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22860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22860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32004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800"/>
          </a:p>
        </p:txBody>
      </p:sp>
      <p:sp>
        <p:nvSpPr>
          <p:cNvPr id="621" name="Google Shape;621;p35"/>
          <p:cNvSpPr txBox="1"/>
          <p:nvPr/>
        </p:nvSpPr>
        <p:spPr>
          <a:xfrm>
            <a:off x="32004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600"/>
          </a:p>
        </p:txBody>
      </p:sp>
      <p:sp>
        <p:nvSpPr>
          <p:cNvPr id="622" name="Google Shape;622;p35"/>
          <p:cNvSpPr txBox="1"/>
          <p:nvPr/>
        </p:nvSpPr>
        <p:spPr>
          <a:xfrm>
            <a:off x="32004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React (JavaScript)</a:t>
            </a:r>
            <a:endParaRPr sz="1600"/>
          </a:p>
        </p:txBody>
      </p:sp>
      <p:sp>
        <p:nvSpPr>
          <p:cNvPr id="623" name="Google Shape;623;p35"/>
          <p:cNvSpPr txBox="1"/>
          <p:nvPr/>
        </p:nvSpPr>
        <p:spPr>
          <a:xfrm>
            <a:off x="32004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sz="1600"/>
          </a:p>
        </p:txBody>
      </p:sp>
      <p:sp>
        <p:nvSpPr>
          <p:cNvPr id="624" name="Google Shape;624;p35"/>
          <p:cNvSpPr txBox="1"/>
          <p:nvPr/>
        </p:nvSpPr>
        <p:spPr>
          <a:xfrm>
            <a:off x="32004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Static Web Apps</a:t>
            </a:r>
            <a:endParaRPr sz="1600"/>
          </a:p>
        </p:txBody>
      </p:sp>
      <p:sp>
        <p:nvSpPr>
          <p:cNvPr id="625" name="Google Shape;625;p35"/>
          <p:cNvSpPr txBox="1"/>
          <p:nvPr/>
        </p:nvSpPr>
        <p:spPr>
          <a:xfrm>
            <a:off x="32004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600"/>
          </a:p>
        </p:txBody>
      </p:sp>
      <p:sp>
        <p:nvSpPr>
          <p:cNvPr id="626" name="Google Shape;626;p35"/>
          <p:cNvSpPr txBox="1"/>
          <p:nvPr/>
        </p:nvSpPr>
        <p:spPr>
          <a:xfrm>
            <a:off x="32004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SPA, responsive, Chrome/Edge 130+</a:t>
            </a:r>
            <a:endParaRPr sz="1600"/>
          </a:p>
        </p:txBody>
      </p:sp>
      <p:sp>
        <p:nvSpPr>
          <p:cNvPr id="627" name="Google Shape;627;p35"/>
          <p:cNvSpPr/>
          <p:nvPr/>
        </p:nvSpPr>
        <p:spPr>
          <a:xfrm>
            <a:off x="260604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260604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5"/>
          <p:cNvSpPr txBox="1"/>
          <p:nvPr/>
        </p:nvSpPr>
        <p:spPr>
          <a:xfrm>
            <a:off x="269748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800"/>
          </a:p>
        </p:txBody>
      </p:sp>
      <p:sp>
        <p:nvSpPr>
          <p:cNvPr id="630" name="Google Shape;630;p35"/>
          <p:cNvSpPr txBox="1"/>
          <p:nvPr/>
        </p:nvSpPr>
        <p:spPr>
          <a:xfrm>
            <a:off x="269748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600"/>
          </a:p>
        </p:txBody>
      </p:sp>
      <p:sp>
        <p:nvSpPr>
          <p:cNvPr id="631" name="Google Shape;631;p35"/>
          <p:cNvSpPr txBox="1"/>
          <p:nvPr/>
        </p:nvSpPr>
        <p:spPr>
          <a:xfrm>
            <a:off x="269748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/ FastAPI</a:t>
            </a:r>
            <a:endParaRPr sz="1600"/>
          </a:p>
        </p:txBody>
      </p:sp>
      <p:sp>
        <p:nvSpPr>
          <p:cNvPr id="632" name="Google Shape;632;p35"/>
          <p:cNvSpPr txBox="1"/>
          <p:nvPr/>
        </p:nvSpPr>
        <p:spPr>
          <a:xfrm>
            <a:off x="269748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sz="1600"/>
          </a:p>
        </p:txBody>
      </p:sp>
      <p:sp>
        <p:nvSpPr>
          <p:cNvPr id="633" name="Google Shape;633;p35"/>
          <p:cNvSpPr txBox="1"/>
          <p:nvPr/>
        </p:nvSpPr>
        <p:spPr>
          <a:xfrm>
            <a:off x="2697480" y="299923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App Service (Linux)</a:t>
            </a:r>
            <a:endParaRPr sz="1600"/>
          </a:p>
        </p:txBody>
      </p:sp>
      <p:sp>
        <p:nvSpPr>
          <p:cNvPr id="634" name="Google Shape;634;p35"/>
          <p:cNvSpPr txBox="1"/>
          <p:nvPr/>
        </p:nvSpPr>
        <p:spPr>
          <a:xfrm>
            <a:off x="269748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1600"/>
          </a:p>
        </p:txBody>
      </p:sp>
      <p:sp>
        <p:nvSpPr>
          <p:cNvPr id="635" name="Google Shape;635;p35"/>
          <p:cNvSpPr txBox="1"/>
          <p:nvPr/>
        </p:nvSpPr>
        <p:spPr>
          <a:xfrm>
            <a:off x="269748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Entra ID JWT + RBAC middleware</a:t>
            </a:r>
            <a:endParaRPr sz="1600"/>
          </a:p>
        </p:txBody>
      </p:sp>
      <p:sp>
        <p:nvSpPr>
          <p:cNvPr id="636" name="Google Shape;636;p35"/>
          <p:cNvSpPr/>
          <p:nvPr/>
        </p:nvSpPr>
        <p:spPr>
          <a:xfrm>
            <a:off x="498348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5"/>
          <p:cNvSpPr/>
          <p:nvPr/>
        </p:nvSpPr>
        <p:spPr>
          <a:xfrm>
            <a:off x="498348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5"/>
          <p:cNvSpPr txBox="1"/>
          <p:nvPr/>
        </p:nvSpPr>
        <p:spPr>
          <a:xfrm>
            <a:off x="507492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Search</a:t>
            </a:r>
            <a:endParaRPr sz="1800"/>
          </a:p>
        </p:txBody>
      </p:sp>
      <p:sp>
        <p:nvSpPr>
          <p:cNvPr id="639" name="Google Shape;639;p35"/>
          <p:cNvSpPr txBox="1"/>
          <p:nvPr/>
        </p:nvSpPr>
        <p:spPr>
          <a:xfrm>
            <a:off x="507492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600"/>
          </a:p>
        </p:txBody>
      </p:sp>
      <p:sp>
        <p:nvSpPr>
          <p:cNvPr id="640" name="Google Shape;640;p35"/>
          <p:cNvSpPr txBox="1"/>
          <p:nvPr/>
        </p:nvSpPr>
        <p:spPr>
          <a:xfrm>
            <a:off x="507492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Service</a:t>
            </a:r>
            <a:endParaRPr sz="1600"/>
          </a:p>
        </p:txBody>
      </p:sp>
      <p:sp>
        <p:nvSpPr>
          <p:cNvPr id="641" name="Google Shape;641;p35"/>
          <p:cNvSpPr txBox="1"/>
          <p:nvPr/>
        </p:nvSpPr>
        <p:spPr>
          <a:xfrm>
            <a:off x="507492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sz="1600"/>
          </a:p>
        </p:txBody>
      </p:sp>
      <p:sp>
        <p:nvSpPr>
          <p:cNvPr id="642" name="Google Shape;642;p35"/>
          <p:cNvSpPr txBox="1"/>
          <p:nvPr/>
        </p:nvSpPr>
        <p:spPr>
          <a:xfrm>
            <a:off x="5074920" y="299923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Content Understanding</a:t>
            </a:r>
            <a:endParaRPr sz="1600"/>
          </a:p>
        </p:txBody>
      </p:sp>
      <p:sp>
        <p:nvSpPr>
          <p:cNvPr id="643" name="Google Shape;643;p35"/>
          <p:cNvSpPr txBox="1"/>
          <p:nvPr/>
        </p:nvSpPr>
        <p:spPr>
          <a:xfrm>
            <a:off x="507492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600"/>
          </a:p>
        </p:txBody>
      </p:sp>
      <p:sp>
        <p:nvSpPr>
          <p:cNvPr id="644" name="Google Shape;644;p35"/>
          <p:cNvSpPr txBox="1"/>
          <p:nvPr/>
        </p:nvSpPr>
        <p:spPr>
          <a:xfrm>
            <a:off x="507492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 (vector index)</a:t>
            </a:r>
            <a:endParaRPr sz="1600"/>
          </a:p>
        </p:txBody>
      </p:sp>
      <p:sp>
        <p:nvSpPr>
          <p:cNvPr id="645" name="Google Shape;645;p35"/>
          <p:cNvSpPr txBox="1"/>
          <p:nvPr/>
        </p:nvSpPr>
        <p:spPr>
          <a:xfrm>
            <a:off x="507492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sz="1600"/>
          </a:p>
        </p:txBody>
      </p:sp>
      <p:sp>
        <p:nvSpPr>
          <p:cNvPr id="646" name="Google Shape;646;p35"/>
          <p:cNvSpPr txBox="1"/>
          <p:nvPr/>
        </p:nvSpPr>
        <p:spPr>
          <a:xfrm>
            <a:off x="5074920" y="4462272"/>
            <a:ext cx="2057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RAG — Retrieval Augmented Generation</a:t>
            </a:r>
            <a:endParaRPr sz="1600"/>
          </a:p>
        </p:txBody>
      </p:sp>
      <p:sp>
        <p:nvSpPr>
          <p:cNvPr id="647" name="Google Shape;647;p35"/>
          <p:cNvSpPr/>
          <p:nvPr/>
        </p:nvSpPr>
        <p:spPr>
          <a:xfrm>
            <a:off x="736092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5"/>
          <p:cNvSpPr/>
          <p:nvPr/>
        </p:nvSpPr>
        <p:spPr>
          <a:xfrm>
            <a:off x="736092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745236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Messaging</a:t>
            </a:r>
            <a:endParaRPr sz="1800"/>
          </a:p>
        </p:txBody>
      </p:sp>
      <p:sp>
        <p:nvSpPr>
          <p:cNvPr id="650" name="Google Shape;650;p35"/>
          <p:cNvSpPr txBox="1"/>
          <p:nvPr/>
        </p:nvSpPr>
        <p:spPr>
          <a:xfrm>
            <a:off x="745236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600"/>
          </a:p>
        </p:txBody>
      </p:sp>
      <p:sp>
        <p:nvSpPr>
          <p:cNvPr id="651" name="Google Shape;651;p35"/>
          <p:cNvSpPr txBox="1"/>
          <p:nvPr/>
        </p:nvSpPr>
        <p:spPr>
          <a:xfrm>
            <a:off x="7452360" y="22677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PostgreSQL Flexible Server</a:t>
            </a:r>
            <a:endParaRPr sz="1600"/>
          </a:p>
        </p:txBody>
      </p:sp>
      <p:sp>
        <p:nvSpPr>
          <p:cNvPr id="652" name="Google Shape;652;p35"/>
          <p:cNvSpPr txBox="1"/>
          <p:nvPr/>
        </p:nvSpPr>
        <p:spPr>
          <a:xfrm>
            <a:off x="745236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endParaRPr sz="1600"/>
          </a:p>
        </p:txBody>
      </p:sp>
      <p:sp>
        <p:nvSpPr>
          <p:cNvPr id="653" name="Google Shape;653;p35"/>
          <p:cNvSpPr txBox="1"/>
          <p:nvPr/>
        </p:nvSpPr>
        <p:spPr>
          <a:xfrm>
            <a:off x="745236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Blob Storage</a:t>
            </a:r>
            <a:endParaRPr sz="1600"/>
          </a:p>
        </p:txBody>
      </p:sp>
      <p:sp>
        <p:nvSpPr>
          <p:cNvPr id="654" name="Google Shape;654;p35"/>
          <p:cNvSpPr txBox="1"/>
          <p:nvPr/>
        </p:nvSpPr>
        <p:spPr>
          <a:xfrm>
            <a:off x="745236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Cache / Broker</a:t>
            </a:r>
            <a:endParaRPr sz="1600"/>
          </a:p>
        </p:txBody>
      </p:sp>
      <p:sp>
        <p:nvSpPr>
          <p:cNvPr id="655" name="Google Shape;655;p35"/>
          <p:cNvSpPr txBox="1"/>
          <p:nvPr/>
        </p:nvSpPr>
        <p:spPr>
          <a:xfrm>
            <a:off x="7452360" y="373075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Cache for Redis</a:t>
            </a:r>
            <a:endParaRPr sz="1600"/>
          </a:p>
        </p:txBody>
      </p:sp>
      <p:sp>
        <p:nvSpPr>
          <p:cNvPr id="656" name="Google Shape;656;p35"/>
          <p:cNvSpPr txBox="1"/>
          <p:nvPr/>
        </p:nvSpPr>
        <p:spPr>
          <a:xfrm>
            <a:off x="745236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Task Queue</a:t>
            </a:r>
            <a:endParaRPr sz="1600"/>
          </a:p>
        </p:txBody>
      </p:sp>
      <p:sp>
        <p:nvSpPr>
          <p:cNvPr id="657" name="Google Shape;657;p35"/>
          <p:cNvSpPr txBox="1"/>
          <p:nvPr/>
        </p:nvSpPr>
        <p:spPr>
          <a:xfrm>
            <a:off x="7452360" y="446227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Celery (Python)</a:t>
            </a:r>
            <a:endParaRPr sz="1600"/>
          </a:p>
        </p:txBody>
      </p:sp>
      <p:sp>
        <p:nvSpPr>
          <p:cNvPr id="658" name="Google Shape;658;p35"/>
          <p:cNvSpPr/>
          <p:nvPr/>
        </p:nvSpPr>
        <p:spPr>
          <a:xfrm>
            <a:off x="973836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973836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4F52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5"/>
          <p:cNvSpPr txBox="1"/>
          <p:nvPr/>
        </p:nvSpPr>
        <p:spPr>
          <a:xfrm>
            <a:off x="982980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sz="1800"/>
          </a:p>
        </p:txBody>
      </p:sp>
      <p:sp>
        <p:nvSpPr>
          <p:cNvPr id="661" name="Google Shape;661;p35"/>
          <p:cNvSpPr txBox="1"/>
          <p:nvPr/>
        </p:nvSpPr>
        <p:spPr>
          <a:xfrm>
            <a:off x="982980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sz="1600"/>
          </a:p>
        </p:txBody>
      </p:sp>
      <p:sp>
        <p:nvSpPr>
          <p:cNvPr id="662" name="Google Shape;662;p35"/>
          <p:cNvSpPr txBox="1"/>
          <p:nvPr/>
        </p:nvSpPr>
        <p:spPr>
          <a:xfrm>
            <a:off x="9829800" y="22677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VNet + private endpoints</a:t>
            </a:r>
            <a:endParaRPr sz="1600"/>
          </a:p>
        </p:txBody>
      </p:sp>
      <p:sp>
        <p:nvSpPr>
          <p:cNvPr id="663" name="Google Shape;663;p35"/>
          <p:cNvSpPr txBox="1"/>
          <p:nvPr/>
        </p:nvSpPr>
        <p:spPr>
          <a:xfrm>
            <a:off x="982980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endParaRPr sz="1600"/>
          </a:p>
        </p:txBody>
      </p:sp>
      <p:sp>
        <p:nvSpPr>
          <p:cNvPr id="664" name="Google Shape;664;p35"/>
          <p:cNvSpPr txBox="1"/>
          <p:nvPr/>
        </p:nvSpPr>
        <p:spPr>
          <a:xfrm>
            <a:off x="982980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Key Vault</a:t>
            </a:r>
            <a:endParaRPr sz="1600"/>
          </a:p>
        </p:txBody>
      </p:sp>
      <p:sp>
        <p:nvSpPr>
          <p:cNvPr id="665" name="Google Shape;665;p35"/>
          <p:cNvSpPr txBox="1"/>
          <p:nvPr/>
        </p:nvSpPr>
        <p:spPr>
          <a:xfrm>
            <a:off x="982980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1600"/>
          </a:p>
        </p:txBody>
      </p:sp>
      <p:sp>
        <p:nvSpPr>
          <p:cNvPr id="666" name="Google Shape;666;p35"/>
          <p:cNvSpPr txBox="1"/>
          <p:nvPr/>
        </p:nvSpPr>
        <p:spPr>
          <a:xfrm>
            <a:off x="982980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Front Door + WAF</a:t>
            </a:r>
            <a:endParaRPr sz="1600"/>
          </a:p>
        </p:txBody>
      </p:sp>
      <p:sp>
        <p:nvSpPr>
          <p:cNvPr id="667" name="Google Shape;667;p35"/>
          <p:cNvSpPr txBox="1"/>
          <p:nvPr/>
        </p:nvSpPr>
        <p:spPr>
          <a:xfrm>
            <a:off x="982980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600"/>
          </a:p>
        </p:txBody>
      </p:sp>
      <p:sp>
        <p:nvSpPr>
          <p:cNvPr id="668" name="Google Shape;668;p35"/>
          <p:cNvSpPr txBox="1"/>
          <p:nvPr/>
        </p:nvSpPr>
        <p:spPr>
          <a:xfrm>
            <a:off x="9829800" y="446227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 Insights + budget alerts</a:t>
            </a:r>
            <a:endParaRPr sz="1600"/>
          </a:p>
        </p:txBody>
      </p:sp>
      <p:sp>
        <p:nvSpPr>
          <p:cNvPr id="669" name="Google Shape;669;p35"/>
          <p:cNvSpPr txBox="1"/>
          <p:nvPr/>
        </p:nvSpPr>
        <p:spPr>
          <a:xfrm>
            <a:off x="9829800" y="493776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IaC</a:t>
            </a:r>
            <a:endParaRPr sz="1600"/>
          </a:p>
        </p:txBody>
      </p:sp>
      <p:sp>
        <p:nvSpPr>
          <p:cNvPr id="670" name="Google Shape;670;p35"/>
          <p:cNvSpPr txBox="1"/>
          <p:nvPr/>
        </p:nvSpPr>
        <p:spPr>
          <a:xfrm>
            <a:off x="9829800" y="519379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Bicep / Terraform</a:t>
            </a:r>
            <a:endParaRPr sz="1600"/>
          </a:p>
        </p:txBody>
      </p:sp>
      <p:sp>
        <p:nvSpPr>
          <p:cNvPr id="671" name="Google Shape;671;p35"/>
          <p:cNvSpPr txBox="1"/>
          <p:nvPr/>
        </p:nvSpPr>
        <p:spPr>
          <a:xfrm>
            <a:off x="9829800" y="56692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sz="1600"/>
          </a:p>
        </p:txBody>
      </p:sp>
      <p:sp>
        <p:nvSpPr>
          <p:cNvPr id="672" name="Google Shape;672;p35"/>
          <p:cNvSpPr txBox="1"/>
          <p:nvPr/>
        </p:nvSpPr>
        <p:spPr>
          <a:xfrm>
            <a:off x="9829800" y="59253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GitHub Actions / Azure DevOps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6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Benefits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How TO-BE addresses every AS-IS pain point</a:t>
            </a:r>
            <a:endParaRPr sz="1800"/>
          </a:p>
        </p:txBody>
      </p:sp>
      <p:sp>
        <p:nvSpPr>
          <p:cNvPr id="680" name="Google Shape;680;p36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6"/>
          <p:cNvSpPr/>
          <p:nvPr/>
        </p:nvSpPr>
        <p:spPr>
          <a:xfrm>
            <a:off x="36576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6"/>
          <p:cNvSpPr/>
          <p:nvPr/>
        </p:nvSpPr>
        <p:spPr>
          <a:xfrm>
            <a:off x="45720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6"/>
          <p:cNvSpPr txBox="1"/>
          <p:nvPr/>
        </p:nvSpPr>
        <p:spPr>
          <a:xfrm>
            <a:off x="50292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Limited Scope</a:t>
            </a:r>
            <a:endParaRPr sz="1600"/>
          </a:p>
        </p:txBody>
      </p:sp>
      <p:sp>
        <p:nvSpPr>
          <p:cNvPr id="684" name="Google Shape;684;p36"/>
          <p:cNvSpPr/>
          <p:nvPr/>
        </p:nvSpPr>
        <p:spPr>
          <a:xfrm>
            <a:off x="45720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 txBox="1"/>
          <p:nvPr/>
        </p:nvSpPr>
        <p:spPr>
          <a:xfrm>
            <a:off x="50292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End-to-end Document Intelligence</a:t>
            </a:r>
            <a:endParaRPr sz="1600"/>
          </a:p>
        </p:txBody>
      </p:sp>
      <p:sp>
        <p:nvSpPr>
          <p:cNvPr id="686" name="Google Shape;686;p36"/>
          <p:cNvSpPr txBox="1"/>
          <p:nvPr/>
        </p:nvSpPr>
        <p:spPr>
          <a:xfrm>
            <a:off x="502920" y="2377440"/>
            <a:ext cx="3337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Expands beyond basic submission/review to support processing, audit, search, and knowledge assistance in one unified workflow.</a:t>
            </a:r>
            <a:endParaRPr sz="1600"/>
          </a:p>
        </p:txBody>
      </p:sp>
      <p:sp>
        <p:nvSpPr>
          <p:cNvPr id="687" name="Google Shape;687;p36"/>
          <p:cNvSpPr/>
          <p:nvPr/>
        </p:nvSpPr>
        <p:spPr>
          <a:xfrm>
            <a:off x="416052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425196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 txBox="1"/>
          <p:nvPr/>
        </p:nvSpPr>
        <p:spPr>
          <a:xfrm>
            <a:off x="429768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No Multi-Source</a:t>
            </a:r>
            <a:endParaRPr sz="1600"/>
          </a:p>
        </p:txBody>
      </p:sp>
      <p:sp>
        <p:nvSpPr>
          <p:cNvPr id="690" name="Google Shape;690;p36"/>
          <p:cNvSpPr/>
          <p:nvPr/>
        </p:nvSpPr>
        <p:spPr>
          <a:xfrm>
            <a:off x="425196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429768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Unified Enterprise Access</a:t>
            </a:r>
            <a:endParaRPr sz="1600"/>
          </a:p>
        </p:txBody>
      </p:sp>
      <p:sp>
        <p:nvSpPr>
          <p:cNvPr id="692" name="Google Shape;692;p36"/>
          <p:cNvSpPr txBox="1"/>
          <p:nvPr/>
        </p:nvSpPr>
        <p:spPr>
          <a:xfrm>
            <a:off x="4297680" y="237744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Combines documents from SharePoint, Confluence, file servers, and databases into a single searchable knowledge layer.</a:t>
            </a:r>
            <a:endParaRPr sz="1600"/>
          </a:p>
        </p:txBody>
      </p:sp>
      <p:sp>
        <p:nvSpPr>
          <p:cNvPr id="693" name="Google Shape;693;p36"/>
          <p:cNvSpPr/>
          <p:nvPr/>
        </p:nvSpPr>
        <p:spPr>
          <a:xfrm>
            <a:off x="795528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804672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 txBox="1"/>
          <p:nvPr/>
        </p:nvSpPr>
        <p:spPr>
          <a:xfrm>
            <a:off x="809244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Weak Automation</a:t>
            </a:r>
            <a:endParaRPr sz="1600"/>
          </a:p>
        </p:txBody>
      </p:sp>
      <p:sp>
        <p:nvSpPr>
          <p:cNvPr id="696" name="Google Shape;696;p36"/>
          <p:cNvSpPr/>
          <p:nvPr/>
        </p:nvSpPr>
        <p:spPr>
          <a:xfrm>
            <a:off x="804672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 txBox="1"/>
          <p:nvPr/>
        </p:nvSpPr>
        <p:spPr>
          <a:xfrm>
            <a:off x="809244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Automated Quality Assurance</a:t>
            </a:r>
            <a:endParaRPr sz="1600"/>
          </a:p>
        </p:txBody>
      </p:sp>
      <p:sp>
        <p:nvSpPr>
          <p:cNvPr id="698" name="Google Shape;698;p36"/>
          <p:cNvSpPr txBox="1"/>
          <p:nvPr/>
        </p:nvSpPr>
        <p:spPr>
          <a:xfrm>
            <a:off x="8092440" y="237744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Checks completeness, identifies gaps, and guides resubmission — reducing manual rework by catching issues earlier.</a:t>
            </a:r>
            <a:endParaRPr sz="1600"/>
          </a:p>
        </p:txBody>
      </p:sp>
      <p:sp>
        <p:nvSpPr>
          <p:cNvPr id="699" name="Google Shape;699;p36"/>
          <p:cNvSpPr/>
          <p:nvPr/>
        </p:nvSpPr>
        <p:spPr>
          <a:xfrm>
            <a:off x="36576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/>
          <p:nvPr/>
        </p:nvSpPr>
        <p:spPr>
          <a:xfrm>
            <a:off x="45720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 txBox="1"/>
          <p:nvPr/>
        </p:nvSpPr>
        <p:spPr>
          <a:xfrm>
            <a:off x="50292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Heavy Manual Review</a:t>
            </a:r>
            <a:endParaRPr sz="1600"/>
          </a:p>
        </p:txBody>
      </p:sp>
      <p:sp>
        <p:nvSpPr>
          <p:cNvPr id="702" name="Google Shape;702;p36"/>
          <p:cNvSpPr/>
          <p:nvPr/>
        </p:nvSpPr>
        <p:spPr>
          <a:xfrm>
            <a:off x="45720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6"/>
          <p:cNvSpPr txBox="1"/>
          <p:nvPr/>
        </p:nvSpPr>
        <p:spPr>
          <a:xfrm>
            <a:off x="50292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Lower Reviewer Effort</a:t>
            </a:r>
            <a:endParaRPr sz="1600"/>
          </a:p>
        </p:txBody>
      </p:sp>
      <p:sp>
        <p:nvSpPr>
          <p:cNvPr id="704" name="Google Shape;704;p36"/>
          <p:cNvSpPr txBox="1"/>
          <p:nvPr/>
        </p:nvSpPr>
        <p:spPr>
          <a:xfrm>
            <a:off x="502920" y="493776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summarizes results, surfaces risks, and lets reviewers focus on exceptions rather than repetitive document reading.</a:t>
            </a:r>
            <a:endParaRPr sz="1600"/>
          </a:p>
        </p:txBody>
      </p:sp>
      <p:sp>
        <p:nvSpPr>
          <p:cNvPr id="705" name="Google Shape;705;p36"/>
          <p:cNvSpPr/>
          <p:nvPr/>
        </p:nvSpPr>
        <p:spPr>
          <a:xfrm>
            <a:off x="416052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425196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6"/>
          <p:cNvSpPr txBox="1"/>
          <p:nvPr/>
        </p:nvSpPr>
        <p:spPr>
          <a:xfrm>
            <a:off x="429768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Missing Feedback Loop</a:t>
            </a:r>
            <a:endParaRPr sz="1600"/>
          </a:p>
        </p:txBody>
      </p:sp>
      <p:sp>
        <p:nvSpPr>
          <p:cNvPr id="708" name="Google Shape;708;p36"/>
          <p:cNvSpPr/>
          <p:nvPr/>
        </p:nvSpPr>
        <p:spPr>
          <a:xfrm>
            <a:off x="425196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 txBox="1"/>
          <p:nvPr/>
        </p:nvSpPr>
        <p:spPr>
          <a:xfrm>
            <a:off x="429768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Continuous AI Improvement</a:t>
            </a:r>
            <a:endParaRPr sz="1600"/>
          </a:p>
        </p:txBody>
      </p:sp>
      <p:sp>
        <p:nvSpPr>
          <p:cNvPr id="710" name="Google Shape;710;p36"/>
          <p:cNvSpPr txBox="1"/>
          <p:nvPr/>
        </p:nvSpPr>
        <p:spPr>
          <a:xfrm>
            <a:off x="4297680" y="4937760"/>
            <a:ext cx="333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Learns from user interactions and corrections to refine future search results and audit recommendations.</a:t>
            </a:r>
            <a:endParaRPr sz="1600"/>
          </a:p>
        </p:txBody>
      </p:sp>
      <p:sp>
        <p:nvSpPr>
          <p:cNvPr id="711" name="Google Shape;711;p36"/>
          <p:cNvSpPr/>
          <p:nvPr/>
        </p:nvSpPr>
        <p:spPr>
          <a:xfrm>
            <a:off x="795528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804672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6"/>
          <p:cNvSpPr txBox="1"/>
          <p:nvPr/>
        </p:nvSpPr>
        <p:spPr>
          <a:xfrm>
            <a:off x="809244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No Expert Matching</a:t>
            </a:r>
            <a:endParaRPr sz="1600"/>
          </a:p>
        </p:txBody>
      </p:sp>
      <p:sp>
        <p:nvSpPr>
          <p:cNvPr id="714" name="Google Shape;714;p36"/>
          <p:cNvSpPr/>
          <p:nvPr/>
        </p:nvSpPr>
        <p:spPr>
          <a:xfrm>
            <a:off x="804672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 txBox="1"/>
          <p:nvPr/>
        </p:nvSpPr>
        <p:spPr>
          <a:xfrm>
            <a:off x="809244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Faster SME Matching</a:t>
            </a:r>
            <a:endParaRPr sz="1600"/>
          </a:p>
        </p:txBody>
      </p:sp>
      <p:sp>
        <p:nvSpPr>
          <p:cNvPr id="716" name="Google Shape;716;p36"/>
          <p:cNvSpPr txBox="1"/>
          <p:nvPr/>
        </p:nvSpPr>
        <p:spPr>
          <a:xfrm>
            <a:off x="8092440" y="4937760"/>
            <a:ext cx="333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Extracts domain keywords from documents and matches against HR profiles — reducing decision delays.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7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— Development Effort</a:t>
            </a:r>
            <a:endParaRPr/>
          </a:p>
        </p:txBody>
      </p:sp>
      <p:sp>
        <p:nvSpPr>
          <p:cNvPr id="723" name="Google Shape;723;p37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Team: 5 members (1 PM, 2 Backend, 1 Frontend, 1 QA) · Timeline: 3 months</a:t>
            </a:r>
            <a:endParaRPr sz="1800"/>
          </a:p>
        </p:txBody>
      </p:sp>
      <p:sp>
        <p:nvSpPr>
          <p:cNvPr id="724" name="Google Shape;724;p37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365760" y="13716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7"/>
          <p:cNvSpPr txBox="1"/>
          <p:nvPr/>
        </p:nvSpPr>
        <p:spPr>
          <a:xfrm>
            <a:off x="457200" y="13716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800"/>
          </a:p>
        </p:txBody>
      </p:sp>
      <p:sp>
        <p:nvSpPr>
          <p:cNvPr id="727" name="Google Shape;727;p37"/>
          <p:cNvSpPr txBox="1"/>
          <p:nvPr/>
        </p:nvSpPr>
        <p:spPr>
          <a:xfrm>
            <a:off x="4480560" y="13716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Man-Days</a:t>
            </a:r>
            <a:endParaRPr sz="1800"/>
          </a:p>
        </p:txBody>
      </p:sp>
      <p:sp>
        <p:nvSpPr>
          <p:cNvPr id="728" name="Google Shape;728;p37"/>
          <p:cNvSpPr/>
          <p:nvPr/>
        </p:nvSpPr>
        <p:spPr>
          <a:xfrm>
            <a:off x="365760" y="17373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 txBox="1"/>
          <p:nvPr/>
        </p:nvSpPr>
        <p:spPr>
          <a:xfrm>
            <a:off x="457200" y="17373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Setup &amp; Infra</a:t>
            </a:r>
            <a:endParaRPr sz="1800"/>
          </a:p>
        </p:txBody>
      </p:sp>
      <p:sp>
        <p:nvSpPr>
          <p:cNvPr id="730" name="Google Shape;730;p37"/>
          <p:cNvSpPr txBox="1"/>
          <p:nvPr/>
        </p:nvSpPr>
        <p:spPr>
          <a:xfrm>
            <a:off x="4480560" y="17373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800"/>
          </a:p>
        </p:txBody>
      </p:sp>
      <p:sp>
        <p:nvSpPr>
          <p:cNvPr id="731" name="Google Shape;731;p37"/>
          <p:cNvSpPr/>
          <p:nvPr/>
        </p:nvSpPr>
        <p:spPr>
          <a:xfrm>
            <a:off x="365760" y="21031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 txBox="1"/>
          <p:nvPr/>
        </p:nvSpPr>
        <p:spPr>
          <a:xfrm>
            <a:off x="457200" y="21031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Auth &amp; Authorization</a:t>
            </a:r>
            <a:endParaRPr sz="1800"/>
          </a:p>
        </p:txBody>
      </p:sp>
      <p:sp>
        <p:nvSpPr>
          <p:cNvPr id="733" name="Google Shape;733;p37"/>
          <p:cNvSpPr txBox="1"/>
          <p:nvPr/>
        </p:nvSpPr>
        <p:spPr>
          <a:xfrm>
            <a:off x="4480560" y="21031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/>
          </a:p>
        </p:txBody>
      </p:sp>
      <p:sp>
        <p:nvSpPr>
          <p:cNvPr id="734" name="Google Shape;734;p37"/>
          <p:cNvSpPr/>
          <p:nvPr/>
        </p:nvSpPr>
        <p:spPr>
          <a:xfrm>
            <a:off x="365760" y="246888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 txBox="1"/>
          <p:nvPr/>
        </p:nvSpPr>
        <p:spPr>
          <a:xfrm>
            <a:off x="457200" y="24688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Frontend (React SPA)</a:t>
            </a:r>
            <a:endParaRPr sz="1800"/>
          </a:p>
        </p:txBody>
      </p:sp>
      <p:sp>
        <p:nvSpPr>
          <p:cNvPr id="736" name="Google Shape;736;p37"/>
          <p:cNvSpPr txBox="1"/>
          <p:nvPr/>
        </p:nvSpPr>
        <p:spPr>
          <a:xfrm>
            <a:off x="4480560" y="246888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sz="1800"/>
          </a:p>
        </p:txBody>
      </p:sp>
      <p:sp>
        <p:nvSpPr>
          <p:cNvPr id="737" name="Google Shape;737;p37"/>
          <p:cNvSpPr/>
          <p:nvPr/>
        </p:nvSpPr>
        <p:spPr>
          <a:xfrm>
            <a:off x="365760" y="283464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 txBox="1"/>
          <p:nvPr/>
        </p:nvSpPr>
        <p:spPr>
          <a:xfrm>
            <a:off x="457200" y="28346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Backend API (FastAPI)</a:t>
            </a:r>
            <a:endParaRPr sz="1800"/>
          </a:p>
        </p:txBody>
      </p:sp>
      <p:sp>
        <p:nvSpPr>
          <p:cNvPr id="739" name="Google Shape;739;p37"/>
          <p:cNvSpPr txBox="1"/>
          <p:nvPr/>
        </p:nvSpPr>
        <p:spPr>
          <a:xfrm>
            <a:off x="4480560" y="283464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sz="1800"/>
          </a:p>
        </p:txBody>
      </p:sp>
      <p:sp>
        <p:nvSpPr>
          <p:cNvPr id="740" name="Google Shape;740;p37"/>
          <p:cNvSpPr/>
          <p:nvPr/>
        </p:nvSpPr>
        <p:spPr>
          <a:xfrm>
            <a:off x="365760" y="32004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7"/>
          <p:cNvSpPr txBox="1"/>
          <p:nvPr/>
        </p:nvSpPr>
        <p:spPr>
          <a:xfrm>
            <a:off x="457200" y="32004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 Processing Pipeline</a:t>
            </a:r>
            <a:endParaRPr sz="1800"/>
          </a:p>
        </p:txBody>
      </p:sp>
      <p:sp>
        <p:nvSpPr>
          <p:cNvPr id="742" name="Google Shape;742;p37"/>
          <p:cNvSpPr txBox="1"/>
          <p:nvPr/>
        </p:nvSpPr>
        <p:spPr>
          <a:xfrm>
            <a:off x="4480560" y="32004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800"/>
          </a:p>
        </p:txBody>
      </p:sp>
      <p:sp>
        <p:nvSpPr>
          <p:cNvPr id="743" name="Google Shape;743;p37"/>
          <p:cNvSpPr/>
          <p:nvPr/>
        </p:nvSpPr>
        <p:spPr>
          <a:xfrm>
            <a:off x="365760" y="35661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457200" y="35661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Search &amp; Knowledge</a:t>
            </a:r>
            <a:endParaRPr sz="1800"/>
          </a:p>
        </p:txBody>
      </p:sp>
      <p:sp>
        <p:nvSpPr>
          <p:cNvPr id="745" name="Google Shape;745;p37"/>
          <p:cNvSpPr txBox="1"/>
          <p:nvPr/>
        </p:nvSpPr>
        <p:spPr>
          <a:xfrm>
            <a:off x="4480560" y="35661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/>
          </a:p>
        </p:txBody>
      </p:sp>
      <p:sp>
        <p:nvSpPr>
          <p:cNvPr id="746" name="Google Shape;746;p37"/>
          <p:cNvSpPr/>
          <p:nvPr/>
        </p:nvSpPr>
        <p:spPr>
          <a:xfrm>
            <a:off x="365760" y="39319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7"/>
          <p:cNvSpPr txBox="1"/>
          <p:nvPr/>
        </p:nvSpPr>
        <p:spPr>
          <a:xfrm>
            <a:off x="457200" y="39319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Expert Identification</a:t>
            </a:r>
            <a:endParaRPr sz="1800"/>
          </a:p>
        </p:txBody>
      </p:sp>
      <p:sp>
        <p:nvSpPr>
          <p:cNvPr id="748" name="Google Shape;748;p37"/>
          <p:cNvSpPr txBox="1"/>
          <p:nvPr/>
        </p:nvSpPr>
        <p:spPr>
          <a:xfrm>
            <a:off x="4480560" y="39319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/>
          </a:p>
        </p:txBody>
      </p:sp>
      <p:sp>
        <p:nvSpPr>
          <p:cNvPr id="749" name="Google Shape;749;p37"/>
          <p:cNvSpPr/>
          <p:nvPr/>
        </p:nvSpPr>
        <p:spPr>
          <a:xfrm>
            <a:off x="365760" y="429768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7"/>
          <p:cNvSpPr txBox="1"/>
          <p:nvPr/>
        </p:nvSpPr>
        <p:spPr>
          <a:xfrm>
            <a:off x="457200" y="42976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Learning from Interactions</a:t>
            </a:r>
            <a:endParaRPr sz="1800"/>
          </a:p>
        </p:txBody>
      </p:sp>
      <p:sp>
        <p:nvSpPr>
          <p:cNvPr id="751" name="Google Shape;751;p37"/>
          <p:cNvSpPr txBox="1"/>
          <p:nvPr/>
        </p:nvSpPr>
        <p:spPr>
          <a:xfrm>
            <a:off x="4480560" y="429768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/>
          </a:p>
        </p:txBody>
      </p:sp>
      <p:sp>
        <p:nvSpPr>
          <p:cNvPr id="752" name="Google Shape;752;p37"/>
          <p:cNvSpPr/>
          <p:nvPr/>
        </p:nvSpPr>
        <p:spPr>
          <a:xfrm>
            <a:off x="365760" y="466344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457200" y="46634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Non-Functional (NFR)</a:t>
            </a:r>
            <a:endParaRPr sz="1800"/>
          </a:p>
        </p:txBody>
      </p:sp>
      <p:sp>
        <p:nvSpPr>
          <p:cNvPr id="754" name="Google Shape;754;p37"/>
          <p:cNvSpPr txBox="1"/>
          <p:nvPr/>
        </p:nvSpPr>
        <p:spPr>
          <a:xfrm>
            <a:off x="4480560" y="466344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/>
          </a:p>
        </p:txBody>
      </p:sp>
      <p:sp>
        <p:nvSpPr>
          <p:cNvPr id="755" name="Google Shape;755;p37"/>
          <p:cNvSpPr/>
          <p:nvPr/>
        </p:nvSpPr>
        <p:spPr>
          <a:xfrm>
            <a:off x="365760" y="50292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7"/>
          <p:cNvSpPr txBox="1"/>
          <p:nvPr/>
        </p:nvSpPr>
        <p:spPr>
          <a:xfrm>
            <a:off x="457200" y="50292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800"/>
          </a:p>
        </p:txBody>
      </p:sp>
      <p:sp>
        <p:nvSpPr>
          <p:cNvPr id="757" name="Google Shape;757;p37"/>
          <p:cNvSpPr txBox="1"/>
          <p:nvPr/>
        </p:nvSpPr>
        <p:spPr>
          <a:xfrm>
            <a:off x="4480560" y="50292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800"/>
          </a:p>
        </p:txBody>
      </p:sp>
      <p:sp>
        <p:nvSpPr>
          <p:cNvPr id="758" name="Google Shape;758;p37"/>
          <p:cNvSpPr/>
          <p:nvPr/>
        </p:nvSpPr>
        <p:spPr>
          <a:xfrm>
            <a:off x="365760" y="53949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7"/>
          <p:cNvSpPr txBox="1"/>
          <p:nvPr/>
        </p:nvSpPr>
        <p:spPr>
          <a:xfrm>
            <a:off x="457200" y="53949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Deploy, Docs &amp; Training</a:t>
            </a:r>
            <a:endParaRPr sz="1800"/>
          </a:p>
        </p:txBody>
      </p:sp>
      <p:sp>
        <p:nvSpPr>
          <p:cNvPr id="760" name="Google Shape;760;p37"/>
          <p:cNvSpPr txBox="1"/>
          <p:nvPr/>
        </p:nvSpPr>
        <p:spPr>
          <a:xfrm>
            <a:off x="4480560" y="53949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800"/>
          </a:p>
        </p:txBody>
      </p:sp>
      <p:sp>
        <p:nvSpPr>
          <p:cNvPr id="761" name="Google Shape;761;p37"/>
          <p:cNvSpPr/>
          <p:nvPr/>
        </p:nvSpPr>
        <p:spPr>
          <a:xfrm>
            <a:off x="365760" y="57607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7"/>
          <p:cNvSpPr txBox="1"/>
          <p:nvPr/>
        </p:nvSpPr>
        <p:spPr>
          <a:xfrm>
            <a:off x="457200" y="57607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763" name="Google Shape;763;p37"/>
          <p:cNvSpPr txBox="1"/>
          <p:nvPr/>
        </p:nvSpPr>
        <p:spPr>
          <a:xfrm>
            <a:off x="4480560" y="57607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276</a:t>
            </a:r>
            <a:endParaRPr sz="1800"/>
          </a:p>
        </p:txBody>
      </p:sp>
      <p:sp>
        <p:nvSpPr>
          <p:cNvPr id="764" name="Google Shape;764;p37"/>
          <p:cNvSpPr/>
          <p:nvPr/>
        </p:nvSpPr>
        <p:spPr>
          <a:xfrm>
            <a:off x="6400800" y="137160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7"/>
          <p:cNvSpPr txBox="1"/>
          <p:nvPr/>
        </p:nvSpPr>
        <p:spPr>
          <a:xfrm>
            <a:off x="6537960" y="141732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Risk Buffers</a:t>
            </a:r>
            <a:endParaRPr sz="1800"/>
          </a:p>
        </p:txBody>
      </p:sp>
      <p:sp>
        <p:nvSpPr>
          <p:cNvPr id="766" name="Google Shape;766;p37"/>
          <p:cNvSpPr txBox="1"/>
          <p:nvPr/>
        </p:nvSpPr>
        <p:spPr>
          <a:xfrm>
            <a:off x="6537960" y="171907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b="1" lang="en-US" sz="1800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 Man-Days</a:t>
            </a:r>
            <a:endParaRPr sz="1800"/>
          </a:p>
        </p:txBody>
      </p:sp>
      <p:sp>
        <p:nvSpPr>
          <p:cNvPr id="767" name="Google Shape;767;p37"/>
          <p:cNvSpPr/>
          <p:nvPr/>
        </p:nvSpPr>
        <p:spPr>
          <a:xfrm>
            <a:off x="6400800" y="224028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 txBox="1"/>
          <p:nvPr/>
        </p:nvSpPr>
        <p:spPr>
          <a:xfrm>
            <a:off x="6537960" y="22860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Man-Days</a:t>
            </a:r>
            <a:endParaRPr sz="1800"/>
          </a:p>
        </p:txBody>
      </p:sp>
      <p:sp>
        <p:nvSpPr>
          <p:cNvPr id="769" name="Google Shape;769;p37"/>
          <p:cNvSpPr txBox="1"/>
          <p:nvPr/>
        </p:nvSpPr>
        <p:spPr>
          <a:xfrm>
            <a:off x="6537960" y="258775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304</a:t>
            </a:r>
            <a:endParaRPr sz="1800"/>
          </a:p>
        </p:txBody>
      </p:sp>
      <p:sp>
        <p:nvSpPr>
          <p:cNvPr id="770" name="Google Shape;770;p37"/>
          <p:cNvSpPr/>
          <p:nvPr/>
        </p:nvSpPr>
        <p:spPr>
          <a:xfrm>
            <a:off x="6400800" y="310896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 txBox="1"/>
          <p:nvPr/>
        </p:nvSpPr>
        <p:spPr>
          <a:xfrm>
            <a:off x="6537960" y="31546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Cost Per Man-Days</a:t>
            </a:r>
            <a:endParaRPr sz="1800"/>
          </a:p>
        </p:txBody>
      </p:sp>
      <p:sp>
        <p:nvSpPr>
          <p:cNvPr id="772" name="Google Shape;772;p37"/>
          <p:cNvSpPr txBox="1"/>
          <p:nvPr/>
        </p:nvSpPr>
        <p:spPr>
          <a:xfrm>
            <a:off x="6537960" y="345643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$2000</a:t>
            </a:r>
            <a:endParaRPr sz="1800"/>
          </a:p>
        </p:txBody>
      </p:sp>
      <p:sp>
        <p:nvSpPr>
          <p:cNvPr id="773" name="Google Shape;773;p37"/>
          <p:cNvSpPr/>
          <p:nvPr/>
        </p:nvSpPr>
        <p:spPr>
          <a:xfrm>
            <a:off x="6400800" y="3977639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6537960" y="4023359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775" name="Google Shape;775;p37"/>
          <p:cNvSpPr txBox="1"/>
          <p:nvPr/>
        </p:nvSpPr>
        <p:spPr>
          <a:xfrm>
            <a:off x="6537960" y="4325111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$608,000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8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— Infrastructure Cost</a:t>
            </a:r>
            <a:endParaRPr/>
          </a:p>
        </p:txBody>
      </p:sp>
      <p:sp>
        <p:nvSpPr>
          <p:cNvPr id="782" name="Google Shape;782;p38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Platform: Azure Cloud</a:t>
            </a: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 · Production cap: $5,000/month</a:t>
            </a:r>
            <a:endParaRPr sz="1800"/>
          </a:p>
        </p:txBody>
      </p:sp>
      <p:sp>
        <p:nvSpPr>
          <p:cNvPr id="783" name="Google Shape;783;p38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 txBox="1"/>
          <p:nvPr/>
        </p:nvSpPr>
        <p:spPr>
          <a:xfrm>
            <a:off x="365760" y="123444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Development Phase (3 months)</a:t>
            </a:r>
            <a:endParaRPr sz="1800"/>
          </a:p>
        </p:txBody>
      </p:sp>
      <p:sp>
        <p:nvSpPr>
          <p:cNvPr id="785" name="Google Shape;785;p38"/>
          <p:cNvSpPr/>
          <p:nvPr/>
        </p:nvSpPr>
        <p:spPr>
          <a:xfrm>
            <a:off x="365760" y="1554480"/>
            <a:ext cx="5486400" cy="32004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 txBox="1"/>
          <p:nvPr/>
        </p:nvSpPr>
        <p:spPr>
          <a:xfrm>
            <a:off x="457200" y="15544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800"/>
          </a:p>
        </p:txBody>
      </p:sp>
      <p:sp>
        <p:nvSpPr>
          <p:cNvPr id="787" name="Google Shape;787;p38"/>
          <p:cNvSpPr txBox="1"/>
          <p:nvPr/>
        </p:nvSpPr>
        <p:spPr>
          <a:xfrm>
            <a:off x="3200400" y="1554480"/>
            <a:ext cx="118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(USD)</a:t>
            </a:r>
            <a:endParaRPr sz="1800"/>
          </a:p>
        </p:txBody>
      </p:sp>
      <p:sp>
        <p:nvSpPr>
          <p:cNvPr id="788" name="Google Shape;788;p38"/>
          <p:cNvSpPr txBox="1"/>
          <p:nvPr/>
        </p:nvSpPr>
        <p:spPr>
          <a:xfrm>
            <a:off x="4572000" y="1554480"/>
            <a:ext cx="118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3-Month (USD)</a:t>
            </a:r>
            <a:endParaRPr sz="1800"/>
          </a:p>
        </p:txBody>
      </p:sp>
      <p:sp>
        <p:nvSpPr>
          <p:cNvPr id="789" name="Google Shape;789;p38"/>
          <p:cNvSpPr/>
          <p:nvPr/>
        </p:nvSpPr>
        <p:spPr>
          <a:xfrm>
            <a:off x="365760" y="1874520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 txBox="1"/>
          <p:nvPr/>
        </p:nvSpPr>
        <p:spPr>
          <a:xfrm>
            <a:off x="457200" y="187452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</a:t>
            </a:r>
            <a:endParaRPr sz="1800"/>
          </a:p>
        </p:txBody>
      </p:sp>
      <p:sp>
        <p:nvSpPr>
          <p:cNvPr id="791" name="Google Shape;791;p38"/>
          <p:cNvSpPr txBox="1"/>
          <p:nvPr/>
        </p:nvSpPr>
        <p:spPr>
          <a:xfrm>
            <a:off x="3200400" y="187452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$120</a:t>
            </a:r>
            <a:endParaRPr sz="1800"/>
          </a:p>
        </p:txBody>
      </p:sp>
      <p:sp>
        <p:nvSpPr>
          <p:cNvPr id="792" name="Google Shape;792;p38"/>
          <p:cNvSpPr txBox="1"/>
          <p:nvPr/>
        </p:nvSpPr>
        <p:spPr>
          <a:xfrm>
            <a:off x="4572000" y="187452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$360</a:t>
            </a:r>
            <a:endParaRPr sz="1800"/>
          </a:p>
        </p:txBody>
      </p:sp>
      <p:sp>
        <p:nvSpPr>
          <p:cNvPr id="793" name="Google Shape;793;p38"/>
          <p:cNvSpPr/>
          <p:nvPr/>
        </p:nvSpPr>
        <p:spPr>
          <a:xfrm>
            <a:off x="365760" y="2167128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 txBox="1"/>
          <p:nvPr/>
        </p:nvSpPr>
        <p:spPr>
          <a:xfrm>
            <a:off x="457200" y="216712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(dev/test)</a:t>
            </a:r>
            <a:endParaRPr sz="1800"/>
          </a:p>
        </p:txBody>
      </p:sp>
      <p:sp>
        <p:nvSpPr>
          <p:cNvPr id="795" name="Google Shape;795;p38"/>
          <p:cNvSpPr txBox="1"/>
          <p:nvPr/>
        </p:nvSpPr>
        <p:spPr>
          <a:xfrm>
            <a:off x="3200400" y="216712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$900</a:t>
            </a:r>
            <a:endParaRPr sz="1800"/>
          </a:p>
        </p:txBody>
      </p:sp>
      <p:sp>
        <p:nvSpPr>
          <p:cNvPr id="796" name="Google Shape;796;p38"/>
          <p:cNvSpPr txBox="1"/>
          <p:nvPr/>
        </p:nvSpPr>
        <p:spPr>
          <a:xfrm>
            <a:off x="4572000" y="216712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$2,700</a:t>
            </a:r>
            <a:endParaRPr sz="1800"/>
          </a:p>
        </p:txBody>
      </p:sp>
      <p:sp>
        <p:nvSpPr>
          <p:cNvPr id="797" name="Google Shape;797;p38"/>
          <p:cNvSpPr/>
          <p:nvPr/>
        </p:nvSpPr>
        <p:spPr>
          <a:xfrm>
            <a:off x="365760" y="2459736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 txBox="1"/>
          <p:nvPr/>
        </p:nvSpPr>
        <p:spPr>
          <a:xfrm>
            <a:off x="457200" y="245973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PostgreSQL Flexible Server</a:t>
            </a:r>
            <a:endParaRPr sz="1800"/>
          </a:p>
        </p:txBody>
      </p:sp>
      <p:sp>
        <p:nvSpPr>
          <p:cNvPr id="799" name="Google Shape;799;p38"/>
          <p:cNvSpPr txBox="1"/>
          <p:nvPr/>
        </p:nvSpPr>
        <p:spPr>
          <a:xfrm>
            <a:off x="3200400" y="245973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00" name="Google Shape;800;p38"/>
          <p:cNvSpPr txBox="1"/>
          <p:nvPr/>
        </p:nvSpPr>
        <p:spPr>
          <a:xfrm>
            <a:off x="4572000" y="245973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$450</a:t>
            </a:r>
            <a:endParaRPr sz="1800"/>
          </a:p>
        </p:txBody>
      </p:sp>
      <p:sp>
        <p:nvSpPr>
          <p:cNvPr id="801" name="Google Shape;801;p38"/>
          <p:cNvSpPr/>
          <p:nvPr/>
        </p:nvSpPr>
        <p:spPr>
          <a:xfrm>
            <a:off x="365760" y="2752344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8"/>
          <p:cNvSpPr txBox="1"/>
          <p:nvPr/>
        </p:nvSpPr>
        <p:spPr>
          <a:xfrm>
            <a:off x="457200" y="275234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Blob Storage + Files</a:t>
            </a:r>
            <a:endParaRPr sz="1800"/>
          </a:p>
        </p:txBody>
      </p:sp>
      <p:sp>
        <p:nvSpPr>
          <p:cNvPr id="803" name="Google Shape;803;p38"/>
          <p:cNvSpPr txBox="1"/>
          <p:nvPr/>
        </p:nvSpPr>
        <p:spPr>
          <a:xfrm>
            <a:off x="3200400" y="275234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</a:t>
            </a:r>
            <a:endParaRPr sz="1800"/>
          </a:p>
        </p:txBody>
      </p:sp>
      <p:sp>
        <p:nvSpPr>
          <p:cNvPr id="804" name="Google Shape;804;p38"/>
          <p:cNvSpPr txBox="1"/>
          <p:nvPr/>
        </p:nvSpPr>
        <p:spPr>
          <a:xfrm>
            <a:off x="4572000" y="275234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$105</a:t>
            </a:r>
            <a:endParaRPr sz="1800"/>
          </a:p>
        </p:txBody>
      </p:sp>
      <p:sp>
        <p:nvSpPr>
          <p:cNvPr id="805" name="Google Shape;805;p38"/>
          <p:cNvSpPr/>
          <p:nvPr/>
        </p:nvSpPr>
        <p:spPr>
          <a:xfrm>
            <a:off x="365760" y="3044952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 txBox="1"/>
          <p:nvPr/>
        </p:nvSpPr>
        <p:spPr>
          <a:xfrm>
            <a:off x="457200" y="304495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Cache for Redis</a:t>
            </a:r>
            <a:endParaRPr sz="1800"/>
          </a:p>
        </p:txBody>
      </p:sp>
      <p:sp>
        <p:nvSpPr>
          <p:cNvPr id="807" name="Google Shape;807;p38"/>
          <p:cNvSpPr txBox="1"/>
          <p:nvPr/>
        </p:nvSpPr>
        <p:spPr>
          <a:xfrm>
            <a:off x="3200400" y="3044952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$70</a:t>
            </a:r>
            <a:endParaRPr sz="1800"/>
          </a:p>
        </p:txBody>
      </p:sp>
      <p:sp>
        <p:nvSpPr>
          <p:cNvPr id="808" name="Google Shape;808;p38"/>
          <p:cNvSpPr txBox="1"/>
          <p:nvPr/>
        </p:nvSpPr>
        <p:spPr>
          <a:xfrm>
            <a:off x="4572000" y="3044952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$210</a:t>
            </a:r>
            <a:endParaRPr sz="1800"/>
          </a:p>
        </p:txBody>
      </p:sp>
      <p:sp>
        <p:nvSpPr>
          <p:cNvPr id="809" name="Google Shape;809;p38"/>
          <p:cNvSpPr/>
          <p:nvPr/>
        </p:nvSpPr>
        <p:spPr>
          <a:xfrm>
            <a:off x="365760" y="3337560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8"/>
          <p:cNvSpPr txBox="1"/>
          <p:nvPr/>
        </p:nvSpPr>
        <p:spPr>
          <a:xfrm>
            <a:off x="457200" y="333756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Monitor / App Insights</a:t>
            </a:r>
            <a:endParaRPr sz="1800"/>
          </a:p>
        </p:txBody>
      </p:sp>
      <p:sp>
        <p:nvSpPr>
          <p:cNvPr id="811" name="Google Shape;811;p38"/>
          <p:cNvSpPr txBox="1"/>
          <p:nvPr/>
        </p:nvSpPr>
        <p:spPr>
          <a:xfrm>
            <a:off x="3200400" y="333756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$90</a:t>
            </a:r>
            <a:endParaRPr sz="1800"/>
          </a:p>
        </p:txBody>
      </p:sp>
      <p:sp>
        <p:nvSpPr>
          <p:cNvPr id="812" name="Google Shape;812;p38"/>
          <p:cNvSpPr txBox="1"/>
          <p:nvPr/>
        </p:nvSpPr>
        <p:spPr>
          <a:xfrm>
            <a:off x="4572000" y="333756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$270</a:t>
            </a:r>
            <a:endParaRPr sz="1800"/>
          </a:p>
        </p:txBody>
      </p:sp>
      <p:sp>
        <p:nvSpPr>
          <p:cNvPr id="813" name="Google Shape;813;p38"/>
          <p:cNvSpPr/>
          <p:nvPr/>
        </p:nvSpPr>
        <p:spPr>
          <a:xfrm>
            <a:off x="365760" y="3630168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8"/>
          <p:cNvSpPr txBox="1"/>
          <p:nvPr/>
        </p:nvSpPr>
        <p:spPr>
          <a:xfrm>
            <a:off x="457200" y="363016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Vault, VNet, DNS</a:t>
            </a:r>
            <a:endParaRPr sz="1800"/>
          </a:p>
        </p:txBody>
      </p:sp>
      <p:sp>
        <p:nvSpPr>
          <p:cNvPr id="815" name="Google Shape;815;p38"/>
          <p:cNvSpPr txBox="1"/>
          <p:nvPr/>
        </p:nvSpPr>
        <p:spPr>
          <a:xfrm>
            <a:off x="3200400" y="363016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$60</a:t>
            </a:r>
            <a:endParaRPr sz="1800"/>
          </a:p>
        </p:txBody>
      </p:sp>
      <p:sp>
        <p:nvSpPr>
          <p:cNvPr id="816" name="Google Shape;816;p38"/>
          <p:cNvSpPr txBox="1"/>
          <p:nvPr/>
        </p:nvSpPr>
        <p:spPr>
          <a:xfrm>
            <a:off x="4572000" y="363016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$180</a:t>
            </a:r>
            <a:endParaRPr sz="1800"/>
          </a:p>
        </p:txBody>
      </p:sp>
      <p:sp>
        <p:nvSpPr>
          <p:cNvPr id="817" name="Google Shape;817;p38"/>
          <p:cNvSpPr/>
          <p:nvPr/>
        </p:nvSpPr>
        <p:spPr>
          <a:xfrm>
            <a:off x="365760" y="3922776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457200" y="392277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CI/CD &amp; tooling</a:t>
            </a:r>
            <a:endParaRPr sz="1800"/>
          </a:p>
        </p:txBody>
      </p:sp>
      <p:sp>
        <p:nvSpPr>
          <p:cNvPr id="819" name="Google Shape;819;p38"/>
          <p:cNvSpPr txBox="1"/>
          <p:nvPr/>
        </p:nvSpPr>
        <p:spPr>
          <a:xfrm>
            <a:off x="3200400" y="392277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$80</a:t>
            </a:r>
            <a:endParaRPr sz="1800"/>
          </a:p>
        </p:txBody>
      </p:sp>
      <p:sp>
        <p:nvSpPr>
          <p:cNvPr id="820" name="Google Shape;820;p38"/>
          <p:cNvSpPr txBox="1"/>
          <p:nvPr/>
        </p:nvSpPr>
        <p:spPr>
          <a:xfrm>
            <a:off x="4572000" y="392277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$240</a:t>
            </a:r>
            <a:endParaRPr sz="1800"/>
          </a:p>
        </p:txBody>
      </p:sp>
      <p:sp>
        <p:nvSpPr>
          <p:cNvPr id="821" name="Google Shape;821;p38"/>
          <p:cNvSpPr/>
          <p:nvPr/>
        </p:nvSpPr>
        <p:spPr>
          <a:xfrm>
            <a:off x="365760" y="4215384"/>
            <a:ext cx="548640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8"/>
          <p:cNvSpPr txBox="1"/>
          <p:nvPr/>
        </p:nvSpPr>
        <p:spPr>
          <a:xfrm>
            <a:off x="457200" y="421538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823" name="Google Shape;823;p38"/>
          <p:cNvSpPr txBox="1"/>
          <p:nvPr/>
        </p:nvSpPr>
        <p:spPr>
          <a:xfrm>
            <a:off x="3200400" y="421538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$1,505</a:t>
            </a:r>
            <a:endParaRPr sz="1800"/>
          </a:p>
        </p:txBody>
      </p:sp>
      <p:sp>
        <p:nvSpPr>
          <p:cNvPr id="824" name="Google Shape;824;p38"/>
          <p:cNvSpPr txBox="1"/>
          <p:nvPr/>
        </p:nvSpPr>
        <p:spPr>
          <a:xfrm>
            <a:off x="4572000" y="421538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$4,515</a:t>
            </a:r>
            <a:endParaRPr sz="1800"/>
          </a:p>
        </p:txBody>
      </p:sp>
      <p:sp>
        <p:nvSpPr>
          <p:cNvPr id="825" name="Google Shape;825;p38"/>
          <p:cNvSpPr txBox="1"/>
          <p:nvPr/>
        </p:nvSpPr>
        <p:spPr>
          <a:xfrm>
            <a:off x="6400800" y="123444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Production Phase (steady state)</a:t>
            </a:r>
            <a:endParaRPr sz="1800"/>
          </a:p>
        </p:txBody>
      </p:sp>
      <p:sp>
        <p:nvSpPr>
          <p:cNvPr id="826" name="Google Shape;826;p38"/>
          <p:cNvSpPr/>
          <p:nvPr/>
        </p:nvSpPr>
        <p:spPr>
          <a:xfrm>
            <a:off x="6400800" y="1554480"/>
            <a:ext cx="5303520" cy="32004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8"/>
          <p:cNvSpPr txBox="1"/>
          <p:nvPr/>
        </p:nvSpPr>
        <p:spPr>
          <a:xfrm>
            <a:off x="6492240" y="155448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800"/>
          </a:p>
        </p:txBody>
      </p:sp>
      <p:sp>
        <p:nvSpPr>
          <p:cNvPr id="828" name="Google Shape;828;p38"/>
          <p:cNvSpPr txBox="1"/>
          <p:nvPr/>
        </p:nvSpPr>
        <p:spPr>
          <a:xfrm>
            <a:off x="9875520" y="155448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(USD)</a:t>
            </a:r>
            <a:endParaRPr sz="1800"/>
          </a:p>
        </p:txBody>
      </p:sp>
      <p:sp>
        <p:nvSpPr>
          <p:cNvPr id="829" name="Google Shape;829;p38"/>
          <p:cNvSpPr/>
          <p:nvPr/>
        </p:nvSpPr>
        <p:spPr>
          <a:xfrm>
            <a:off x="6400800" y="1874520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8"/>
          <p:cNvSpPr txBox="1"/>
          <p:nvPr/>
        </p:nvSpPr>
        <p:spPr>
          <a:xfrm>
            <a:off x="6492240" y="187452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 (standard)</a:t>
            </a:r>
            <a:endParaRPr sz="1800"/>
          </a:p>
        </p:txBody>
      </p:sp>
      <p:sp>
        <p:nvSpPr>
          <p:cNvPr id="831" name="Google Shape;831;p38"/>
          <p:cNvSpPr txBox="1"/>
          <p:nvPr/>
        </p:nvSpPr>
        <p:spPr>
          <a:xfrm>
            <a:off x="9875520" y="187452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$350</a:t>
            </a:r>
            <a:endParaRPr sz="1800"/>
          </a:p>
        </p:txBody>
      </p:sp>
      <p:sp>
        <p:nvSpPr>
          <p:cNvPr id="832" name="Google Shape;832;p38"/>
          <p:cNvSpPr/>
          <p:nvPr/>
        </p:nvSpPr>
        <p:spPr>
          <a:xfrm>
            <a:off x="6400800" y="2167128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8"/>
          <p:cNvSpPr txBox="1"/>
          <p:nvPr/>
        </p:nvSpPr>
        <p:spPr>
          <a:xfrm>
            <a:off x="6492240" y="216712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(production)</a:t>
            </a:r>
            <a:endParaRPr sz="1800"/>
          </a:p>
        </p:txBody>
      </p:sp>
      <p:sp>
        <p:nvSpPr>
          <p:cNvPr id="834" name="Google Shape;834;p38"/>
          <p:cNvSpPr txBox="1"/>
          <p:nvPr/>
        </p:nvSpPr>
        <p:spPr>
          <a:xfrm>
            <a:off x="9875520" y="2167128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$2,500</a:t>
            </a:r>
            <a:endParaRPr sz="1800"/>
          </a:p>
        </p:txBody>
      </p:sp>
      <p:sp>
        <p:nvSpPr>
          <p:cNvPr id="835" name="Google Shape;835;p38"/>
          <p:cNvSpPr/>
          <p:nvPr/>
        </p:nvSpPr>
        <p:spPr>
          <a:xfrm>
            <a:off x="6400800" y="2459736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8"/>
          <p:cNvSpPr txBox="1"/>
          <p:nvPr/>
        </p:nvSpPr>
        <p:spPr>
          <a:xfrm>
            <a:off x="6492240" y="245973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PostgreSQL Flexible Server</a:t>
            </a:r>
            <a:endParaRPr sz="1800"/>
          </a:p>
        </p:txBody>
      </p:sp>
      <p:sp>
        <p:nvSpPr>
          <p:cNvPr id="837" name="Google Shape;837;p38"/>
          <p:cNvSpPr txBox="1"/>
          <p:nvPr/>
        </p:nvSpPr>
        <p:spPr>
          <a:xfrm>
            <a:off x="9875520" y="2459736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$350</a:t>
            </a:r>
            <a:endParaRPr sz="1800"/>
          </a:p>
        </p:txBody>
      </p:sp>
      <p:sp>
        <p:nvSpPr>
          <p:cNvPr id="838" name="Google Shape;838;p38"/>
          <p:cNvSpPr/>
          <p:nvPr/>
        </p:nvSpPr>
        <p:spPr>
          <a:xfrm>
            <a:off x="6400800" y="2752344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 txBox="1"/>
          <p:nvPr/>
        </p:nvSpPr>
        <p:spPr>
          <a:xfrm>
            <a:off x="6492240" y="2752344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Blob Storage + Files</a:t>
            </a:r>
            <a:endParaRPr sz="1800"/>
          </a:p>
        </p:txBody>
      </p:sp>
      <p:sp>
        <p:nvSpPr>
          <p:cNvPr id="840" name="Google Shape;840;p38"/>
          <p:cNvSpPr txBox="1"/>
          <p:nvPr/>
        </p:nvSpPr>
        <p:spPr>
          <a:xfrm>
            <a:off x="9875520" y="2752344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$120</a:t>
            </a:r>
            <a:endParaRPr sz="1800"/>
          </a:p>
        </p:txBody>
      </p:sp>
      <p:sp>
        <p:nvSpPr>
          <p:cNvPr id="841" name="Google Shape;841;p38"/>
          <p:cNvSpPr/>
          <p:nvPr/>
        </p:nvSpPr>
        <p:spPr>
          <a:xfrm>
            <a:off x="6400800" y="3044952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8"/>
          <p:cNvSpPr txBox="1"/>
          <p:nvPr/>
        </p:nvSpPr>
        <p:spPr>
          <a:xfrm>
            <a:off x="6492240" y="3044952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Cache for Redis</a:t>
            </a:r>
            <a:endParaRPr sz="1800"/>
          </a:p>
        </p:txBody>
      </p:sp>
      <p:sp>
        <p:nvSpPr>
          <p:cNvPr id="843" name="Google Shape;843;p38"/>
          <p:cNvSpPr txBox="1"/>
          <p:nvPr/>
        </p:nvSpPr>
        <p:spPr>
          <a:xfrm>
            <a:off x="9875520" y="3044952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44" name="Google Shape;844;p38"/>
          <p:cNvSpPr/>
          <p:nvPr/>
        </p:nvSpPr>
        <p:spPr>
          <a:xfrm>
            <a:off x="6400800" y="3337560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 txBox="1"/>
          <p:nvPr/>
        </p:nvSpPr>
        <p:spPr>
          <a:xfrm>
            <a:off x="6492240" y="333756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Monitor / App Insights</a:t>
            </a:r>
            <a:endParaRPr sz="1800"/>
          </a:p>
        </p:txBody>
      </p:sp>
      <p:sp>
        <p:nvSpPr>
          <p:cNvPr id="846" name="Google Shape;846;p38"/>
          <p:cNvSpPr txBox="1"/>
          <p:nvPr/>
        </p:nvSpPr>
        <p:spPr>
          <a:xfrm>
            <a:off x="9875520" y="333756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$200</a:t>
            </a:r>
            <a:endParaRPr sz="1800"/>
          </a:p>
        </p:txBody>
      </p:sp>
      <p:sp>
        <p:nvSpPr>
          <p:cNvPr id="847" name="Google Shape;847;p38"/>
          <p:cNvSpPr/>
          <p:nvPr/>
        </p:nvSpPr>
        <p:spPr>
          <a:xfrm>
            <a:off x="6400800" y="3630168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8"/>
          <p:cNvSpPr txBox="1"/>
          <p:nvPr/>
        </p:nvSpPr>
        <p:spPr>
          <a:xfrm>
            <a:off x="6492240" y="363016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Vault, VNet, DNS</a:t>
            </a:r>
            <a:endParaRPr sz="1800"/>
          </a:p>
        </p:txBody>
      </p:sp>
      <p:sp>
        <p:nvSpPr>
          <p:cNvPr id="849" name="Google Shape;849;p38"/>
          <p:cNvSpPr txBox="1"/>
          <p:nvPr/>
        </p:nvSpPr>
        <p:spPr>
          <a:xfrm>
            <a:off x="9875520" y="3630168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50" name="Google Shape;850;p38"/>
          <p:cNvSpPr/>
          <p:nvPr/>
        </p:nvSpPr>
        <p:spPr>
          <a:xfrm>
            <a:off x="6400800" y="3922776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8"/>
          <p:cNvSpPr txBox="1"/>
          <p:nvPr/>
        </p:nvSpPr>
        <p:spPr>
          <a:xfrm>
            <a:off x="6492240" y="392277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Alerting &amp; autoscale</a:t>
            </a:r>
            <a:endParaRPr sz="1800"/>
          </a:p>
        </p:txBody>
      </p:sp>
      <p:sp>
        <p:nvSpPr>
          <p:cNvPr id="852" name="Google Shape;852;p38"/>
          <p:cNvSpPr txBox="1"/>
          <p:nvPr/>
        </p:nvSpPr>
        <p:spPr>
          <a:xfrm>
            <a:off x="9875520" y="3922776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$100</a:t>
            </a:r>
            <a:endParaRPr sz="1800"/>
          </a:p>
        </p:txBody>
      </p:sp>
      <p:sp>
        <p:nvSpPr>
          <p:cNvPr id="853" name="Google Shape;853;p38"/>
          <p:cNvSpPr/>
          <p:nvPr/>
        </p:nvSpPr>
        <p:spPr>
          <a:xfrm>
            <a:off x="6400800" y="4215384"/>
            <a:ext cx="530352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8"/>
          <p:cNvSpPr txBox="1"/>
          <p:nvPr/>
        </p:nvSpPr>
        <p:spPr>
          <a:xfrm>
            <a:off x="6492240" y="4215384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855" name="Google Shape;855;p38"/>
          <p:cNvSpPr txBox="1"/>
          <p:nvPr/>
        </p:nvSpPr>
        <p:spPr>
          <a:xfrm>
            <a:off x="9875520" y="4215384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$3,920/mo</a:t>
            </a:r>
            <a:endParaRPr sz="1800"/>
          </a:p>
        </p:txBody>
      </p:sp>
      <p:sp>
        <p:nvSpPr>
          <p:cNvPr id="856" name="Google Shape;856;p38"/>
          <p:cNvSpPr/>
          <p:nvPr/>
        </p:nvSpPr>
        <p:spPr>
          <a:xfrm>
            <a:off x="365760" y="4764024"/>
            <a:ext cx="11338560" cy="4572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 txBox="1"/>
          <p:nvPr/>
        </p:nvSpPr>
        <p:spPr>
          <a:xfrm>
            <a:off x="548640" y="4809744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Production: ~$3,920/month — within $5,000 cap</a:t>
            </a:r>
            <a:endParaRPr sz="1800"/>
          </a:p>
        </p:txBody>
      </p:sp>
      <p:sp>
        <p:nvSpPr>
          <p:cNvPr id="858" name="Google Shape;858;p38"/>
          <p:cNvSpPr/>
          <p:nvPr/>
        </p:nvSpPr>
        <p:spPr>
          <a:xfrm>
            <a:off x="36576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8"/>
          <p:cNvSpPr txBox="1"/>
          <p:nvPr/>
        </p:nvSpPr>
        <p:spPr>
          <a:xfrm>
            <a:off x="45720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Development Labor</a:t>
            </a:r>
            <a:endParaRPr sz="1800"/>
          </a:p>
        </p:txBody>
      </p:sp>
      <p:sp>
        <p:nvSpPr>
          <p:cNvPr id="860" name="Google Shape;860;p38"/>
          <p:cNvSpPr txBox="1"/>
          <p:nvPr/>
        </p:nvSpPr>
        <p:spPr>
          <a:xfrm>
            <a:off x="45720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$608,000</a:t>
            </a:r>
            <a:endParaRPr sz="3000"/>
          </a:p>
        </p:txBody>
      </p:sp>
      <p:sp>
        <p:nvSpPr>
          <p:cNvPr id="861" name="Google Shape;861;p38"/>
          <p:cNvSpPr/>
          <p:nvPr/>
        </p:nvSpPr>
        <p:spPr>
          <a:xfrm>
            <a:off x="329184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/>
          <p:cNvSpPr txBox="1"/>
          <p:nvPr/>
        </p:nvSpPr>
        <p:spPr>
          <a:xfrm>
            <a:off x="338328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Dev Infrastructure (3mo)</a:t>
            </a:r>
            <a:endParaRPr sz="1800"/>
          </a:p>
        </p:txBody>
      </p:sp>
      <p:sp>
        <p:nvSpPr>
          <p:cNvPr id="863" name="Google Shape;863;p38"/>
          <p:cNvSpPr txBox="1"/>
          <p:nvPr/>
        </p:nvSpPr>
        <p:spPr>
          <a:xfrm>
            <a:off x="338328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$4,515</a:t>
            </a:r>
            <a:endParaRPr sz="3000"/>
          </a:p>
        </p:txBody>
      </p:sp>
      <p:sp>
        <p:nvSpPr>
          <p:cNvPr id="864" name="Google Shape;864;p38"/>
          <p:cNvSpPr/>
          <p:nvPr/>
        </p:nvSpPr>
        <p:spPr>
          <a:xfrm>
            <a:off x="621792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8"/>
          <p:cNvSpPr txBox="1"/>
          <p:nvPr/>
        </p:nvSpPr>
        <p:spPr>
          <a:xfrm>
            <a:off x="630936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Production Infra/mo</a:t>
            </a:r>
            <a:endParaRPr sz="1800"/>
          </a:p>
        </p:txBody>
      </p:sp>
      <p:sp>
        <p:nvSpPr>
          <p:cNvPr id="866" name="Google Shape;866;p38"/>
          <p:cNvSpPr txBox="1"/>
          <p:nvPr/>
        </p:nvSpPr>
        <p:spPr>
          <a:xfrm>
            <a:off x="630936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$3,920</a:t>
            </a:r>
            <a:endParaRPr sz="3000"/>
          </a:p>
        </p:txBody>
      </p:sp>
      <p:sp>
        <p:nvSpPr>
          <p:cNvPr id="867" name="Google Shape;867;p38"/>
          <p:cNvSpPr/>
          <p:nvPr/>
        </p:nvSpPr>
        <p:spPr>
          <a:xfrm>
            <a:off x="914400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 txBox="1"/>
          <p:nvPr/>
        </p:nvSpPr>
        <p:spPr>
          <a:xfrm>
            <a:off x="923544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Project</a:t>
            </a:r>
            <a:endParaRPr sz="1800"/>
          </a:p>
        </p:txBody>
      </p:sp>
      <p:sp>
        <p:nvSpPr>
          <p:cNvPr id="869" name="Google Shape;869;p38"/>
          <p:cNvSpPr txBox="1"/>
          <p:nvPr/>
        </p:nvSpPr>
        <p:spPr>
          <a:xfrm>
            <a:off x="923544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~$6</a:t>
            </a:r>
            <a:r>
              <a:rPr b="1" lang="en-US" sz="3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,515</a:t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66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9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b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We welcome your questions</a:t>
            </a:r>
            <a:endParaRPr/>
          </a:p>
        </p:txBody>
      </p:sp>
      <p:sp>
        <p:nvSpPr>
          <p:cNvPr id="877" name="Google Shape;877;p39"/>
          <p:cNvSpPr/>
          <p:nvPr/>
        </p:nvSpPr>
        <p:spPr>
          <a:xfrm>
            <a:off x="5029200" y="4846320"/>
            <a:ext cx="2103120" cy="381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Group 6 — FPT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